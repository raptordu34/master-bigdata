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</p:sldIdLst>
  <p:sldSz cx="9144000" cy="6858000" type="screen4x3"/>
  <p:notesSz cx="9874250" cy="67976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C6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993" autoAdjust="0"/>
  </p:normalViewPr>
  <p:slideViewPr>
    <p:cSldViewPr snapToGrid="0">
      <p:cViewPr varScale="1">
        <p:scale>
          <a:sx n="103" d="100"/>
          <a:sy n="103" d="100"/>
        </p:scale>
        <p:origin x="-1854" y="-84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-1812" y="-90"/>
      </p:cViewPr>
      <p:guideLst>
        <p:guide orient="horz" pos="2142"/>
        <p:guide pos="311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B2BE9A8-3E66-4087-ACE8-965D5DBE6747}" type="datetimeFigureOut">
              <a:rPr lang="fr-FR"/>
              <a:pPr>
                <a:defRPr/>
              </a:pPr>
              <a:t>27/11/2014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CCA2B6A-191A-40DD-AEC7-ACDDAF2DC09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8617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7A8222F-5429-496B-8A19-B18CDF6AC293}" type="datetimeFigureOut">
              <a:rPr lang="fr-FR"/>
              <a:pPr>
                <a:defRPr/>
              </a:pPr>
              <a:t>27/11/2014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238500" y="509588"/>
            <a:ext cx="3397250" cy="2547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87425" y="3228975"/>
            <a:ext cx="7899400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9ADD031-E196-4022-B050-F65DC1D157C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0293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ADD031-E196-4022-B050-F65DC1D157CC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ADD031-E196-4022-B050-F65DC1D157CC}" type="slidenum">
              <a:rPr lang="fr-FR" smtClean="0"/>
              <a:pPr>
                <a:defRPr/>
              </a:pPr>
              <a:t>26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6" descr="bandeau lias-03111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1224136"/>
          </a:xfrm>
          <a:prstGeom prst="rect">
            <a:avLst/>
          </a:prstGeom>
          <a:effectLst>
            <a:reflection blurRad="6350" stA="50000" endA="300" endPos="55500" dist="101600" dir="5400000" sy="-100000" algn="bl" rotWithShape="0"/>
          </a:effectLst>
        </p:spPr>
      </p:pic>
      <p:pic>
        <p:nvPicPr>
          <p:cNvPr id="3" name="Image 8" descr="POITIERS_UNIVERSITE_LOGO2011.jp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821363" y="5597525"/>
            <a:ext cx="167957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Image 9" descr="-CLIENTS-ESIP-LOGO NEW HD.JP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368425" y="5778500"/>
            <a:ext cx="1349375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10" descr="Logo-ISAE-ENSMA-cmjn.jpg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3714750" y="5754688"/>
            <a:ext cx="1427163" cy="9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5"/>
          <p:cNvSpPr txBox="1">
            <a:spLocks/>
          </p:cNvSpPr>
          <p:nvPr userDrawn="1"/>
        </p:nvSpPr>
        <p:spPr>
          <a:xfrm>
            <a:off x="8328025" y="6427788"/>
            <a:ext cx="719138" cy="365125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BECF60E-AB11-4FE2-BA12-495CCCDD14EA}" type="slidenum">
              <a:rPr lang="fr-FR" sz="1600" i="1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 sz="1600" i="1" dirty="0"/>
          </a:p>
        </p:txBody>
      </p:sp>
      <p:pic>
        <p:nvPicPr>
          <p:cNvPr id="3" name="Image 8" descr="POITIERS_UNIVERSITE_LOGO2011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355725" y="6354763"/>
            <a:ext cx="623888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Image 9" descr="-CLIENTS-ESIP-LOGO NEW HD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263" y="6448425"/>
            <a:ext cx="496887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10" descr="Logo-ISAE-ENSMA-cmjn.jpg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2625" y="6389688"/>
            <a:ext cx="6270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34925" y="52388"/>
            <a:ext cx="14986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730250"/>
            <a:ext cx="914400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6192838"/>
            <a:ext cx="914400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14"/>
          <p:cNvSpPr txBox="1"/>
          <p:nvPr userDrawn="1"/>
        </p:nvSpPr>
        <p:spPr>
          <a:xfrm>
            <a:off x="2269331" y="6321931"/>
            <a:ext cx="59126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Wingdings" pitchFamily="2" charset="2"/>
              <a:buNone/>
            </a:pPr>
            <a:r>
              <a:rPr lang="fr-FR" sz="1600" noProof="0" dirty="0" smtClean="0">
                <a:solidFill>
                  <a:srgbClr val="898989"/>
                </a:solidFill>
              </a:rPr>
              <a:t>Data </a:t>
            </a:r>
            <a:r>
              <a:rPr lang="fr-FR" sz="1600" noProof="0" dirty="0" err="1" smtClean="0">
                <a:solidFill>
                  <a:srgbClr val="898989"/>
                </a:solidFill>
              </a:rPr>
              <a:t>Partitioning</a:t>
            </a:r>
            <a:r>
              <a:rPr lang="fr-FR" sz="1600" noProof="0" dirty="0" smtClean="0">
                <a:solidFill>
                  <a:srgbClr val="898989"/>
                </a:solidFill>
              </a:rPr>
              <a:t> - Fragmentation de Données</a:t>
            </a:r>
          </a:p>
        </p:txBody>
      </p:sp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1603168" y="0"/>
            <a:ext cx="7083631" cy="77189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rgbClr val="0099FF"/>
          </a:solidFill>
          <a:latin typeface="Arial Rounded MT Bold" pitchFamily="34" charset="0"/>
          <a:ea typeface="+mj-ea"/>
          <a:cs typeface="Aharoni" pitchFamily="2" charset="-79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0099FF"/>
          </a:solidFill>
          <a:latin typeface="Arial Rounded MT Bold" pitchFamily="34" charset="0"/>
          <a:cs typeface="Aharoni" pitchFamily="2" charset="-79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0099FF"/>
          </a:solidFill>
          <a:latin typeface="Arial Rounded MT Bold" pitchFamily="34" charset="0"/>
          <a:cs typeface="Aharoni" pitchFamily="2" charset="-79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0099FF"/>
          </a:solidFill>
          <a:latin typeface="Arial Rounded MT Bold" pitchFamily="34" charset="0"/>
          <a:cs typeface="Aharoni" pitchFamily="2" charset="-79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0099FF"/>
          </a:solidFill>
          <a:latin typeface="Arial Rounded MT Bold" pitchFamily="34" charset="0"/>
          <a:cs typeface="Aharoni" pitchFamily="2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99FF"/>
          </a:solidFill>
          <a:latin typeface="Arial Rounded MT Bold" pitchFamily="34" charset="0"/>
          <a:cs typeface="Aharoni" pitchFamily="2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99FF"/>
          </a:solidFill>
          <a:latin typeface="Arial Rounded MT Bold" pitchFamily="34" charset="0"/>
          <a:cs typeface="Aharoni" pitchFamily="2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99FF"/>
          </a:solidFill>
          <a:latin typeface="Arial Rounded MT Bold" pitchFamily="34" charset="0"/>
          <a:cs typeface="Aharoni" pitchFamily="2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99FF"/>
          </a:solidFill>
          <a:latin typeface="Arial Rounded MT Bold" pitchFamily="34" charset="0"/>
          <a:cs typeface="Aharoni" pitchFamily="2" charset="-79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itchFamily="2" charset="2"/>
        <a:buChar char="q"/>
        <a:defRPr sz="3200" kern="1200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2800" kern="1200">
          <a:solidFill>
            <a:srgbClr val="0000FF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ü"/>
        <a:defRPr sz="2400" kern="1200">
          <a:solidFill>
            <a:srgbClr val="0000FF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0000FF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rgbClr val="0000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idx="4294967295"/>
          </p:nvPr>
        </p:nvSpPr>
        <p:spPr>
          <a:xfrm>
            <a:off x="0" y="2114550"/>
            <a:ext cx="9144000" cy="1422400"/>
          </a:xfrm>
          <a:prstGeom prst="rect">
            <a:avLst/>
          </a:prstGeo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smtClean="0"/>
              <a:t>The Laboratory of Computer Science and Automatic</a:t>
            </a:r>
            <a:endParaRPr lang="en-US" sz="2000"/>
          </a:p>
        </p:txBody>
      </p:sp>
      <p:sp>
        <p:nvSpPr>
          <p:cNvPr id="4" name="Sous-titre 3"/>
          <p:cNvSpPr>
            <a:spLocks noGrp="1" noChangeAspect="1"/>
          </p:cNvSpPr>
          <p:nvPr>
            <p:ph type="subTitle" idx="4294967295"/>
          </p:nvPr>
        </p:nvSpPr>
        <p:spPr>
          <a:xfrm>
            <a:off x="0" y="2929320"/>
            <a:ext cx="9144000" cy="1454150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fr-FR" sz="4000" b="1" dirty="0" smtClean="0">
                <a:solidFill>
                  <a:srgbClr val="898989"/>
                </a:solidFill>
              </a:rPr>
              <a:t>Data </a:t>
            </a:r>
            <a:r>
              <a:rPr lang="fr-FR" sz="4000" b="1" dirty="0" err="1" smtClean="0">
                <a:solidFill>
                  <a:srgbClr val="898989"/>
                </a:solidFill>
              </a:rPr>
              <a:t>Partitioning</a:t>
            </a:r>
            <a:r>
              <a:rPr lang="fr-FR" sz="4000" b="1" dirty="0" smtClean="0">
                <a:solidFill>
                  <a:srgbClr val="898989"/>
                </a:solidFill>
              </a:rPr>
              <a:t/>
            </a:r>
            <a:br>
              <a:rPr lang="fr-FR" sz="4000" b="1" dirty="0" smtClean="0">
                <a:solidFill>
                  <a:srgbClr val="898989"/>
                </a:solidFill>
              </a:rPr>
            </a:br>
            <a:r>
              <a:rPr lang="fr-FR" sz="4000" b="1" dirty="0" smtClean="0">
                <a:solidFill>
                  <a:srgbClr val="898989"/>
                </a:solidFill>
              </a:rPr>
              <a:t>Fragmentation de Données</a:t>
            </a:r>
            <a:endParaRPr lang="en-US" sz="4000" b="1" dirty="0" smtClean="0">
              <a:solidFill>
                <a:srgbClr val="898989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722882" y="4650827"/>
            <a:ext cx="30585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mtClean="0">
                <a:solidFill>
                  <a:srgbClr val="FF0000"/>
                </a:solidFill>
              </a:rPr>
              <a:t>Ladjel BELLATRECHE</a:t>
            </a:r>
          </a:p>
          <a:p>
            <a:pPr algn="ctr"/>
            <a:r>
              <a:rPr lang="en-US" sz="2000" b="1" smtClean="0">
                <a:solidFill>
                  <a:schemeClr val="bg1">
                    <a:lumMod val="50000"/>
                  </a:schemeClr>
                </a:solidFill>
              </a:rPr>
              <a:t>   november 2014</a:t>
            </a:r>
            <a:endParaRPr lang="en-US" sz="2000" b="1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4"/>
          <p:cNvSpPr>
            <a:spLocks noChangeArrowheads="1"/>
          </p:cNvSpPr>
          <p:nvPr/>
        </p:nvSpPr>
        <p:spPr bwMode="auto">
          <a:xfrm>
            <a:off x="395288" y="1484313"/>
            <a:ext cx="8280400" cy="45370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fr-FR" altLang="en-US" sz="2800" dirty="0">
              <a:latin typeface="Arial Rounded MT Bold" pitchFamily="34" charset="0"/>
              <a:ea typeface="+mj-ea"/>
              <a:cs typeface="Aharoni" pitchFamily="2" charset="-79"/>
            </a:endParaRPr>
          </a:p>
        </p:txBody>
      </p:sp>
      <p:sp>
        <p:nvSpPr>
          <p:cNvPr id="146435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AU" altLang="en-US" dirty="0" smtClean="0"/>
              <a:t>Agenda</a:t>
            </a:r>
          </a:p>
        </p:txBody>
      </p:sp>
      <p:sp>
        <p:nvSpPr>
          <p:cNvPr id="1464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90209" y="1377239"/>
            <a:ext cx="7786687" cy="4205287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1" hangingPunct="1"/>
            <a:r>
              <a:rPr lang="en-AU" altLang="en-US" sz="2400" b="1" dirty="0" smtClean="0"/>
              <a:t>The what, who and why of Partitioning</a:t>
            </a:r>
          </a:p>
          <a:p>
            <a:pPr eaLnBrk="1" hangingPunct="1"/>
            <a:r>
              <a:rPr lang="en-AU" altLang="en-US" sz="2400" b="1" dirty="0" smtClean="0"/>
              <a:t>Partitioning – decisions and challenges</a:t>
            </a:r>
          </a:p>
          <a:p>
            <a:pPr eaLnBrk="1" hangingPunct="1"/>
            <a:r>
              <a:rPr lang="en-AU" altLang="en-US" sz="2400" b="1" dirty="0" smtClean="0"/>
              <a:t>Partitioning – It’s evolution </a:t>
            </a:r>
          </a:p>
          <a:p>
            <a:pPr eaLnBrk="1" hangingPunct="1"/>
            <a:r>
              <a:rPr lang="en-AU" altLang="en-US" sz="2400" b="1" dirty="0" smtClean="0"/>
              <a:t>Types of Partitioning</a:t>
            </a:r>
          </a:p>
          <a:p>
            <a:pPr eaLnBrk="1" hangingPunct="1"/>
            <a:r>
              <a:rPr lang="en-AU" altLang="en-US" sz="2400" b="1" dirty="0" smtClean="0"/>
              <a:t>What’s new in Oracle11g?</a:t>
            </a:r>
          </a:p>
          <a:p>
            <a:pPr eaLnBrk="1" hangingPunct="1"/>
            <a:r>
              <a:rPr lang="en-AU" altLang="en-US" sz="2400" b="1" dirty="0" smtClean="0"/>
              <a:t>Partitioned Indexes</a:t>
            </a:r>
          </a:p>
          <a:p>
            <a:pPr eaLnBrk="1" hangingPunct="1"/>
            <a:r>
              <a:rPr lang="en-AU" altLang="en-US" sz="2400" b="1" dirty="0" smtClean="0"/>
              <a:t>Composite Partitioning</a:t>
            </a:r>
          </a:p>
          <a:p>
            <a:pPr eaLnBrk="1" hangingPunct="1"/>
            <a:r>
              <a:rPr lang="en-AU" altLang="en-US" sz="2400" b="1" dirty="0" smtClean="0"/>
              <a:t>Partition Maintenance Operations</a:t>
            </a:r>
          </a:p>
          <a:p>
            <a:pPr eaLnBrk="1" hangingPunct="1"/>
            <a:r>
              <a:rPr lang="en-AU" altLang="en-US" sz="2400" b="1" dirty="0" smtClean="0"/>
              <a:t>Partitioning and the Cost-based Optimizer</a:t>
            </a:r>
          </a:p>
          <a:p>
            <a:pPr eaLnBrk="1" hangingPunct="1"/>
            <a:r>
              <a:rPr lang="en-AU" altLang="en-US" sz="2400" b="1" dirty="0" smtClean="0"/>
              <a:t>Converting a non-partitioned table to a partitioned table</a:t>
            </a:r>
          </a:p>
          <a:p>
            <a:pPr eaLnBrk="1" hangingPunct="1"/>
            <a:endParaRPr lang="en-AU" altLang="en-US" sz="2400" b="1" dirty="0" smtClean="0"/>
          </a:p>
          <a:p>
            <a:pPr eaLnBrk="1" hangingPunct="1"/>
            <a:endParaRPr lang="en-AU" altLang="en-US" sz="2400" b="1" dirty="0" smtClean="0"/>
          </a:p>
          <a:p>
            <a:pPr eaLnBrk="1" hangingPunct="1"/>
            <a:endParaRPr lang="en-AU" altLang="en-US" sz="2400" b="1" dirty="0" smtClean="0"/>
          </a:p>
          <a:p>
            <a:pPr eaLnBrk="1" hangingPunct="1"/>
            <a:endParaRPr lang="en-AU" alt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419680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What is Partitioning?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0213" y="1268413"/>
            <a:ext cx="8713787" cy="5184775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>
                <a:solidFill>
                  <a:srgbClr val="0033CC"/>
                </a:solidFill>
              </a:rPr>
              <a:t>a)</a:t>
            </a:r>
            <a:r>
              <a:rPr lang="en-AU" altLang="en-US" sz="2000" b="1" dirty="0" smtClean="0">
                <a:solidFill>
                  <a:srgbClr val="0033CC"/>
                </a:solidFill>
                <a:latin typeface="Arial Black" pitchFamily="34" charset="0"/>
              </a:rPr>
              <a:t> </a:t>
            </a:r>
            <a:r>
              <a:rPr lang="en-AU" altLang="en-US" sz="2000" b="1" i="1" u="sng" dirty="0" smtClean="0">
                <a:solidFill>
                  <a:srgbClr val="0033CC"/>
                </a:solidFill>
              </a:rPr>
              <a:t>A Structure dividing a space into parts</a:t>
            </a:r>
            <a:r>
              <a:rPr lang="en-AU" altLang="en-US" sz="2000" b="1" dirty="0" smtClean="0">
                <a:solidFill>
                  <a:srgbClr val="0033CC"/>
                </a:solidFill>
              </a:rPr>
              <a:t> (</a:t>
            </a:r>
            <a:r>
              <a:rPr lang="en-AU" altLang="en-US" sz="2000" b="1" i="1" dirty="0" smtClean="0">
                <a:solidFill>
                  <a:srgbClr val="0033CC"/>
                </a:solidFill>
              </a:rPr>
              <a:t>noun</a:t>
            </a:r>
            <a:r>
              <a:rPr lang="en-AU" altLang="en-US" sz="2000" b="1" dirty="0" smtClean="0">
                <a:solidFill>
                  <a:srgbClr val="0033CC"/>
                </a:solidFill>
              </a:rPr>
              <a:t>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>
                <a:solidFill>
                  <a:srgbClr val="0033CC"/>
                </a:solidFill>
              </a:rPr>
              <a:t>b) </a:t>
            </a:r>
            <a:r>
              <a:rPr lang="en-AU" altLang="en-US" sz="2000" b="1" i="1" u="sng" dirty="0" smtClean="0">
                <a:solidFill>
                  <a:srgbClr val="0033CC"/>
                </a:solidFill>
              </a:rPr>
              <a:t>To divide or separate</a:t>
            </a:r>
            <a:r>
              <a:rPr lang="en-AU" altLang="en-US" sz="2000" b="1" i="1" dirty="0" smtClean="0">
                <a:solidFill>
                  <a:srgbClr val="0033CC"/>
                </a:solidFill>
              </a:rPr>
              <a:t> (verb)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>
                <a:solidFill>
                  <a:srgbClr val="0033CC"/>
                </a:solidFill>
              </a:rPr>
              <a:t>			</a:t>
            </a:r>
            <a:r>
              <a:rPr lang="en-AU" altLang="en-US" sz="1800" b="1" i="1" dirty="0" smtClean="0">
                <a:solidFill>
                  <a:srgbClr val="0033CC"/>
                </a:solidFill>
              </a:rPr>
              <a:t>Source: Oxford English Dictionary</a:t>
            </a:r>
            <a:r>
              <a:rPr lang="en-AU" altLang="en-US" sz="2000" b="1" i="1" dirty="0" smtClean="0">
                <a:solidFill>
                  <a:srgbClr val="0033CC"/>
                </a:solidFill>
              </a:rPr>
              <a:t> 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2000" b="1" i="1" dirty="0" smtClean="0">
              <a:solidFill>
                <a:srgbClr val="0033CC"/>
              </a:solidFill>
            </a:endParaRPr>
          </a:p>
          <a:p>
            <a:pPr eaLnBrk="1" hangingPunct="1"/>
            <a:r>
              <a:rPr lang="en-AU" altLang="en-US" sz="2000" b="1" dirty="0" smtClean="0">
                <a:solidFill>
                  <a:schemeClr val="tx1"/>
                </a:solidFill>
              </a:rPr>
              <a:t>Additional licensable option of the Oracle Enterprise Edition.</a:t>
            </a:r>
          </a:p>
          <a:p>
            <a:pPr eaLnBrk="1" hangingPunct="1"/>
            <a:endParaRPr lang="en-AU" altLang="en-US" sz="2000" b="1" dirty="0" smtClean="0">
              <a:solidFill>
                <a:schemeClr val="tx1"/>
              </a:solidFill>
            </a:endParaRPr>
          </a:p>
          <a:p>
            <a:pPr eaLnBrk="1" hangingPunct="1"/>
            <a:r>
              <a:rPr lang="en-AU" altLang="en-US" sz="2000" b="1" dirty="0" smtClean="0">
                <a:solidFill>
                  <a:schemeClr val="tx1"/>
                </a:solidFill>
              </a:rPr>
              <a:t>Partitioning allows a table, index or index-organized table to be divided and subdivided into smaller pieces called partitions and sub-partitions.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2000" b="1" dirty="0" smtClean="0">
              <a:solidFill>
                <a:schemeClr val="tx1"/>
              </a:solidFill>
            </a:endParaRPr>
          </a:p>
          <a:p>
            <a:pPr eaLnBrk="1" hangingPunct="1"/>
            <a:r>
              <a:rPr lang="en-AU" altLang="en-US" sz="2000" b="1" dirty="0" smtClean="0">
                <a:solidFill>
                  <a:schemeClr val="tx1"/>
                </a:solidFill>
              </a:rPr>
              <a:t>A partitioned object has multiple pieces that can be managed either collectively or individually.</a:t>
            </a:r>
          </a:p>
          <a:p>
            <a:pPr eaLnBrk="1" hangingPunct="1"/>
            <a:endParaRPr lang="en-AU" altLang="en-US" sz="2000" b="1" dirty="0" smtClean="0">
              <a:solidFill>
                <a:schemeClr val="tx1"/>
              </a:solidFill>
            </a:endParaRPr>
          </a:p>
          <a:p>
            <a:pPr eaLnBrk="1" hangingPunct="1"/>
            <a:r>
              <a:rPr lang="en-AU" altLang="en-US" sz="2000" b="1" dirty="0" smtClean="0">
                <a:solidFill>
                  <a:schemeClr val="tx1"/>
                </a:solidFill>
              </a:rPr>
              <a:t>Each partition has its own name, and may optionally have its own storage characteristics.</a:t>
            </a:r>
          </a:p>
          <a:p>
            <a:pPr eaLnBrk="1" hangingPunct="1"/>
            <a:endParaRPr lang="en-AU" altLang="en-US" sz="2000" b="1" dirty="0" smtClean="0">
              <a:solidFill>
                <a:schemeClr val="tx1"/>
              </a:solidFill>
            </a:endParaRPr>
          </a:p>
          <a:p>
            <a:pPr eaLnBrk="1" hangingPunct="1"/>
            <a:r>
              <a:rPr lang="en-AU" altLang="en-US" sz="2000" b="1" dirty="0" smtClean="0">
                <a:solidFill>
                  <a:schemeClr val="tx1"/>
                </a:solidFill>
              </a:rPr>
              <a:t>Tables are partitioned using a 'partitioning key', a set of column/columns which determine in which partition a given row will reside.</a:t>
            </a:r>
          </a:p>
        </p:txBody>
      </p:sp>
    </p:spTree>
    <p:extLst>
      <p:ext uri="{BB962C8B-B14F-4D97-AF65-F5344CB8AC3E}">
        <p14:creationId xmlns:p14="http://schemas.microsoft.com/office/powerpoint/2010/main" val="186984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AutoShape 4"/>
          <p:cNvSpPr>
            <a:spLocks noChangeArrowheads="1"/>
          </p:cNvSpPr>
          <p:nvPr/>
        </p:nvSpPr>
        <p:spPr bwMode="auto">
          <a:xfrm>
            <a:off x="468313" y="2492375"/>
            <a:ext cx="1871662" cy="3673475"/>
          </a:xfrm>
          <a:prstGeom prst="can">
            <a:avLst>
              <a:gd name="adj" fmla="val 490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Really Big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Table</a:t>
            </a:r>
          </a:p>
        </p:txBody>
      </p:sp>
      <p:sp>
        <p:nvSpPr>
          <p:cNvPr id="148484" name="AutoShape 23"/>
          <p:cNvSpPr>
            <a:spLocks noChangeArrowheads="1"/>
          </p:cNvSpPr>
          <p:nvPr/>
        </p:nvSpPr>
        <p:spPr bwMode="auto">
          <a:xfrm rot="-5400000">
            <a:off x="2626519" y="4004469"/>
            <a:ext cx="3529012" cy="647700"/>
          </a:xfrm>
          <a:prstGeom prst="can">
            <a:avLst>
              <a:gd name="adj" fmla="val 4542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Really Big Table</a:t>
            </a:r>
          </a:p>
        </p:txBody>
      </p:sp>
      <p:sp>
        <p:nvSpPr>
          <p:cNvPr id="148485" name="AutoShape 25"/>
          <p:cNvSpPr>
            <a:spLocks noChangeArrowheads="1"/>
          </p:cNvSpPr>
          <p:nvPr/>
        </p:nvSpPr>
        <p:spPr bwMode="auto">
          <a:xfrm>
            <a:off x="5219700" y="2995613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486" name="AutoShape 26"/>
          <p:cNvSpPr>
            <a:spLocks noChangeArrowheads="1"/>
          </p:cNvSpPr>
          <p:nvPr/>
        </p:nvSpPr>
        <p:spPr bwMode="auto">
          <a:xfrm>
            <a:off x="5219700" y="3500438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487" name="AutoShape 27"/>
          <p:cNvSpPr>
            <a:spLocks noChangeArrowheads="1"/>
          </p:cNvSpPr>
          <p:nvPr/>
        </p:nvSpPr>
        <p:spPr bwMode="auto">
          <a:xfrm>
            <a:off x="5219700" y="2492375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488" name="AutoShape 28"/>
          <p:cNvSpPr>
            <a:spLocks noChangeArrowheads="1"/>
          </p:cNvSpPr>
          <p:nvPr/>
        </p:nvSpPr>
        <p:spPr bwMode="auto">
          <a:xfrm>
            <a:off x="5219700" y="4076700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489" name="AutoShape 29"/>
          <p:cNvSpPr>
            <a:spLocks noChangeArrowheads="1"/>
          </p:cNvSpPr>
          <p:nvPr/>
        </p:nvSpPr>
        <p:spPr bwMode="auto">
          <a:xfrm>
            <a:off x="5219700" y="4579938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490" name="AutoShape 30"/>
          <p:cNvSpPr>
            <a:spLocks noChangeArrowheads="1"/>
          </p:cNvSpPr>
          <p:nvPr/>
        </p:nvSpPr>
        <p:spPr bwMode="auto">
          <a:xfrm>
            <a:off x="5219700" y="5084763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491" name="AutoShape 31"/>
          <p:cNvSpPr>
            <a:spLocks noChangeArrowheads="1"/>
          </p:cNvSpPr>
          <p:nvPr/>
        </p:nvSpPr>
        <p:spPr bwMode="auto">
          <a:xfrm>
            <a:off x="5219700" y="5588000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492" name="AutoShape 32"/>
          <p:cNvSpPr>
            <a:spLocks noChangeArrowheads="1"/>
          </p:cNvSpPr>
          <p:nvPr/>
        </p:nvSpPr>
        <p:spPr bwMode="auto">
          <a:xfrm>
            <a:off x="2771775" y="4292600"/>
            <a:ext cx="1079500" cy="360363"/>
          </a:xfrm>
          <a:custGeom>
            <a:avLst/>
            <a:gdLst>
              <a:gd name="T0" fmla="*/ 2022188818 w 21600"/>
              <a:gd name="T1" fmla="*/ 0 h 21600"/>
              <a:gd name="T2" fmla="*/ 0 w 21600"/>
              <a:gd name="T3" fmla="*/ 50151535 h 21600"/>
              <a:gd name="T4" fmla="*/ 2022188818 w 21600"/>
              <a:gd name="T5" fmla="*/ 100302803 h 21600"/>
              <a:gd name="T6" fmla="*/ 2147483647 w 21600"/>
              <a:gd name="T7" fmla="*/ 50151535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8493" name="Text Box 33"/>
          <p:cNvSpPr txBox="1">
            <a:spLocks noChangeArrowheads="1"/>
          </p:cNvSpPr>
          <p:nvPr/>
        </p:nvSpPr>
        <p:spPr bwMode="auto">
          <a:xfrm>
            <a:off x="611188" y="476250"/>
            <a:ext cx="8459787" cy="195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800" dirty="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600" dirty="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b="1" dirty="0">
                <a:latin typeface="Arial" pitchFamily="34" charset="0"/>
              </a:rPr>
              <a:t>Partitioning stores a data segment (Table, Index, LOB) as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b="1" dirty="0">
                <a:latin typeface="Arial" pitchFamily="34" charset="0"/>
              </a:rPr>
              <a:t>multiple segments while retaining a logically massive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b="1" dirty="0">
                <a:latin typeface="Arial" pitchFamily="34" charset="0"/>
              </a:rPr>
              <a:t> structure.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600" dirty="0">
              <a:latin typeface="Courier New" pitchFamily="49" charset="0"/>
            </a:endParaRPr>
          </a:p>
        </p:txBody>
      </p:sp>
      <p:sp>
        <p:nvSpPr>
          <p:cNvPr id="148494" name="Text Box 37"/>
          <p:cNvSpPr txBox="1">
            <a:spLocks noChangeArrowheads="1"/>
          </p:cNvSpPr>
          <p:nvPr/>
        </p:nvSpPr>
        <p:spPr bwMode="auto">
          <a:xfrm>
            <a:off x="5435600" y="2563813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148495" name="Text Box 38"/>
          <p:cNvSpPr txBox="1">
            <a:spLocks noChangeArrowheads="1"/>
          </p:cNvSpPr>
          <p:nvPr/>
        </p:nvSpPr>
        <p:spPr bwMode="auto">
          <a:xfrm>
            <a:off x="5435600" y="299561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 </a:t>
            </a:r>
          </a:p>
        </p:txBody>
      </p:sp>
      <p:sp>
        <p:nvSpPr>
          <p:cNvPr id="148496" name="Text Box 39"/>
          <p:cNvSpPr txBox="1">
            <a:spLocks noChangeArrowheads="1"/>
          </p:cNvSpPr>
          <p:nvPr/>
        </p:nvSpPr>
        <p:spPr bwMode="auto">
          <a:xfrm>
            <a:off x="5435600" y="3571875"/>
            <a:ext cx="1174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 </a:t>
            </a:r>
          </a:p>
        </p:txBody>
      </p:sp>
      <p:sp>
        <p:nvSpPr>
          <p:cNvPr id="148497" name="Text Box 40"/>
          <p:cNvSpPr txBox="1">
            <a:spLocks noChangeArrowheads="1"/>
          </p:cNvSpPr>
          <p:nvPr/>
        </p:nvSpPr>
        <p:spPr bwMode="auto">
          <a:xfrm>
            <a:off x="5435600" y="4148138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148498" name="Text Box 41"/>
          <p:cNvSpPr txBox="1">
            <a:spLocks noChangeArrowheads="1"/>
          </p:cNvSpPr>
          <p:nvPr/>
        </p:nvSpPr>
        <p:spPr bwMode="auto">
          <a:xfrm>
            <a:off x="5435600" y="4652963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 </a:t>
            </a:r>
          </a:p>
        </p:txBody>
      </p:sp>
      <p:sp>
        <p:nvSpPr>
          <p:cNvPr id="148499" name="Text Box 42"/>
          <p:cNvSpPr txBox="1">
            <a:spLocks noChangeArrowheads="1"/>
          </p:cNvSpPr>
          <p:nvPr/>
        </p:nvSpPr>
        <p:spPr bwMode="auto">
          <a:xfrm>
            <a:off x="5435600" y="5156200"/>
            <a:ext cx="111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148500" name="Text Box 43"/>
          <p:cNvSpPr txBox="1">
            <a:spLocks noChangeArrowheads="1"/>
          </p:cNvSpPr>
          <p:nvPr/>
        </p:nvSpPr>
        <p:spPr bwMode="auto">
          <a:xfrm>
            <a:off x="5435600" y="5661025"/>
            <a:ext cx="111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148501" name="AutoShape 44"/>
          <p:cNvSpPr>
            <a:spLocks noChangeArrowheads="1"/>
          </p:cNvSpPr>
          <p:nvPr/>
        </p:nvSpPr>
        <p:spPr bwMode="auto">
          <a:xfrm>
            <a:off x="7019925" y="2995613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502" name="AutoShape 45"/>
          <p:cNvSpPr>
            <a:spLocks noChangeArrowheads="1"/>
          </p:cNvSpPr>
          <p:nvPr/>
        </p:nvSpPr>
        <p:spPr bwMode="auto">
          <a:xfrm>
            <a:off x="7019925" y="3500438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503" name="AutoShape 46"/>
          <p:cNvSpPr>
            <a:spLocks noChangeArrowheads="1"/>
          </p:cNvSpPr>
          <p:nvPr/>
        </p:nvSpPr>
        <p:spPr bwMode="auto">
          <a:xfrm>
            <a:off x="7019925" y="2492375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504" name="AutoShape 47"/>
          <p:cNvSpPr>
            <a:spLocks noChangeArrowheads="1"/>
          </p:cNvSpPr>
          <p:nvPr/>
        </p:nvSpPr>
        <p:spPr bwMode="auto">
          <a:xfrm>
            <a:off x="7019925" y="4076700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505" name="AutoShape 48"/>
          <p:cNvSpPr>
            <a:spLocks noChangeArrowheads="1"/>
          </p:cNvSpPr>
          <p:nvPr/>
        </p:nvSpPr>
        <p:spPr bwMode="auto">
          <a:xfrm>
            <a:off x="7019925" y="4579938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506" name="AutoShape 49"/>
          <p:cNvSpPr>
            <a:spLocks noChangeArrowheads="1"/>
          </p:cNvSpPr>
          <p:nvPr/>
        </p:nvSpPr>
        <p:spPr bwMode="auto">
          <a:xfrm>
            <a:off x="7019925" y="5084763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507" name="AutoShape 50"/>
          <p:cNvSpPr>
            <a:spLocks noChangeArrowheads="1"/>
          </p:cNvSpPr>
          <p:nvPr/>
        </p:nvSpPr>
        <p:spPr bwMode="auto">
          <a:xfrm>
            <a:off x="7019925" y="5588000"/>
            <a:ext cx="1584325" cy="4318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48508" name="Text Box 51"/>
          <p:cNvSpPr txBox="1">
            <a:spLocks noChangeArrowheads="1"/>
          </p:cNvSpPr>
          <p:nvPr/>
        </p:nvSpPr>
        <p:spPr bwMode="auto">
          <a:xfrm>
            <a:off x="7235825" y="2563813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148509" name="Text Box 52"/>
          <p:cNvSpPr txBox="1">
            <a:spLocks noChangeArrowheads="1"/>
          </p:cNvSpPr>
          <p:nvPr/>
        </p:nvSpPr>
        <p:spPr bwMode="auto">
          <a:xfrm>
            <a:off x="7235825" y="299561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 </a:t>
            </a:r>
          </a:p>
        </p:txBody>
      </p:sp>
      <p:sp>
        <p:nvSpPr>
          <p:cNvPr id="148510" name="Text Box 53"/>
          <p:cNvSpPr txBox="1">
            <a:spLocks noChangeArrowheads="1"/>
          </p:cNvSpPr>
          <p:nvPr/>
        </p:nvSpPr>
        <p:spPr bwMode="auto">
          <a:xfrm>
            <a:off x="7235825" y="3571875"/>
            <a:ext cx="111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148511" name="Text Box 54"/>
          <p:cNvSpPr txBox="1">
            <a:spLocks noChangeArrowheads="1"/>
          </p:cNvSpPr>
          <p:nvPr/>
        </p:nvSpPr>
        <p:spPr bwMode="auto">
          <a:xfrm>
            <a:off x="7235825" y="4148138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148512" name="Text Box 55"/>
          <p:cNvSpPr txBox="1">
            <a:spLocks noChangeArrowheads="1"/>
          </p:cNvSpPr>
          <p:nvPr/>
        </p:nvSpPr>
        <p:spPr bwMode="auto">
          <a:xfrm>
            <a:off x="7235825" y="4652963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148513" name="Text Box 56"/>
          <p:cNvSpPr txBox="1">
            <a:spLocks noChangeArrowheads="1"/>
          </p:cNvSpPr>
          <p:nvPr/>
        </p:nvSpPr>
        <p:spPr bwMode="auto">
          <a:xfrm>
            <a:off x="7235825" y="5156200"/>
            <a:ext cx="111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148514" name="Text Box 57"/>
          <p:cNvSpPr txBox="1">
            <a:spLocks noChangeArrowheads="1"/>
          </p:cNvSpPr>
          <p:nvPr/>
        </p:nvSpPr>
        <p:spPr bwMode="auto">
          <a:xfrm>
            <a:off x="7235825" y="5661025"/>
            <a:ext cx="111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solidFill>
                  <a:schemeClr val="accent2"/>
                </a:solidFill>
                <a:latin typeface="Arial" pitchFamily="34" charset="0"/>
              </a:rPr>
              <a:t>Partition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3168" y="0"/>
            <a:ext cx="7083631" cy="771896"/>
          </a:xfrm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What is Partitioning?</a:t>
            </a:r>
          </a:p>
        </p:txBody>
      </p:sp>
    </p:spTree>
    <p:extLst>
      <p:ext uri="{BB962C8B-B14F-4D97-AF65-F5344CB8AC3E}">
        <p14:creationId xmlns:p14="http://schemas.microsoft.com/office/powerpoint/2010/main" val="166280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Who Partitions? 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2607" y="1474076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Deciding on what and how to partition is </a:t>
            </a:r>
            <a:r>
              <a:rPr lang="en-AU" altLang="en-US" sz="2400" b="1" dirty="0" smtClean="0">
                <a:solidFill>
                  <a:schemeClr val="tx1"/>
                </a:solidFill>
              </a:rPr>
              <a:t>both a Developer and DBA</a:t>
            </a:r>
            <a:r>
              <a:rPr lang="en-AU" altLang="en-US" sz="2400" dirty="0" smtClean="0">
                <a:solidFill>
                  <a:schemeClr val="tx1"/>
                </a:solidFill>
              </a:rPr>
              <a:t> job.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A </a:t>
            </a:r>
            <a:r>
              <a:rPr lang="en-AU" altLang="en-US" sz="2400" b="1" dirty="0" smtClean="0">
                <a:solidFill>
                  <a:schemeClr val="tx1"/>
                </a:solidFill>
              </a:rPr>
              <a:t>good of understanding of the business rules</a:t>
            </a:r>
            <a:r>
              <a:rPr lang="en-AU" altLang="en-US" sz="2400" dirty="0" smtClean="0">
                <a:solidFill>
                  <a:schemeClr val="tx1"/>
                </a:solidFill>
              </a:rPr>
              <a:t> needs to be known about how the data is utilized within Oracle. For example, how data is loaded and queried by the application?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A great portion of care needs to done in selection of the type of partitioning along with the partition key.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Poor selection of partition or partition key could lead to poor DML and DDL performance.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Always test, test, and test again prior to implementing in production.</a:t>
            </a:r>
          </a:p>
        </p:txBody>
      </p:sp>
    </p:spTree>
    <p:extLst>
      <p:ext uri="{BB962C8B-B14F-4D97-AF65-F5344CB8AC3E}">
        <p14:creationId xmlns:p14="http://schemas.microsoft.com/office/powerpoint/2010/main" val="304585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Why Partition?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196975"/>
            <a:ext cx="8229600" cy="5184775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AU" altLang="en-US" b="1" dirty="0" smtClean="0">
                <a:solidFill>
                  <a:schemeClr val="accent2"/>
                </a:solidFill>
              </a:rPr>
              <a:t>For Manageability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dirty="0" smtClean="0">
                <a:solidFill>
                  <a:schemeClr val="accent2"/>
                </a:solidFill>
              </a:rPr>
              <a:t>	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dirty="0" smtClean="0">
                <a:solidFill>
                  <a:schemeClr val="tx1"/>
                </a:solidFill>
              </a:rPr>
              <a:t>	</a:t>
            </a:r>
            <a:r>
              <a:rPr lang="en-AU" altLang="en-US" sz="2000" dirty="0" smtClean="0">
                <a:solidFill>
                  <a:schemeClr val="tx1"/>
                </a:solidFill>
              </a:rPr>
              <a:t>Partitioning enables data management operations such data loads, index creation and rebuilding, and backup/recovery </a:t>
            </a:r>
            <a:r>
              <a:rPr lang="en-AU" altLang="en-US" sz="2000" b="1" i="1" dirty="0" smtClean="0">
                <a:solidFill>
                  <a:schemeClr val="tx1"/>
                </a:solidFill>
              </a:rPr>
              <a:t>at the partition level</a:t>
            </a:r>
            <a:r>
              <a:rPr lang="en-AU" altLang="en-US" sz="2000" dirty="0" smtClean="0">
                <a:solidFill>
                  <a:schemeClr val="tx1"/>
                </a:solidFill>
              </a:rPr>
              <a:t>, rather than on the entire table. This results in significantly reduced times for these operations.</a:t>
            </a:r>
          </a:p>
          <a:p>
            <a:pPr eaLnBrk="1" hangingPunct="1"/>
            <a:endParaRPr lang="en-AU" altLang="en-US" sz="200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AU" altLang="en-US" b="1" dirty="0" smtClean="0">
                <a:solidFill>
                  <a:schemeClr val="accent2"/>
                </a:solidFill>
              </a:rPr>
              <a:t>For Performance</a:t>
            </a:r>
          </a:p>
          <a:p>
            <a:pPr eaLnBrk="1" hangingPunct="1"/>
            <a:endParaRPr lang="en-AU" altLang="en-US" b="1" dirty="0" smtClean="0">
              <a:solidFill>
                <a:schemeClr val="accent2"/>
              </a:solidFill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dirty="0" smtClean="0">
                <a:solidFill>
                  <a:schemeClr val="tx1"/>
                </a:solidFill>
              </a:rPr>
              <a:t>	Partitioning improves query performance. In many cases, the results of a query can be achieved by accessing a subset of partitions, rather than the entire table. </a:t>
            </a:r>
            <a:r>
              <a:rPr lang="en-AU" altLang="en-US" sz="2000" b="1" dirty="0" smtClean="0">
                <a:solidFill>
                  <a:schemeClr val="tx1"/>
                </a:solidFill>
              </a:rPr>
              <a:t>Partition Pruning</a:t>
            </a:r>
            <a:r>
              <a:rPr lang="en-AU" altLang="en-US" sz="2000" dirty="0" smtClean="0">
                <a:solidFill>
                  <a:schemeClr val="tx1"/>
                </a:solidFill>
              </a:rPr>
              <a:t> and </a:t>
            </a:r>
            <a:r>
              <a:rPr lang="en-AU" altLang="en-US" sz="2000" b="1" dirty="0" smtClean="0">
                <a:solidFill>
                  <a:schemeClr val="tx1"/>
                </a:solidFill>
              </a:rPr>
              <a:t>Partition-wise joins</a:t>
            </a:r>
            <a:r>
              <a:rPr lang="en-AU" altLang="en-US" sz="2000" dirty="0" smtClean="0">
                <a:solidFill>
                  <a:schemeClr val="tx1"/>
                </a:solidFill>
              </a:rPr>
              <a:t> can provide order-of-magnitude gains in performance.</a:t>
            </a:r>
          </a:p>
          <a:p>
            <a:pPr eaLnBrk="1" hangingPunct="1"/>
            <a:endParaRPr lang="en-AU" altLang="en-US" sz="200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AU" altLang="en-US" b="1" dirty="0" smtClean="0">
                <a:solidFill>
                  <a:schemeClr val="accent2"/>
                </a:solidFill>
              </a:rPr>
              <a:t>For Availability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dirty="0" smtClean="0">
                <a:solidFill>
                  <a:schemeClr val="tx1"/>
                </a:solidFill>
              </a:rPr>
              <a:t>	Partitioning increases the availability of mission-critical databases if critical tables and indexes are divided into partitions to </a:t>
            </a:r>
            <a:r>
              <a:rPr lang="en-AU" altLang="en-US" sz="2000" b="1" dirty="0" smtClean="0">
                <a:solidFill>
                  <a:schemeClr val="tx1"/>
                </a:solidFill>
              </a:rPr>
              <a:t>reduce the maintenance windows, recovery times</a:t>
            </a:r>
            <a:r>
              <a:rPr lang="en-AU" altLang="en-US" sz="2000" dirty="0" smtClean="0">
                <a:solidFill>
                  <a:schemeClr val="tx1"/>
                </a:solidFill>
              </a:rPr>
              <a:t>, and impact of failures.</a:t>
            </a:r>
          </a:p>
          <a:p>
            <a:pPr eaLnBrk="1" hangingPunct="1"/>
            <a:endParaRPr lang="en-AU" altLang="en-US" sz="2000" dirty="0" smtClean="0">
              <a:solidFill>
                <a:schemeClr val="accent2"/>
              </a:solidFill>
            </a:endParaRPr>
          </a:p>
          <a:p>
            <a:pPr eaLnBrk="1" hangingPunct="1"/>
            <a:endParaRPr lang="en-AU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2530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Decisions and Challenges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31076" y="1006804"/>
            <a:ext cx="8229600" cy="511175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AU" altLang="en-US" dirty="0" smtClean="0">
                <a:solidFill>
                  <a:schemeClr val="tx1"/>
                </a:solidFill>
              </a:rPr>
              <a:t>License cost of Partitioning option (~11,000$ per CPU)</a:t>
            </a:r>
          </a:p>
          <a:p>
            <a:pPr eaLnBrk="1" hangingPunct="1">
              <a:lnSpc>
                <a:spcPct val="80000"/>
              </a:lnSpc>
            </a:pPr>
            <a:endParaRPr lang="en-AU" altLang="en-US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en-US" dirty="0" smtClean="0">
                <a:solidFill>
                  <a:schemeClr val="tx1"/>
                </a:solidFill>
              </a:rPr>
              <a:t>Number of Partitions.</a:t>
            </a:r>
          </a:p>
          <a:p>
            <a:pPr eaLnBrk="1" hangingPunct="1">
              <a:lnSpc>
                <a:spcPct val="80000"/>
              </a:lnSpc>
            </a:pPr>
            <a:endParaRPr lang="en-AU" altLang="en-US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en-US" dirty="0" smtClean="0">
                <a:solidFill>
                  <a:schemeClr val="tx1"/>
                </a:solidFill>
              </a:rPr>
              <a:t>Choosing the partitioning key column.</a:t>
            </a:r>
          </a:p>
          <a:p>
            <a:pPr eaLnBrk="1" hangingPunct="1">
              <a:lnSpc>
                <a:spcPct val="80000"/>
              </a:lnSpc>
            </a:pPr>
            <a:endParaRPr lang="en-AU" altLang="en-US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en-US" dirty="0" smtClean="0">
                <a:solidFill>
                  <a:schemeClr val="tx1"/>
                </a:solidFill>
              </a:rPr>
              <a:t>Partitioning Key – single column, multiple column.</a:t>
            </a:r>
          </a:p>
          <a:p>
            <a:pPr eaLnBrk="1" hangingPunct="1">
              <a:lnSpc>
                <a:spcPct val="80000"/>
              </a:lnSpc>
            </a:pPr>
            <a:endParaRPr lang="en-AU" altLang="en-US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en-US" dirty="0" smtClean="0">
                <a:solidFill>
                  <a:schemeClr val="tx1"/>
                </a:solidFill>
              </a:rPr>
              <a:t>Choosing the type of partitioning: Range, Hash-List, Range-Hash, Range-List, List-List, Range-Range ….</a:t>
            </a:r>
          </a:p>
          <a:p>
            <a:pPr eaLnBrk="1" hangingPunct="1">
              <a:lnSpc>
                <a:spcPct val="80000"/>
              </a:lnSpc>
            </a:pPr>
            <a:endParaRPr lang="en-AU" altLang="en-US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en-US" dirty="0" smtClean="0">
                <a:solidFill>
                  <a:schemeClr val="tx1"/>
                </a:solidFill>
              </a:rPr>
              <a:t>Which tables to Partition …. All tables &gt; 2GB (</a:t>
            </a:r>
            <a:r>
              <a:rPr lang="en-AU" altLang="en-US" b="1" dirty="0" smtClean="0">
                <a:solidFill>
                  <a:schemeClr val="tx1"/>
                </a:solidFill>
              </a:rPr>
              <a:t>Oracle says so</a:t>
            </a:r>
            <a:r>
              <a:rPr lang="en-AU" altLang="en-US" dirty="0" smtClean="0">
                <a:solidFill>
                  <a:schemeClr val="tx1"/>
                </a:solidFill>
              </a:rPr>
              <a:t> …)</a:t>
            </a:r>
          </a:p>
          <a:p>
            <a:pPr eaLnBrk="1" hangingPunct="1">
              <a:lnSpc>
                <a:spcPct val="80000"/>
              </a:lnSpc>
            </a:pPr>
            <a:endParaRPr lang="en-AU" altLang="en-US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en-US" i="1" dirty="0" smtClean="0">
                <a:solidFill>
                  <a:schemeClr val="tx1"/>
                </a:solidFill>
              </a:rPr>
              <a:t>Think about it</a:t>
            </a:r>
            <a:r>
              <a:rPr lang="en-AU" altLang="en-US" dirty="0" smtClean="0">
                <a:solidFill>
                  <a:schemeClr val="tx1"/>
                </a:solidFill>
              </a:rPr>
              <a:t> if table is &gt; 1 million rows (I say so …)</a:t>
            </a:r>
          </a:p>
          <a:p>
            <a:pPr eaLnBrk="1" hangingPunct="1">
              <a:lnSpc>
                <a:spcPct val="80000"/>
              </a:lnSpc>
            </a:pPr>
            <a:endParaRPr lang="en-AU" altLang="en-US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en-US" dirty="0" smtClean="0">
                <a:solidFill>
                  <a:schemeClr val="tx1"/>
                </a:solidFill>
              </a:rPr>
              <a:t>Partitioned tables with non partitioned or partitioned index</a:t>
            </a:r>
          </a:p>
          <a:p>
            <a:pPr eaLnBrk="1" hangingPunct="1">
              <a:lnSpc>
                <a:spcPct val="80000"/>
              </a:lnSpc>
            </a:pPr>
            <a:endParaRPr lang="en-AU" altLang="en-US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en-US" dirty="0" smtClean="0">
                <a:solidFill>
                  <a:schemeClr val="tx1"/>
                </a:solidFill>
              </a:rPr>
              <a:t>Global Index </a:t>
            </a:r>
            <a:r>
              <a:rPr lang="en-AU" altLang="en-US" dirty="0" err="1" smtClean="0">
                <a:solidFill>
                  <a:schemeClr val="tx1"/>
                </a:solidFill>
              </a:rPr>
              <a:t>vs</a:t>
            </a:r>
            <a:r>
              <a:rPr lang="en-AU" altLang="en-US" dirty="0" smtClean="0">
                <a:solidFill>
                  <a:schemeClr val="tx1"/>
                </a:solidFill>
              </a:rPr>
              <a:t> Local Index </a:t>
            </a:r>
          </a:p>
          <a:p>
            <a:pPr eaLnBrk="1" hangingPunct="1">
              <a:lnSpc>
                <a:spcPct val="80000"/>
              </a:lnSpc>
            </a:pPr>
            <a:endParaRPr lang="en-AU" alt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14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37"/>
          <p:cNvSpPr>
            <a:spLocks noGrp="1" noChangeArrowheads="1"/>
          </p:cNvSpPr>
          <p:nvPr>
            <p:ph type="title"/>
          </p:nvPr>
        </p:nvSpPr>
        <p:spPr>
          <a:xfrm>
            <a:off x="1608083" y="0"/>
            <a:ext cx="7535917" cy="771896"/>
          </a:xfrm>
          <a:prstGeom prst="rect">
            <a:avLst/>
          </a:prstGeom>
        </p:spPr>
        <p:txBody>
          <a:bodyPr anchor="ctr"/>
          <a:lstStyle/>
          <a:p>
            <a:r>
              <a:rPr lang="en-AU" altLang="en-US" sz="2400" dirty="0" smtClean="0"/>
              <a:t>Oracle Partitioning 10 years of innovation…</a:t>
            </a:r>
          </a:p>
        </p:txBody>
      </p:sp>
      <p:graphicFrame>
        <p:nvGraphicFramePr>
          <p:cNvPr id="11316" name="Group 52"/>
          <p:cNvGraphicFramePr>
            <a:graphicFrameLocks noGrp="1"/>
          </p:cNvGraphicFramePr>
          <p:nvPr>
            <p:ph idx="4294967295"/>
          </p:nvPr>
        </p:nvGraphicFramePr>
        <p:xfrm>
          <a:off x="836942" y="950858"/>
          <a:ext cx="7345362" cy="5159374"/>
        </p:xfrm>
        <a:graphic>
          <a:graphicData uri="http://schemas.openxmlformats.org/drawingml/2006/table">
            <a:tbl>
              <a:tblPr/>
              <a:tblGrid>
                <a:gridCol w="3673475"/>
                <a:gridCol w="3671887"/>
              </a:tblGrid>
              <a:tr h="427064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Database Release</a:t>
                      </a:r>
                      <a:r>
                        <a:rPr kumimoji="1" lang="en-AU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Core Functionality</a:t>
                      </a: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43023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Oracle 8.0  (1997)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Range Partitioning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</a:tr>
              <a:tr h="64011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Oracle 8</a:t>
                      </a:r>
                      <a:r>
                        <a:rPr kumimoji="1" lang="en-AU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i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Hash and Composite Partitioning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</a:tr>
              <a:tr h="428651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Oracle 9</a:t>
                      </a:r>
                      <a:r>
                        <a:rPr kumimoji="1" lang="en-AU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i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List Partitioning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</a:tr>
              <a:tr h="64011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Oracle 9</a:t>
                      </a:r>
                      <a:r>
                        <a:rPr kumimoji="1" lang="en-AU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i </a:t>
                      </a: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Release 2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Composite Range-List Partitioning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</a:tr>
              <a:tr h="428651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Oracle 10g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Global Hash Indexes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</a:tr>
              <a:tr h="427064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Oracle 10g Release 2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1M partitions per table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</a:tr>
              <a:tr h="1737467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Oracle 11g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Interval Partitioning, System Partitioning, REF Partitioning, Virtual Column Partitioning, Partition Advisor , Composite All Partitioning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76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Partitioning Methods </a:t>
            </a:r>
          </a:p>
        </p:txBody>
      </p:sp>
      <p:pic>
        <p:nvPicPr>
          <p:cNvPr id="153603" name="Picture 4" descr="cncpt1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068638"/>
            <a:ext cx="6697662" cy="314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4" name="Rectangle 7"/>
          <p:cNvSpPr>
            <a:spLocks noChangeArrowheads="1"/>
          </p:cNvSpPr>
          <p:nvPr/>
        </p:nvSpPr>
        <p:spPr bwMode="auto">
          <a:xfrm>
            <a:off x="755650" y="1184275"/>
            <a:ext cx="7272338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714500" indent="-3429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it-IT" altLang="en-US" sz="1800" b="1">
                <a:solidFill>
                  <a:schemeClr val="accent2"/>
                </a:solidFill>
                <a:latin typeface="Arial" pitchFamily="34" charset="0"/>
              </a:rPr>
              <a:t>Oracle provides the following partitioning methods(pre 11g):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</a:pPr>
            <a:r>
              <a:rPr kumimoji="0" lang="it-IT" altLang="en-US" sz="1800" b="1">
                <a:solidFill>
                  <a:schemeClr val="folHlink"/>
                </a:solidFill>
                <a:latin typeface="Arial" pitchFamily="34" charset="0"/>
              </a:rPr>
              <a:t> Range Partitioning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</a:pPr>
            <a:r>
              <a:rPr kumimoji="0" lang="it-IT" altLang="en-US" sz="1800" b="1">
                <a:solidFill>
                  <a:schemeClr val="folHlink"/>
                </a:solidFill>
                <a:latin typeface="Arial" pitchFamily="34" charset="0"/>
              </a:rPr>
              <a:t> List Partitioning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</a:pPr>
            <a:r>
              <a:rPr kumimoji="0" lang="it-IT" altLang="en-US" sz="1800" b="1">
                <a:solidFill>
                  <a:schemeClr val="folHlink"/>
                </a:solidFill>
                <a:latin typeface="Arial" pitchFamily="34" charset="0"/>
              </a:rPr>
              <a:t> Hash Partitioning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</a:pPr>
            <a:r>
              <a:rPr kumimoji="0" lang="it-IT" altLang="en-US" sz="1800" b="1">
                <a:solidFill>
                  <a:schemeClr val="folHlink"/>
                </a:solidFill>
                <a:latin typeface="Arial" pitchFamily="34" charset="0"/>
              </a:rPr>
              <a:t> Composite Partitioning</a:t>
            </a:r>
          </a:p>
        </p:txBody>
      </p:sp>
      <p:sp>
        <p:nvSpPr>
          <p:cNvPr id="153605" name="Text Box 8"/>
          <p:cNvSpPr txBox="1">
            <a:spLocks noChangeArrowheads="1"/>
          </p:cNvSpPr>
          <p:nvPr/>
        </p:nvSpPr>
        <p:spPr bwMode="auto">
          <a:xfrm>
            <a:off x="808038" y="6302375"/>
            <a:ext cx="7181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solidFill>
                  <a:schemeClr val="accent2"/>
                </a:solidFill>
                <a:latin typeface="Arial" pitchFamily="34" charset="0"/>
              </a:rPr>
              <a:t>Composite Partitioning is a combination of the methods shown above</a:t>
            </a:r>
          </a:p>
        </p:txBody>
      </p:sp>
    </p:spTree>
    <p:extLst>
      <p:ext uri="{BB962C8B-B14F-4D97-AF65-F5344CB8AC3E}">
        <p14:creationId xmlns:p14="http://schemas.microsoft.com/office/powerpoint/2010/main" val="135009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Composite Partitioning</a:t>
            </a:r>
          </a:p>
        </p:txBody>
      </p:sp>
      <p:pic>
        <p:nvPicPr>
          <p:cNvPr id="154627" name="Picture 6" descr="range_l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2781300"/>
            <a:ext cx="4176712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28" name="Picture 7" descr="cncpt1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08275"/>
            <a:ext cx="3743325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29" name="Text Box 8"/>
          <p:cNvSpPr txBox="1">
            <a:spLocks noChangeArrowheads="1"/>
          </p:cNvSpPr>
          <p:nvPr/>
        </p:nvSpPr>
        <p:spPr bwMode="auto">
          <a:xfrm>
            <a:off x="684213" y="1268413"/>
            <a:ext cx="248602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solidFill>
                  <a:srgbClr val="CC3300"/>
                </a:solidFill>
                <a:latin typeface="Arial" pitchFamily="34" charset="0"/>
              </a:rPr>
              <a:t>Range-Hash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600" b="1">
              <a:solidFill>
                <a:srgbClr val="CC3300"/>
              </a:solidFill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400" b="1">
                <a:solidFill>
                  <a:srgbClr val="0033CC"/>
                </a:solidFill>
                <a:latin typeface="Arial" pitchFamily="34" charset="0"/>
              </a:rPr>
              <a:t>Partitioned by date_of_sale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400" b="1">
                <a:solidFill>
                  <a:srgbClr val="0033CC"/>
                </a:solidFill>
                <a:latin typeface="Arial" pitchFamily="34" charset="0"/>
              </a:rPr>
              <a:t>	then ….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400" b="1">
                <a:solidFill>
                  <a:srgbClr val="0033CC"/>
                </a:solidFill>
                <a:latin typeface="Arial" pitchFamily="34" charset="0"/>
              </a:rPr>
              <a:t>Partitioned by salesman_id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400" b="1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4968875" y="1243013"/>
            <a:ext cx="4572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solidFill>
                  <a:srgbClr val="CC3300"/>
                </a:solidFill>
                <a:latin typeface="Arial" pitchFamily="34" charset="0"/>
              </a:rPr>
              <a:t>Range-List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600" b="1">
              <a:solidFill>
                <a:srgbClr val="CC3300"/>
              </a:solidFill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400" b="1">
                <a:solidFill>
                  <a:srgbClr val="0033CC"/>
                </a:solidFill>
                <a:latin typeface="Arial" pitchFamily="34" charset="0"/>
              </a:rPr>
              <a:t>Partitioned by date_of_sale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400" b="1">
                <a:solidFill>
                  <a:srgbClr val="0033CC"/>
                </a:solidFill>
                <a:latin typeface="Arial" pitchFamily="34" charset="0"/>
              </a:rPr>
              <a:t>	then ….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400" b="1">
                <a:solidFill>
                  <a:srgbClr val="0033CC"/>
                </a:solidFill>
                <a:latin typeface="Arial" pitchFamily="34" charset="0"/>
              </a:rPr>
              <a:t>Partitioned by sales_region</a:t>
            </a:r>
          </a:p>
        </p:txBody>
      </p:sp>
    </p:spTree>
    <p:extLst>
      <p:ext uri="{BB962C8B-B14F-4D97-AF65-F5344CB8AC3E}">
        <p14:creationId xmlns:p14="http://schemas.microsoft.com/office/powerpoint/2010/main" val="387072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r>
              <a:rPr lang="en-AU" altLang="en-US" dirty="0" smtClean="0"/>
              <a:t>RANGE Partitioning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2965" y="1041894"/>
            <a:ext cx="8229600" cy="51117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Introduced in Oracle 8.0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Useful when Data has </a:t>
            </a:r>
            <a:r>
              <a:rPr lang="en-AU" altLang="en-US" sz="2400" b="1" dirty="0" smtClean="0">
                <a:solidFill>
                  <a:schemeClr val="tx1"/>
                </a:solidFill>
              </a:rPr>
              <a:t>logical ranges into which it can be distributed by</a:t>
            </a:r>
            <a:r>
              <a:rPr lang="en-AU" altLang="en-US" sz="2400" dirty="0" smtClean="0">
                <a:solidFill>
                  <a:schemeClr val="tx1"/>
                </a:solidFill>
              </a:rPr>
              <a:t> – example, a range of dates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Data is mapped to partitions based on ranges of partition key values established for each partition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Each partition has a </a:t>
            </a:r>
            <a:r>
              <a:rPr lang="en-AU" altLang="en-US" sz="2400" b="1" dirty="0" smtClean="0">
                <a:solidFill>
                  <a:schemeClr val="tx1"/>
                </a:solidFill>
              </a:rPr>
              <a:t>VALUES LESS THAN</a:t>
            </a:r>
            <a:r>
              <a:rPr lang="en-AU" altLang="en-US" sz="2400" dirty="0" smtClean="0">
                <a:solidFill>
                  <a:schemeClr val="tx1"/>
                </a:solidFill>
              </a:rPr>
              <a:t> clause, which specifies a non inclusive upper bound for the partitions.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All partitions, except the first, have an implicit lower bound specified by the VALUES LESS THAN clause on the previous partition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A </a:t>
            </a:r>
            <a:r>
              <a:rPr lang="en-AU" altLang="en-US" sz="2400" b="1" dirty="0" smtClean="0">
                <a:solidFill>
                  <a:schemeClr val="tx1"/>
                </a:solidFill>
              </a:rPr>
              <a:t>MAXVALUE </a:t>
            </a:r>
            <a:r>
              <a:rPr lang="en-AU" altLang="en-US" sz="2400" dirty="0" smtClean="0">
                <a:solidFill>
                  <a:schemeClr val="tx1"/>
                </a:solidFill>
              </a:rPr>
              <a:t>literal can be defined for the highest partition. MAXVALUE represents a virtual infinite value </a:t>
            </a:r>
          </a:p>
        </p:txBody>
      </p:sp>
    </p:spTree>
    <p:extLst>
      <p:ext uri="{BB962C8B-B14F-4D97-AF65-F5344CB8AC3E}">
        <p14:creationId xmlns:p14="http://schemas.microsoft.com/office/powerpoint/2010/main" val="421224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2"/>
          <p:cNvSpPr>
            <a:spLocks noChangeArrowheads="1"/>
          </p:cNvSpPr>
          <p:nvPr/>
        </p:nvSpPr>
        <p:spPr bwMode="auto">
          <a:xfrm>
            <a:off x="468313" y="1989137"/>
            <a:ext cx="8351837" cy="359185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56675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Range Partitioning</a:t>
            </a:r>
          </a:p>
        </p:txBody>
      </p:sp>
      <p:sp>
        <p:nvSpPr>
          <p:cNvPr id="1566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36588" y="2032000"/>
            <a:ext cx="8507412" cy="4852988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create table order_details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 (order_id number,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 order_date date)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 </a:t>
            </a:r>
            <a:r>
              <a:rPr lang="en-AU" altLang="en-US" sz="1800" b="1" smtClean="0">
                <a:solidFill>
                  <a:schemeClr val="accent2"/>
                </a:solidFill>
                <a:latin typeface="Courier New" pitchFamily="49" charset="0"/>
              </a:rPr>
              <a:t>partition by range</a:t>
            </a:r>
            <a:r>
              <a:rPr lang="en-AU" altLang="en-US" sz="1800" b="1" smtClean="0">
                <a:latin typeface="Courier New" pitchFamily="49" charset="0"/>
              </a:rPr>
              <a:t> </a:t>
            </a:r>
            <a:r>
              <a:rPr lang="en-AU" altLang="en-US" sz="1800" b="1" smtClean="0">
                <a:solidFill>
                  <a:srgbClr val="0033CC"/>
                </a:solidFill>
                <a:latin typeface="Courier New" pitchFamily="49" charset="0"/>
              </a:rPr>
              <a:t>(</a:t>
            </a:r>
            <a:r>
              <a:rPr lang="en-AU" altLang="en-US" sz="1800" b="1" smtClean="0">
                <a:solidFill>
                  <a:srgbClr val="FF3300"/>
                </a:solidFill>
                <a:latin typeface="Courier New" pitchFamily="49" charset="0"/>
              </a:rPr>
              <a:t>order_date</a:t>
            </a:r>
            <a:r>
              <a:rPr lang="en-AU" altLang="en-US" sz="1800" b="1" smtClean="0">
                <a:solidFill>
                  <a:srgbClr val="0033CC"/>
                </a:solidFill>
                <a:latin typeface="Courier New" pitchFamily="49" charset="0"/>
              </a:rPr>
              <a:t>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 (partition p_jan </a:t>
            </a:r>
            <a:r>
              <a:rPr lang="en-AU" altLang="en-US" sz="1800" b="1" smtClean="0">
                <a:solidFill>
                  <a:schemeClr val="hlink"/>
                </a:solidFill>
                <a:latin typeface="Courier New" pitchFamily="49" charset="0"/>
              </a:rPr>
              <a:t>values less than (to_date('01-FEB-2009</a:t>
            </a:r>
            <a:r>
              <a:rPr lang="en-AU" altLang="en-US" sz="1800" b="1" smtClean="0">
                <a:latin typeface="Courier New" pitchFamily="49" charset="0"/>
              </a:rPr>
              <a:t>','DD-MON-YYYY')),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  partition p_feb values less than (to_date('01-MAR-2009','DD-MON-YYYY')),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  partition p_mar values less than (to_date('01-APR-2009','DD-MON-YYYY')),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  partition p_2009 values less than (</a:t>
            </a:r>
            <a:r>
              <a:rPr lang="en-AU" altLang="en-US" sz="1800" b="1" smtClean="0">
                <a:solidFill>
                  <a:srgbClr val="CC3300"/>
                </a:solidFill>
                <a:latin typeface="Courier New" pitchFamily="49" charset="0"/>
              </a:rPr>
              <a:t>MAXVALUE</a:t>
            </a:r>
            <a:r>
              <a:rPr lang="en-AU" altLang="en-US" sz="1800" b="1" smtClean="0">
                <a:latin typeface="Courier New" pitchFamily="49" charset="0"/>
              </a:rPr>
              <a:t>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 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 ;</a:t>
            </a:r>
          </a:p>
        </p:txBody>
      </p:sp>
      <p:sp>
        <p:nvSpPr>
          <p:cNvPr id="156677" name="Rectangle 4"/>
          <p:cNvSpPr>
            <a:spLocks noChangeArrowheads="1"/>
          </p:cNvSpPr>
          <p:nvPr/>
        </p:nvSpPr>
        <p:spPr bwMode="auto">
          <a:xfrm>
            <a:off x="3851275" y="1412875"/>
            <a:ext cx="2305050" cy="433388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Partitioning Method</a:t>
            </a:r>
          </a:p>
        </p:txBody>
      </p:sp>
      <p:sp>
        <p:nvSpPr>
          <p:cNvPr id="156678" name="Rectangle 7"/>
          <p:cNvSpPr>
            <a:spLocks noChangeArrowheads="1"/>
          </p:cNvSpPr>
          <p:nvPr/>
        </p:nvSpPr>
        <p:spPr bwMode="auto">
          <a:xfrm>
            <a:off x="6011863" y="2492375"/>
            <a:ext cx="2735262" cy="358775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Partitioning Column (Key)</a:t>
            </a:r>
          </a:p>
        </p:txBody>
      </p:sp>
      <p:sp>
        <p:nvSpPr>
          <p:cNvPr id="156679" name="Line 9"/>
          <p:cNvSpPr>
            <a:spLocks noChangeShapeType="1"/>
          </p:cNvSpPr>
          <p:nvPr/>
        </p:nvSpPr>
        <p:spPr bwMode="auto">
          <a:xfrm flipH="1">
            <a:off x="4427538" y="2709863"/>
            <a:ext cx="1584325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0" name="Line 10"/>
          <p:cNvSpPr>
            <a:spLocks noChangeShapeType="1"/>
          </p:cNvSpPr>
          <p:nvPr/>
        </p:nvSpPr>
        <p:spPr bwMode="auto">
          <a:xfrm>
            <a:off x="4427538" y="1844675"/>
            <a:ext cx="1587" cy="793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1" name="Line 11"/>
          <p:cNvSpPr>
            <a:spLocks noChangeShapeType="1"/>
          </p:cNvSpPr>
          <p:nvPr/>
        </p:nvSpPr>
        <p:spPr bwMode="auto">
          <a:xfrm flipH="1" flipV="1">
            <a:off x="2700338" y="2636838"/>
            <a:ext cx="1727200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2" name="Line 12"/>
          <p:cNvSpPr>
            <a:spLocks noChangeShapeType="1"/>
          </p:cNvSpPr>
          <p:nvPr/>
        </p:nvSpPr>
        <p:spPr bwMode="auto">
          <a:xfrm flipH="1">
            <a:off x="2484438" y="2636838"/>
            <a:ext cx="21590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3" name="Rectangle 13"/>
          <p:cNvSpPr>
            <a:spLocks noChangeArrowheads="1"/>
          </p:cNvSpPr>
          <p:nvPr/>
        </p:nvSpPr>
        <p:spPr bwMode="auto">
          <a:xfrm>
            <a:off x="2266950" y="5446713"/>
            <a:ext cx="5618163" cy="574675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Partition descriptions identifying partition bounds</a:t>
            </a:r>
          </a:p>
        </p:txBody>
      </p:sp>
      <p:sp>
        <p:nvSpPr>
          <p:cNvPr id="156684" name="Line 16"/>
          <p:cNvSpPr>
            <a:spLocks noChangeShapeType="1"/>
          </p:cNvSpPr>
          <p:nvPr/>
        </p:nvSpPr>
        <p:spPr bwMode="auto">
          <a:xfrm flipV="1">
            <a:off x="395288" y="3573463"/>
            <a:ext cx="0" cy="2160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5" name="Line 17"/>
          <p:cNvSpPr>
            <a:spLocks noChangeShapeType="1"/>
          </p:cNvSpPr>
          <p:nvPr/>
        </p:nvSpPr>
        <p:spPr bwMode="auto">
          <a:xfrm>
            <a:off x="395288" y="3571875"/>
            <a:ext cx="331311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6" name="Line 18"/>
          <p:cNvSpPr>
            <a:spLocks noChangeShapeType="1"/>
          </p:cNvSpPr>
          <p:nvPr/>
        </p:nvSpPr>
        <p:spPr bwMode="auto">
          <a:xfrm flipV="1">
            <a:off x="3708400" y="3357563"/>
            <a:ext cx="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7" name="Line 21"/>
          <p:cNvSpPr>
            <a:spLocks noChangeShapeType="1"/>
          </p:cNvSpPr>
          <p:nvPr/>
        </p:nvSpPr>
        <p:spPr bwMode="auto">
          <a:xfrm>
            <a:off x="395288" y="5734050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7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Hash Partitioning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7991" y="1034503"/>
            <a:ext cx="8291512" cy="473567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Introduced in Oracle 8</a:t>
            </a:r>
            <a:r>
              <a:rPr lang="en-AU" altLang="en-US" sz="2800" i="1" dirty="0" smtClean="0">
                <a:solidFill>
                  <a:schemeClr val="tx1"/>
                </a:solidFill>
              </a:rPr>
              <a:t>i.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Enables partitioning of data that does not lend itself to either range or list partitioning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As a better alternative to range partitioning when: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4000" dirty="0" smtClean="0">
                <a:solidFill>
                  <a:schemeClr val="tx1"/>
                </a:solidFill>
              </a:rPr>
              <a:t>		</a:t>
            </a:r>
            <a:r>
              <a:rPr lang="en-AU" altLang="en-US" sz="2000" dirty="0" smtClean="0">
                <a:solidFill>
                  <a:schemeClr val="tx1"/>
                </a:solidFill>
              </a:rPr>
              <a:t>We do not know beforehand how much data maps to a 	particular range.</a:t>
            </a:r>
          </a:p>
          <a:p>
            <a:pPr lvl="1" eaLnBrk="1" hangingPunct="1">
              <a:buFont typeface="Webdings" pitchFamily="18" charset="2"/>
              <a:buNone/>
            </a:pPr>
            <a:r>
              <a:rPr lang="en-AU" altLang="en-US" sz="3200" dirty="0" smtClean="0">
                <a:solidFill>
                  <a:schemeClr val="tx1"/>
                </a:solidFill>
              </a:rPr>
              <a:t>		The size of range partitions would differ substantially. 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dirty="0" smtClean="0">
                <a:solidFill>
                  <a:schemeClr val="tx1"/>
                </a:solidFill>
              </a:rPr>
              <a:t>		Range partitioning would cause the data to be undesirably 	clustered. </a:t>
            </a:r>
          </a:p>
          <a:p>
            <a:pPr eaLnBrk="1" hangingPunct="1"/>
            <a:endParaRPr lang="en-AU" altLang="en-US" sz="2000" dirty="0" smtClean="0">
              <a:solidFill>
                <a:schemeClr val="tx1"/>
              </a:solidFill>
            </a:endParaRPr>
          </a:p>
          <a:p>
            <a:pPr eaLnBrk="1" hangingPunct="1"/>
            <a:endParaRPr lang="en-AU" alt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07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Hash Partitioning</a:t>
            </a:r>
          </a:p>
        </p:txBody>
      </p:sp>
      <p:sp>
        <p:nvSpPr>
          <p:cNvPr id="158723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331076" y="1158765"/>
            <a:ext cx="8812924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Hash function applied to the partitioning key column to place row in required partition.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Balances the data distribution between all partitions.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Is an effective means of distributing data, because Oracle hashes the data into a number of partitions, each of which can reside on a separate device.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Hash Partitioning enables the use of performance features  like Partition-wise joins when two tables are hash partitioned on the join key.</a:t>
            </a:r>
          </a:p>
          <a:p>
            <a:pPr eaLnBrk="1" hangingPunct="1"/>
            <a:endParaRPr lang="en-AU" altLang="en-US" sz="2800" dirty="0" smtClean="0">
              <a:solidFill>
                <a:schemeClr val="tx1"/>
              </a:solidFill>
            </a:endParaRPr>
          </a:p>
          <a:p>
            <a:pPr eaLnBrk="1" hangingPunct="1"/>
            <a:endParaRPr lang="en-AU" alt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07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Hash Partitioning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5669" y="1600201"/>
            <a:ext cx="8229600" cy="350782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Not suitable for purging and archiving data models.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Partition pruning is limited to using equality or IN-list predicates.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User has no control of the row to partition mapping.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Partition maintenance tasks like splitting, dropping and merging cannot be carried out.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Partitions can only be added and coalesced.</a:t>
            </a:r>
          </a:p>
        </p:txBody>
      </p:sp>
    </p:spTree>
    <p:extLst>
      <p:ext uri="{BB962C8B-B14F-4D97-AF65-F5344CB8AC3E}">
        <p14:creationId xmlns:p14="http://schemas.microsoft.com/office/powerpoint/2010/main" val="37487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5"/>
          <p:cNvSpPr>
            <a:spLocks noChangeArrowheads="1"/>
          </p:cNvSpPr>
          <p:nvPr/>
        </p:nvSpPr>
        <p:spPr bwMode="auto">
          <a:xfrm>
            <a:off x="971550" y="3716338"/>
            <a:ext cx="7200900" cy="246374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0771" name="Rectangle 4"/>
          <p:cNvSpPr>
            <a:spLocks noChangeArrowheads="1"/>
          </p:cNvSpPr>
          <p:nvPr/>
        </p:nvSpPr>
        <p:spPr bwMode="auto">
          <a:xfrm>
            <a:off x="900113" y="819807"/>
            <a:ext cx="7272337" cy="268063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07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867102"/>
            <a:ext cx="7141779" cy="5486401"/>
          </a:xfrm>
          <a:prstGeom prst="rect">
            <a:avLst/>
          </a:prstGeom>
        </p:spPr>
        <p:txBody>
          <a:bodyPr/>
          <a:lstStyle/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CREATE TABLE employees (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  </a:t>
            </a:r>
            <a:r>
              <a:rPr lang="en-AU" altLang="en-US" sz="1600" b="1" dirty="0" err="1" smtClean="0">
                <a:latin typeface="Courier New" pitchFamily="49" charset="0"/>
              </a:rPr>
              <a:t>empno</a:t>
            </a:r>
            <a:r>
              <a:rPr lang="en-AU" altLang="en-US" sz="1600" b="1" dirty="0" smtClean="0">
                <a:latin typeface="Courier New" pitchFamily="49" charset="0"/>
              </a:rPr>
              <a:t> NUMBER(4), 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  </a:t>
            </a:r>
            <a:r>
              <a:rPr lang="en-AU" altLang="en-US" sz="1600" b="1" dirty="0" err="1" smtClean="0">
                <a:latin typeface="Courier New" pitchFamily="49" charset="0"/>
              </a:rPr>
              <a:t>ename</a:t>
            </a:r>
            <a:r>
              <a:rPr lang="en-AU" altLang="en-US" sz="1600" b="1" dirty="0" smtClean="0">
                <a:latin typeface="Courier New" pitchFamily="49" charset="0"/>
              </a:rPr>
              <a:t> VARCHAR2(30), 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  </a:t>
            </a:r>
            <a:r>
              <a:rPr lang="en-AU" altLang="en-US" sz="1600" b="1" dirty="0" err="1" smtClean="0">
                <a:latin typeface="Courier New" pitchFamily="49" charset="0"/>
              </a:rPr>
              <a:t>sal</a:t>
            </a:r>
            <a:r>
              <a:rPr lang="en-AU" altLang="en-US" sz="1600" b="1" dirty="0" smtClean="0">
                <a:latin typeface="Courier New" pitchFamily="49" charset="0"/>
              </a:rPr>
              <a:t>   NUMBER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) 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	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PARTITION BY HASH (</a:t>
            </a:r>
            <a:r>
              <a:rPr lang="en-AU" altLang="en-US" sz="1600" b="1" dirty="0" err="1" smtClean="0">
                <a:solidFill>
                  <a:srgbClr val="FF3300"/>
                </a:solidFill>
                <a:latin typeface="Courier New" pitchFamily="49" charset="0"/>
              </a:rPr>
              <a:t>empno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)</a:t>
            </a:r>
            <a:r>
              <a:rPr lang="en-AU" altLang="en-US" sz="1600" b="1" dirty="0" smtClean="0">
                <a:latin typeface="Courier New" pitchFamily="49" charset="0"/>
              </a:rPr>
              <a:t> (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 PARTITION h1 TABLESPACE t1, 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 PARTITION h2 TABLESPACE t2, 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 PARTITION h3 TABLESPACE t3,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 PARTITION h4 TABLESPACE t4</a:t>
            </a:r>
          </a:p>
          <a:p>
            <a:pPr marL="1068388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); 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 marL="898525" indent="-95250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CREATE TABLE employees (</a:t>
            </a:r>
          </a:p>
          <a:p>
            <a:pPr marL="898525" indent="-95250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err="1" smtClean="0">
                <a:latin typeface="Courier New" pitchFamily="49" charset="0"/>
              </a:rPr>
              <a:t>empno</a:t>
            </a:r>
            <a:r>
              <a:rPr lang="en-AU" altLang="en-US" sz="1600" b="1" dirty="0" smtClean="0">
                <a:latin typeface="Courier New" pitchFamily="49" charset="0"/>
              </a:rPr>
              <a:t> NUMBER(4), </a:t>
            </a:r>
          </a:p>
          <a:p>
            <a:pPr marL="898525" indent="-95250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 </a:t>
            </a:r>
            <a:r>
              <a:rPr lang="en-AU" altLang="en-US" sz="1600" b="1" dirty="0" err="1" smtClean="0">
                <a:latin typeface="Courier New" pitchFamily="49" charset="0"/>
              </a:rPr>
              <a:t>ename</a:t>
            </a:r>
            <a:r>
              <a:rPr lang="en-AU" altLang="en-US" sz="1600" b="1" dirty="0" smtClean="0">
                <a:latin typeface="Courier New" pitchFamily="49" charset="0"/>
              </a:rPr>
              <a:t> VARCHAR2(30), </a:t>
            </a:r>
          </a:p>
          <a:p>
            <a:pPr marL="898525" indent="-95250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err="1" smtClean="0">
                <a:latin typeface="Courier New" pitchFamily="49" charset="0"/>
              </a:rPr>
              <a:t>sal</a:t>
            </a:r>
            <a:r>
              <a:rPr lang="en-AU" altLang="en-US" sz="1600" b="1" dirty="0" smtClean="0">
                <a:latin typeface="Courier New" pitchFamily="49" charset="0"/>
              </a:rPr>
              <a:t>   NUMBER</a:t>
            </a:r>
          </a:p>
          <a:p>
            <a:pPr marL="898525" indent="-95250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) </a:t>
            </a:r>
          </a:p>
          <a:p>
            <a:pPr marL="898525" indent="-95250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PARTITION BY HASH(</a:t>
            </a:r>
            <a:r>
              <a:rPr lang="en-AU" altLang="en-US" sz="1600" b="1" dirty="0" err="1" smtClean="0">
                <a:solidFill>
                  <a:srgbClr val="FF3300"/>
                </a:solidFill>
                <a:latin typeface="Courier New" pitchFamily="49" charset="0"/>
              </a:rPr>
              <a:t>empno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)</a:t>
            </a:r>
          </a:p>
          <a:p>
            <a:pPr marL="898525" indent="-95250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PARTITIONS 3</a:t>
            </a:r>
          </a:p>
          <a:p>
            <a:pPr marL="898525" indent="-95250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STORE IN (t1,t2,t3)</a:t>
            </a:r>
          </a:p>
          <a:p>
            <a:pPr marL="898525" indent="-95250"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9301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List Partitioning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2607" y="921571"/>
            <a:ext cx="8560676" cy="525621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Introduced in Oracle 9</a:t>
            </a:r>
            <a:r>
              <a:rPr lang="en-AU" altLang="en-US" sz="2800" i="1" dirty="0" smtClean="0">
                <a:solidFill>
                  <a:schemeClr val="tx1"/>
                </a:solidFill>
              </a:rPr>
              <a:t>i.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List Partitioning is useful for data that has discrete or distinct values.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Enables to group and organize unordered and unrelated sets of data.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Gives data warehouse administrators precise control over which data belongs in each partition.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Enables the partitioning strategy to closely model underlying business processes. 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Unlike range and hash partitioning, multicolumn partition keys are not supported for list partitioning.</a:t>
            </a:r>
          </a:p>
        </p:txBody>
      </p:sp>
    </p:spTree>
    <p:extLst>
      <p:ext uri="{BB962C8B-B14F-4D97-AF65-F5344CB8AC3E}">
        <p14:creationId xmlns:p14="http://schemas.microsoft.com/office/powerpoint/2010/main" val="297746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4"/>
          <p:cNvSpPr>
            <a:spLocks noChangeArrowheads="1"/>
          </p:cNvSpPr>
          <p:nvPr/>
        </p:nvSpPr>
        <p:spPr bwMode="auto">
          <a:xfrm>
            <a:off x="537182" y="1200525"/>
            <a:ext cx="7921625" cy="47529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400">
              <a:latin typeface="Arial" pitchFamily="34" charset="0"/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28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6294" y="1283075"/>
            <a:ext cx="7346731" cy="4525962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CREATE TABLE </a:t>
            </a:r>
            <a:r>
              <a:rPr lang="en-AU" altLang="en-US" sz="2000" b="1" dirty="0" err="1" smtClean="0"/>
              <a:t>sales_list</a:t>
            </a:r>
            <a:endParaRPr lang="en-AU" altLang="en-US" sz="20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(</a:t>
            </a:r>
            <a:r>
              <a:rPr lang="en-AU" altLang="en-US" sz="2000" b="1" dirty="0" err="1" smtClean="0"/>
              <a:t>salesman_id</a:t>
            </a:r>
            <a:r>
              <a:rPr lang="en-AU" altLang="en-US" sz="2000" b="1" dirty="0" smtClean="0"/>
              <a:t>  NUMBER(5), 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err="1" smtClean="0"/>
              <a:t>salesman_name</a:t>
            </a:r>
            <a:r>
              <a:rPr lang="en-AU" altLang="en-US" sz="2000" b="1" dirty="0" smtClean="0"/>
              <a:t> VARCHAR2(30),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err="1" smtClean="0"/>
              <a:t>sales_state</a:t>
            </a:r>
            <a:r>
              <a:rPr lang="en-AU" altLang="en-US" sz="2000" b="1" dirty="0" smtClean="0"/>
              <a:t>   VARCHAR2(20),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err="1" smtClean="0"/>
              <a:t>sales_amount</a:t>
            </a:r>
            <a:r>
              <a:rPr lang="en-AU" altLang="en-US" sz="2000" b="1" dirty="0" smtClean="0"/>
              <a:t>  NUMBER(10), 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err="1" smtClean="0"/>
              <a:t>sales_date</a:t>
            </a:r>
            <a:r>
              <a:rPr lang="en-AU" altLang="en-US" sz="2000" b="1" dirty="0" smtClean="0"/>
              <a:t>    DATE)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>
                <a:solidFill>
                  <a:srgbClr val="FF3300"/>
                </a:solidFill>
              </a:rPr>
              <a:t>PARTITION BY LIST(</a:t>
            </a:r>
            <a:r>
              <a:rPr lang="en-AU" altLang="en-US" sz="2000" b="1" dirty="0" err="1" smtClean="0">
                <a:solidFill>
                  <a:srgbClr val="FF3300"/>
                </a:solidFill>
              </a:rPr>
              <a:t>sales_state</a:t>
            </a:r>
            <a:r>
              <a:rPr lang="en-AU" altLang="en-US" sz="2000" b="1" dirty="0" smtClean="0">
                <a:solidFill>
                  <a:srgbClr val="FF3300"/>
                </a:solidFill>
              </a:rPr>
              <a:t>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>
                <a:solidFill>
                  <a:srgbClr val="FF3300"/>
                </a:solidFill>
              </a:rPr>
              <a:t>(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PARTITION </a:t>
            </a:r>
            <a:r>
              <a:rPr lang="en-AU" altLang="en-US" sz="2000" b="1" dirty="0" err="1" smtClean="0"/>
              <a:t>sales_west</a:t>
            </a:r>
            <a:r>
              <a:rPr lang="en-AU" altLang="en-US" sz="2000" b="1" dirty="0" smtClean="0"/>
              <a:t> VALUES ('California', 'Hawaii'),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PARTITION </a:t>
            </a:r>
            <a:r>
              <a:rPr lang="en-AU" altLang="en-US" sz="2000" b="1" dirty="0" err="1" smtClean="0"/>
              <a:t>sales_east</a:t>
            </a:r>
            <a:r>
              <a:rPr lang="en-AU" altLang="en-US" sz="2000" b="1" dirty="0" smtClean="0"/>
              <a:t> VALUES ('New York', 'Virginia', 'Florida'),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PARTITION </a:t>
            </a:r>
            <a:r>
              <a:rPr lang="en-AU" altLang="en-US" sz="2000" b="1" dirty="0" err="1" smtClean="0"/>
              <a:t>sales_central</a:t>
            </a:r>
            <a:r>
              <a:rPr lang="en-AU" altLang="en-US" sz="2000" b="1" dirty="0" smtClean="0"/>
              <a:t> VALUES ('Texas', 'Illinois'),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PARTITION </a:t>
            </a:r>
            <a:r>
              <a:rPr lang="en-AU" altLang="en-US" sz="2000" b="1" dirty="0" err="1" smtClean="0"/>
              <a:t>sales_other</a:t>
            </a:r>
            <a:r>
              <a:rPr lang="en-AU" altLang="en-US" sz="2000" b="1" dirty="0" smtClean="0"/>
              <a:t> VALUES (</a:t>
            </a:r>
            <a:r>
              <a:rPr lang="en-AU" altLang="en-US" sz="2000" b="1" dirty="0" smtClean="0">
                <a:solidFill>
                  <a:srgbClr val="FF3300"/>
                </a:solidFill>
              </a:rPr>
              <a:t>DEFAULT</a:t>
            </a:r>
            <a:r>
              <a:rPr lang="en-AU" altLang="en-US" sz="2000" b="1" dirty="0" smtClean="0"/>
              <a:t>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3936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11g Interval partitioning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8731" y="961697"/>
            <a:ext cx="8229600" cy="488068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Pre 11g new partitions must be created in advance for new data.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Additional partitioning management overhead.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11g interval partitioning automates partition management.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Extension of range partitioning.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Automatic creation of range partitions based on interval.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Segments are allocated as soon as new data arrives.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Local indexes are created and maintained as well</a:t>
            </a:r>
          </a:p>
          <a:p>
            <a:pPr eaLnBrk="1" hangingPunct="1"/>
            <a:endParaRPr lang="en-AU" alt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04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6"/>
          <p:cNvSpPr>
            <a:spLocks noChangeArrowheads="1"/>
          </p:cNvSpPr>
          <p:nvPr/>
        </p:nvSpPr>
        <p:spPr bwMode="auto">
          <a:xfrm>
            <a:off x="636915" y="3937063"/>
            <a:ext cx="7848600" cy="2101138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4867" name="Rectangle 7"/>
          <p:cNvSpPr>
            <a:spLocks noChangeArrowheads="1"/>
          </p:cNvSpPr>
          <p:nvPr/>
        </p:nvSpPr>
        <p:spPr bwMode="auto">
          <a:xfrm>
            <a:off x="611188" y="912874"/>
            <a:ext cx="7848600" cy="2665413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486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985899"/>
            <a:ext cx="7441324" cy="251405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CREATE TABLE </a:t>
            </a:r>
            <a:r>
              <a:rPr lang="en-AU" altLang="en-US" sz="2000" b="1" dirty="0" err="1" smtClean="0"/>
              <a:t>order_details</a:t>
            </a:r>
            <a:endParaRPr lang="en-AU" altLang="en-US" sz="20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  (</a:t>
            </a:r>
            <a:r>
              <a:rPr lang="en-AU" altLang="en-US" sz="2000" b="1" dirty="0" err="1" smtClean="0"/>
              <a:t>order_id</a:t>
            </a:r>
            <a:r>
              <a:rPr lang="en-AU" altLang="en-US" sz="2000" b="1" dirty="0" smtClean="0"/>
              <a:t> NUMBER,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  </a:t>
            </a:r>
            <a:r>
              <a:rPr lang="en-AU" altLang="en-US" sz="2000" b="1" dirty="0" err="1" smtClean="0"/>
              <a:t>order_date</a:t>
            </a:r>
            <a:r>
              <a:rPr lang="en-AU" altLang="en-US" sz="2000" b="1" dirty="0" smtClean="0"/>
              <a:t>  DATE)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 PARTITION BY RANGE (</a:t>
            </a:r>
            <a:r>
              <a:rPr lang="en-AU" altLang="en-US" sz="2000" b="1" dirty="0" err="1" smtClean="0"/>
              <a:t>order_date</a:t>
            </a:r>
            <a:r>
              <a:rPr lang="en-AU" altLang="en-US" sz="2000" b="1" dirty="0" smtClean="0"/>
              <a:t>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>
                <a:solidFill>
                  <a:srgbClr val="CC3300"/>
                </a:solidFill>
              </a:rPr>
              <a:t>INTERVAL (NUMTOYMINTERVAL(1,'MONTH'))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 (PARTITION P_FIRST VALUES LESS THAN ('01-JAN-2009'))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000" b="1" dirty="0" smtClean="0"/>
              <a:t>  ;</a:t>
            </a:r>
          </a:p>
        </p:txBody>
      </p:sp>
      <p:sp>
        <p:nvSpPr>
          <p:cNvPr id="164870" name="Rectangle 5"/>
          <p:cNvSpPr>
            <a:spLocks noChangeArrowheads="1"/>
          </p:cNvSpPr>
          <p:nvPr/>
        </p:nvSpPr>
        <p:spPr bwMode="auto">
          <a:xfrm>
            <a:off x="971550" y="4225987"/>
            <a:ext cx="631666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SQL&gt; 	select </a:t>
            </a:r>
            <a:r>
              <a:rPr kumimoji="0" lang="en-AU" altLang="en-US" sz="1800" b="1" dirty="0" err="1">
                <a:latin typeface="Arial" pitchFamily="34" charset="0"/>
              </a:rPr>
              <a:t>partition_name</a:t>
            </a:r>
            <a:r>
              <a:rPr kumimoji="0" lang="en-AU" altLang="en-US" sz="1800" b="1" dirty="0">
                <a:latin typeface="Arial" pitchFamily="34" charset="0"/>
              </a:rPr>
              <a:t> from </a:t>
            </a:r>
            <a:r>
              <a:rPr kumimoji="0" lang="en-AU" altLang="en-US" sz="1800" b="1" dirty="0" err="1">
                <a:latin typeface="Arial" pitchFamily="34" charset="0"/>
              </a:rPr>
              <a:t>user_tab_partitions</a:t>
            </a:r>
            <a:endParaRPr kumimoji="0" lang="en-AU" altLang="en-US" sz="1800" b="1" dirty="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	where </a:t>
            </a:r>
            <a:r>
              <a:rPr kumimoji="0" lang="en-AU" altLang="en-US" sz="1800" b="1" dirty="0" err="1">
                <a:latin typeface="Arial" pitchFamily="34" charset="0"/>
              </a:rPr>
              <a:t>table_name</a:t>
            </a:r>
            <a:r>
              <a:rPr kumimoji="0" lang="en-AU" altLang="en-US" sz="1800" b="1" dirty="0">
                <a:latin typeface="Arial" pitchFamily="34" charset="0"/>
              </a:rPr>
              <a:t>='ORDER_DETAILS';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800" b="1" dirty="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	PARTITION_NAME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	------------------------------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	P_FIRST</a:t>
            </a:r>
          </a:p>
        </p:txBody>
      </p:sp>
    </p:spTree>
    <p:extLst>
      <p:ext uri="{BB962C8B-B14F-4D97-AF65-F5344CB8AC3E}">
        <p14:creationId xmlns:p14="http://schemas.microsoft.com/office/powerpoint/2010/main" val="296851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4"/>
          <p:cNvSpPr>
            <a:spLocks noChangeArrowheads="1"/>
          </p:cNvSpPr>
          <p:nvPr/>
        </p:nvSpPr>
        <p:spPr bwMode="auto">
          <a:xfrm>
            <a:off x="395288" y="882869"/>
            <a:ext cx="8353425" cy="5044965"/>
          </a:xfrm>
          <a:prstGeom prst="rect">
            <a:avLst/>
          </a:prstGeom>
          <a:solidFill>
            <a:srgbClr val="EAEAEA"/>
          </a:solidFill>
          <a:ln w="9525">
            <a:solidFill>
              <a:srgbClr val="EAEAEA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200">
              <a:latin typeface="Arial" pitchFamily="34" charset="0"/>
            </a:endParaRP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914400"/>
            <a:ext cx="7520152" cy="4981904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AU" altLang="en-US" sz="1000" dirty="0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dirty="0" smtClean="0"/>
              <a:t>SQL&gt; 	</a:t>
            </a:r>
            <a:r>
              <a:rPr lang="en-AU" altLang="en-US" sz="1800" b="1" dirty="0" smtClean="0"/>
              <a:t>insert into </a:t>
            </a:r>
            <a:r>
              <a:rPr lang="en-AU" altLang="en-US" sz="1800" b="1" dirty="0" err="1" smtClean="0"/>
              <a:t>order_details</a:t>
            </a:r>
            <a:endParaRPr lang="en-AU" altLang="en-US" sz="18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		values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		(10001,'15-JAN-2009');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8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	1 row created.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SQL&gt; 	commit;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	Commit complete.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SQL&gt;  	select </a:t>
            </a:r>
            <a:r>
              <a:rPr lang="en-AU" altLang="en-US" sz="1800" b="1" dirty="0" err="1" smtClean="0"/>
              <a:t>partition_name</a:t>
            </a:r>
            <a:r>
              <a:rPr lang="en-AU" altLang="en-US" sz="1800" b="1" dirty="0" smtClean="0"/>
              <a:t> from </a:t>
            </a:r>
            <a:r>
              <a:rPr lang="en-AU" altLang="en-US" sz="1800" b="1" dirty="0" err="1" smtClean="0"/>
              <a:t>user_tab_partitions</a:t>
            </a:r>
            <a:endParaRPr lang="en-AU" altLang="en-US" sz="18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		where </a:t>
            </a:r>
            <a:r>
              <a:rPr lang="en-AU" altLang="en-US" sz="1800" b="1" dirty="0" err="1" smtClean="0"/>
              <a:t>table_name</a:t>
            </a:r>
            <a:r>
              <a:rPr lang="en-AU" altLang="en-US" sz="1800" b="1" dirty="0" smtClean="0"/>
              <a:t>='ORDER_DETAILS';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8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		PARTITION_NAME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		------------------------------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		P_FIRST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dirty="0" smtClean="0"/>
              <a:t>		SYS_P101</a:t>
            </a:r>
          </a:p>
          <a:p>
            <a:pPr eaLnBrk="1" hangingPunct="1"/>
            <a:endParaRPr lang="en-AU" altLang="en-US" sz="1000" b="1" dirty="0" smtClean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0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REF Partitioning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10363"/>
            <a:ext cx="8229600" cy="49974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Related tables benefit from the same partitioning strategy.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400" dirty="0" smtClean="0">
                <a:solidFill>
                  <a:schemeClr val="tx1"/>
                </a:solidFill>
              </a:rPr>
              <a:t>		</a:t>
            </a:r>
            <a:r>
              <a:rPr lang="en-AU" altLang="en-US" sz="2400" dirty="0" err="1" smtClean="0">
                <a:solidFill>
                  <a:schemeClr val="tx1"/>
                </a:solidFill>
              </a:rPr>
              <a:t>Example:Orders</a:t>
            </a:r>
            <a:r>
              <a:rPr lang="en-AU" altLang="en-US" sz="2400" dirty="0" smtClean="0">
                <a:solidFill>
                  <a:schemeClr val="tx1"/>
                </a:solidFill>
              </a:rPr>
              <a:t> and Line Items table 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Redundant storage of the same data solves the problem.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400" dirty="0" smtClean="0">
                <a:solidFill>
                  <a:schemeClr val="tx1"/>
                </a:solidFill>
              </a:rPr>
              <a:t>		But Data and maintenance overhead …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Oracle 11g introduces REF partitioning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400" dirty="0" smtClean="0">
                <a:solidFill>
                  <a:schemeClr val="tx1"/>
                </a:solidFill>
              </a:rPr>
              <a:t>	Child table inherits the same partitioning strategy as the parent table via PK-FK relationships.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400" dirty="0" smtClean="0">
                <a:solidFill>
                  <a:schemeClr val="tx1"/>
                </a:solidFill>
              </a:rPr>
              <a:t>	Enhanced performance as well as manageability.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2400" dirty="0" smtClean="0">
                <a:solidFill>
                  <a:schemeClr val="tx1"/>
                </a:solidFill>
              </a:rPr>
              <a:t>	Partition maintenance operations on parent table cascade to child table.</a:t>
            </a:r>
          </a:p>
          <a:p>
            <a:pPr eaLnBrk="1" hangingPunct="1"/>
            <a:endParaRPr lang="en-AU" altLang="en-US" sz="2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54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Before REF Partitioning</a:t>
            </a:r>
          </a:p>
        </p:txBody>
      </p:sp>
      <p:sp>
        <p:nvSpPr>
          <p:cNvPr id="167939" name="Rectangle 4"/>
          <p:cNvSpPr>
            <a:spLocks noChangeArrowheads="1"/>
          </p:cNvSpPr>
          <p:nvPr/>
        </p:nvSpPr>
        <p:spPr bwMode="auto">
          <a:xfrm>
            <a:off x="755650" y="1700213"/>
            <a:ext cx="5616575" cy="1152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0" name="Rectangle 7"/>
          <p:cNvSpPr>
            <a:spLocks noChangeArrowheads="1"/>
          </p:cNvSpPr>
          <p:nvPr/>
        </p:nvSpPr>
        <p:spPr bwMode="auto">
          <a:xfrm>
            <a:off x="1042988" y="1844675"/>
            <a:ext cx="1296987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1" name="Rectangle 13"/>
          <p:cNvSpPr>
            <a:spLocks noChangeArrowheads="1"/>
          </p:cNvSpPr>
          <p:nvPr/>
        </p:nvSpPr>
        <p:spPr bwMode="auto">
          <a:xfrm>
            <a:off x="1187450" y="1989138"/>
            <a:ext cx="360363" cy="71437"/>
          </a:xfrm>
          <a:prstGeom prst="rect">
            <a:avLst/>
          </a:prstGeom>
          <a:solidFill>
            <a:srgbClr val="FF33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2" name="Rectangle 14"/>
          <p:cNvSpPr>
            <a:spLocks noChangeArrowheads="1"/>
          </p:cNvSpPr>
          <p:nvPr/>
        </p:nvSpPr>
        <p:spPr bwMode="auto">
          <a:xfrm>
            <a:off x="1187450" y="2133600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3" name="Rectangle 15"/>
          <p:cNvSpPr>
            <a:spLocks noChangeArrowheads="1"/>
          </p:cNvSpPr>
          <p:nvPr/>
        </p:nvSpPr>
        <p:spPr bwMode="auto">
          <a:xfrm>
            <a:off x="1187450" y="227647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4" name="Rectangle 16"/>
          <p:cNvSpPr>
            <a:spLocks noChangeArrowheads="1"/>
          </p:cNvSpPr>
          <p:nvPr/>
        </p:nvSpPr>
        <p:spPr bwMode="auto">
          <a:xfrm>
            <a:off x="1187450" y="2420938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5" name="Rectangle 17"/>
          <p:cNvSpPr>
            <a:spLocks noChangeArrowheads="1"/>
          </p:cNvSpPr>
          <p:nvPr/>
        </p:nvSpPr>
        <p:spPr bwMode="auto">
          <a:xfrm>
            <a:off x="1619250" y="19891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6" name="Rectangle 18"/>
          <p:cNvSpPr>
            <a:spLocks noChangeArrowheads="1"/>
          </p:cNvSpPr>
          <p:nvPr/>
        </p:nvSpPr>
        <p:spPr bwMode="auto">
          <a:xfrm>
            <a:off x="1619250" y="213360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7" name="Rectangle 19"/>
          <p:cNvSpPr>
            <a:spLocks noChangeArrowheads="1"/>
          </p:cNvSpPr>
          <p:nvPr/>
        </p:nvSpPr>
        <p:spPr bwMode="auto">
          <a:xfrm>
            <a:off x="1619250" y="227647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8" name="Rectangle 20"/>
          <p:cNvSpPr>
            <a:spLocks noChangeArrowheads="1"/>
          </p:cNvSpPr>
          <p:nvPr/>
        </p:nvSpPr>
        <p:spPr bwMode="auto">
          <a:xfrm>
            <a:off x="1619250" y="24209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49" name="Rectangle 21"/>
          <p:cNvSpPr>
            <a:spLocks noChangeArrowheads="1"/>
          </p:cNvSpPr>
          <p:nvPr/>
        </p:nvSpPr>
        <p:spPr bwMode="auto">
          <a:xfrm>
            <a:off x="1979613" y="19891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0" name="Rectangle 22"/>
          <p:cNvSpPr>
            <a:spLocks noChangeArrowheads="1"/>
          </p:cNvSpPr>
          <p:nvPr/>
        </p:nvSpPr>
        <p:spPr bwMode="auto">
          <a:xfrm>
            <a:off x="1979613" y="213360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1" name="Rectangle 23"/>
          <p:cNvSpPr>
            <a:spLocks noChangeArrowheads="1"/>
          </p:cNvSpPr>
          <p:nvPr/>
        </p:nvSpPr>
        <p:spPr bwMode="auto">
          <a:xfrm>
            <a:off x="1979613" y="227647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2" name="Rectangle 24"/>
          <p:cNvSpPr>
            <a:spLocks noChangeArrowheads="1"/>
          </p:cNvSpPr>
          <p:nvPr/>
        </p:nvSpPr>
        <p:spPr bwMode="auto">
          <a:xfrm>
            <a:off x="1979613" y="24209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3" name="Rectangle 91"/>
          <p:cNvSpPr>
            <a:spLocks noChangeArrowheads="1"/>
          </p:cNvSpPr>
          <p:nvPr/>
        </p:nvSpPr>
        <p:spPr bwMode="auto">
          <a:xfrm>
            <a:off x="2771775" y="1844675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4" name="Rectangle 92"/>
          <p:cNvSpPr>
            <a:spLocks noChangeArrowheads="1"/>
          </p:cNvSpPr>
          <p:nvPr/>
        </p:nvSpPr>
        <p:spPr bwMode="auto">
          <a:xfrm>
            <a:off x="2916238" y="198913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5" name="Rectangle 93"/>
          <p:cNvSpPr>
            <a:spLocks noChangeArrowheads="1"/>
          </p:cNvSpPr>
          <p:nvPr/>
        </p:nvSpPr>
        <p:spPr bwMode="auto">
          <a:xfrm>
            <a:off x="2916238" y="213360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6" name="Rectangle 94"/>
          <p:cNvSpPr>
            <a:spLocks noChangeArrowheads="1"/>
          </p:cNvSpPr>
          <p:nvPr/>
        </p:nvSpPr>
        <p:spPr bwMode="auto">
          <a:xfrm>
            <a:off x="2916238" y="227647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7" name="Rectangle 95"/>
          <p:cNvSpPr>
            <a:spLocks noChangeArrowheads="1"/>
          </p:cNvSpPr>
          <p:nvPr/>
        </p:nvSpPr>
        <p:spPr bwMode="auto">
          <a:xfrm>
            <a:off x="2916238" y="242093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8" name="Rectangle 96"/>
          <p:cNvSpPr>
            <a:spLocks noChangeArrowheads="1"/>
          </p:cNvSpPr>
          <p:nvPr/>
        </p:nvSpPr>
        <p:spPr bwMode="auto">
          <a:xfrm>
            <a:off x="3348038" y="19891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59" name="Rectangle 97"/>
          <p:cNvSpPr>
            <a:spLocks noChangeArrowheads="1"/>
          </p:cNvSpPr>
          <p:nvPr/>
        </p:nvSpPr>
        <p:spPr bwMode="auto">
          <a:xfrm>
            <a:off x="3348038" y="213360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0" name="Rectangle 98"/>
          <p:cNvSpPr>
            <a:spLocks noChangeArrowheads="1"/>
          </p:cNvSpPr>
          <p:nvPr/>
        </p:nvSpPr>
        <p:spPr bwMode="auto">
          <a:xfrm>
            <a:off x="3348038" y="227647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1" name="Rectangle 99"/>
          <p:cNvSpPr>
            <a:spLocks noChangeArrowheads="1"/>
          </p:cNvSpPr>
          <p:nvPr/>
        </p:nvSpPr>
        <p:spPr bwMode="auto">
          <a:xfrm>
            <a:off x="3348038" y="24209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2" name="Rectangle 100"/>
          <p:cNvSpPr>
            <a:spLocks noChangeArrowheads="1"/>
          </p:cNvSpPr>
          <p:nvPr/>
        </p:nvSpPr>
        <p:spPr bwMode="auto">
          <a:xfrm>
            <a:off x="3708400" y="19891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3" name="Rectangle 101"/>
          <p:cNvSpPr>
            <a:spLocks noChangeArrowheads="1"/>
          </p:cNvSpPr>
          <p:nvPr/>
        </p:nvSpPr>
        <p:spPr bwMode="auto">
          <a:xfrm>
            <a:off x="3708400" y="213360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4" name="Rectangle 102"/>
          <p:cNvSpPr>
            <a:spLocks noChangeArrowheads="1"/>
          </p:cNvSpPr>
          <p:nvPr/>
        </p:nvSpPr>
        <p:spPr bwMode="auto">
          <a:xfrm>
            <a:off x="3708400" y="227647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5" name="Rectangle 103"/>
          <p:cNvSpPr>
            <a:spLocks noChangeArrowheads="1"/>
          </p:cNvSpPr>
          <p:nvPr/>
        </p:nvSpPr>
        <p:spPr bwMode="auto">
          <a:xfrm>
            <a:off x="3708400" y="24209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6" name="Rectangle 104"/>
          <p:cNvSpPr>
            <a:spLocks noChangeArrowheads="1"/>
          </p:cNvSpPr>
          <p:nvPr/>
        </p:nvSpPr>
        <p:spPr bwMode="auto">
          <a:xfrm>
            <a:off x="4787900" y="1844675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7" name="Rectangle 105"/>
          <p:cNvSpPr>
            <a:spLocks noChangeArrowheads="1"/>
          </p:cNvSpPr>
          <p:nvPr/>
        </p:nvSpPr>
        <p:spPr bwMode="auto">
          <a:xfrm>
            <a:off x="4932363" y="198913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8" name="Rectangle 106"/>
          <p:cNvSpPr>
            <a:spLocks noChangeArrowheads="1"/>
          </p:cNvSpPr>
          <p:nvPr/>
        </p:nvSpPr>
        <p:spPr bwMode="auto">
          <a:xfrm>
            <a:off x="4932363" y="213360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69" name="Rectangle 107"/>
          <p:cNvSpPr>
            <a:spLocks noChangeArrowheads="1"/>
          </p:cNvSpPr>
          <p:nvPr/>
        </p:nvSpPr>
        <p:spPr bwMode="auto">
          <a:xfrm>
            <a:off x="4932363" y="227647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0" name="Rectangle 108"/>
          <p:cNvSpPr>
            <a:spLocks noChangeArrowheads="1"/>
          </p:cNvSpPr>
          <p:nvPr/>
        </p:nvSpPr>
        <p:spPr bwMode="auto">
          <a:xfrm>
            <a:off x="4932363" y="242093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1" name="Rectangle 109"/>
          <p:cNvSpPr>
            <a:spLocks noChangeArrowheads="1"/>
          </p:cNvSpPr>
          <p:nvPr/>
        </p:nvSpPr>
        <p:spPr bwMode="auto">
          <a:xfrm>
            <a:off x="5364163" y="19891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2" name="Rectangle 110"/>
          <p:cNvSpPr>
            <a:spLocks noChangeArrowheads="1"/>
          </p:cNvSpPr>
          <p:nvPr/>
        </p:nvSpPr>
        <p:spPr bwMode="auto">
          <a:xfrm>
            <a:off x="5364163" y="213360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3" name="Rectangle 111"/>
          <p:cNvSpPr>
            <a:spLocks noChangeArrowheads="1"/>
          </p:cNvSpPr>
          <p:nvPr/>
        </p:nvSpPr>
        <p:spPr bwMode="auto">
          <a:xfrm>
            <a:off x="5364163" y="227647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4" name="Rectangle 112"/>
          <p:cNvSpPr>
            <a:spLocks noChangeArrowheads="1"/>
          </p:cNvSpPr>
          <p:nvPr/>
        </p:nvSpPr>
        <p:spPr bwMode="auto">
          <a:xfrm>
            <a:off x="5364163" y="24209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5" name="Rectangle 113"/>
          <p:cNvSpPr>
            <a:spLocks noChangeArrowheads="1"/>
          </p:cNvSpPr>
          <p:nvPr/>
        </p:nvSpPr>
        <p:spPr bwMode="auto">
          <a:xfrm>
            <a:off x="5724525" y="19891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6" name="Rectangle 114"/>
          <p:cNvSpPr>
            <a:spLocks noChangeArrowheads="1"/>
          </p:cNvSpPr>
          <p:nvPr/>
        </p:nvSpPr>
        <p:spPr bwMode="auto">
          <a:xfrm>
            <a:off x="5724525" y="213360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7" name="Rectangle 115"/>
          <p:cNvSpPr>
            <a:spLocks noChangeArrowheads="1"/>
          </p:cNvSpPr>
          <p:nvPr/>
        </p:nvSpPr>
        <p:spPr bwMode="auto">
          <a:xfrm>
            <a:off x="5724525" y="227647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8" name="Rectangle 116"/>
          <p:cNvSpPr>
            <a:spLocks noChangeArrowheads="1"/>
          </p:cNvSpPr>
          <p:nvPr/>
        </p:nvSpPr>
        <p:spPr bwMode="auto">
          <a:xfrm>
            <a:off x="5724525" y="24209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79" name="Rectangle 117"/>
          <p:cNvSpPr>
            <a:spLocks noChangeArrowheads="1"/>
          </p:cNvSpPr>
          <p:nvPr/>
        </p:nvSpPr>
        <p:spPr bwMode="auto">
          <a:xfrm>
            <a:off x="827088" y="4508500"/>
            <a:ext cx="5616575" cy="1152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0" name="Rectangle 118"/>
          <p:cNvSpPr>
            <a:spLocks noChangeArrowheads="1"/>
          </p:cNvSpPr>
          <p:nvPr/>
        </p:nvSpPr>
        <p:spPr bwMode="auto">
          <a:xfrm>
            <a:off x="1114425" y="4652963"/>
            <a:ext cx="1296988" cy="792162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1" name="Rectangle 119"/>
          <p:cNvSpPr>
            <a:spLocks noChangeArrowheads="1"/>
          </p:cNvSpPr>
          <p:nvPr/>
        </p:nvSpPr>
        <p:spPr bwMode="auto">
          <a:xfrm>
            <a:off x="1258888" y="4797425"/>
            <a:ext cx="360362" cy="71438"/>
          </a:xfrm>
          <a:prstGeom prst="rect">
            <a:avLst/>
          </a:prstGeom>
          <a:solidFill>
            <a:srgbClr val="FF33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2" name="Rectangle 120"/>
          <p:cNvSpPr>
            <a:spLocks noChangeArrowheads="1"/>
          </p:cNvSpPr>
          <p:nvPr/>
        </p:nvSpPr>
        <p:spPr bwMode="auto">
          <a:xfrm>
            <a:off x="1258888" y="494188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3" name="Rectangle 121"/>
          <p:cNvSpPr>
            <a:spLocks noChangeArrowheads="1"/>
          </p:cNvSpPr>
          <p:nvPr/>
        </p:nvSpPr>
        <p:spPr bwMode="auto">
          <a:xfrm>
            <a:off x="1258888" y="5084763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4" name="Rectangle 122"/>
          <p:cNvSpPr>
            <a:spLocks noChangeArrowheads="1"/>
          </p:cNvSpPr>
          <p:nvPr/>
        </p:nvSpPr>
        <p:spPr bwMode="auto">
          <a:xfrm>
            <a:off x="1258888" y="522922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5" name="Rectangle 123"/>
          <p:cNvSpPr>
            <a:spLocks noChangeArrowheads="1"/>
          </p:cNvSpPr>
          <p:nvPr/>
        </p:nvSpPr>
        <p:spPr bwMode="auto">
          <a:xfrm>
            <a:off x="1690688" y="479742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6" name="Rectangle 124"/>
          <p:cNvSpPr>
            <a:spLocks noChangeArrowheads="1"/>
          </p:cNvSpPr>
          <p:nvPr/>
        </p:nvSpPr>
        <p:spPr bwMode="auto">
          <a:xfrm>
            <a:off x="1690688" y="494188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7" name="Rectangle 125"/>
          <p:cNvSpPr>
            <a:spLocks noChangeArrowheads="1"/>
          </p:cNvSpPr>
          <p:nvPr/>
        </p:nvSpPr>
        <p:spPr bwMode="auto">
          <a:xfrm>
            <a:off x="1690688" y="508476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8" name="Rectangle 126"/>
          <p:cNvSpPr>
            <a:spLocks noChangeArrowheads="1"/>
          </p:cNvSpPr>
          <p:nvPr/>
        </p:nvSpPr>
        <p:spPr bwMode="auto">
          <a:xfrm>
            <a:off x="1690688" y="522922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89" name="Rectangle 127"/>
          <p:cNvSpPr>
            <a:spLocks noChangeArrowheads="1"/>
          </p:cNvSpPr>
          <p:nvPr/>
        </p:nvSpPr>
        <p:spPr bwMode="auto">
          <a:xfrm>
            <a:off x="2051050" y="47974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0" name="Rectangle 128"/>
          <p:cNvSpPr>
            <a:spLocks noChangeArrowheads="1"/>
          </p:cNvSpPr>
          <p:nvPr/>
        </p:nvSpPr>
        <p:spPr bwMode="auto">
          <a:xfrm>
            <a:off x="2051050" y="494188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1" name="Rectangle 129"/>
          <p:cNvSpPr>
            <a:spLocks noChangeArrowheads="1"/>
          </p:cNvSpPr>
          <p:nvPr/>
        </p:nvSpPr>
        <p:spPr bwMode="auto">
          <a:xfrm>
            <a:off x="2051050" y="508476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2" name="Rectangle 130"/>
          <p:cNvSpPr>
            <a:spLocks noChangeArrowheads="1"/>
          </p:cNvSpPr>
          <p:nvPr/>
        </p:nvSpPr>
        <p:spPr bwMode="auto">
          <a:xfrm>
            <a:off x="2051050" y="52292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3" name="Rectangle 131"/>
          <p:cNvSpPr>
            <a:spLocks noChangeArrowheads="1"/>
          </p:cNvSpPr>
          <p:nvPr/>
        </p:nvSpPr>
        <p:spPr bwMode="auto">
          <a:xfrm>
            <a:off x="2843213" y="4652963"/>
            <a:ext cx="1296987" cy="792162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4" name="Rectangle 132"/>
          <p:cNvSpPr>
            <a:spLocks noChangeArrowheads="1"/>
          </p:cNvSpPr>
          <p:nvPr/>
        </p:nvSpPr>
        <p:spPr bwMode="auto">
          <a:xfrm>
            <a:off x="2987675" y="479742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5" name="Rectangle 133"/>
          <p:cNvSpPr>
            <a:spLocks noChangeArrowheads="1"/>
          </p:cNvSpPr>
          <p:nvPr/>
        </p:nvSpPr>
        <p:spPr bwMode="auto">
          <a:xfrm>
            <a:off x="2987675" y="4941888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6" name="Rectangle 134"/>
          <p:cNvSpPr>
            <a:spLocks noChangeArrowheads="1"/>
          </p:cNvSpPr>
          <p:nvPr/>
        </p:nvSpPr>
        <p:spPr bwMode="auto">
          <a:xfrm>
            <a:off x="2987675" y="508476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7" name="Rectangle 135"/>
          <p:cNvSpPr>
            <a:spLocks noChangeArrowheads="1"/>
          </p:cNvSpPr>
          <p:nvPr/>
        </p:nvSpPr>
        <p:spPr bwMode="auto">
          <a:xfrm>
            <a:off x="2987675" y="522922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8" name="Rectangle 136"/>
          <p:cNvSpPr>
            <a:spLocks noChangeArrowheads="1"/>
          </p:cNvSpPr>
          <p:nvPr/>
        </p:nvSpPr>
        <p:spPr bwMode="auto">
          <a:xfrm>
            <a:off x="3419475" y="479742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7999" name="Rectangle 137"/>
          <p:cNvSpPr>
            <a:spLocks noChangeArrowheads="1"/>
          </p:cNvSpPr>
          <p:nvPr/>
        </p:nvSpPr>
        <p:spPr bwMode="auto">
          <a:xfrm>
            <a:off x="3419475" y="494188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0" name="Rectangle 138"/>
          <p:cNvSpPr>
            <a:spLocks noChangeArrowheads="1"/>
          </p:cNvSpPr>
          <p:nvPr/>
        </p:nvSpPr>
        <p:spPr bwMode="auto">
          <a:xfrm>
            <a:off x="3419475" y="508476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1" name="Rectangle 139"/>
          <p:cNvSpPr>
            <a:spLocks noChangeArrowheads="1"/>
          </p:cNvSpPr>
          <p:nvPr/>
        </p:nvSpPr>
        <p:spPr bwMode="auto">
          <a:xfrm>
            <a:off x="3419475" y="522922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2" name="Rectangle 140"/>
          <p:cNvSpPr>
            <a:spLocks noChangeArrowheads="1"/>
          </p:cNvSpPr>
          <p:nvPr/>
        </p:nvSpPr>
        <p:spPr bwMode="auto">
          <a:xfrm>
            <a:off x="3779838" y="47974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3" name="Rectangle 141"/>
          <p:cNvSpPr>
            <a:spLocks noChangeArrowheads="1"/>
          </p:cNvSpPr>
          <p:nvPr/>
        </p:nvSpPr>
        <p:spPr bwMode="auto">
          <a:xfrm>
            <a:off x="3779838" y="494188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4" name="Rectangle 142"/>
          <p:cNvSpPr>
            <a:spLocks noChangeArrowheads="1"/>
          </p:cNvSpPr>
          <p:nvPr/>
        </p:nvSpPr>
        <p:spPr bwMode="auto">
          <a:xfrm>
            <a:off x="3779838" y="508476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5" name="Rectangle 143"/>
          <p:cNvSpPr>
            <a:spLocks noChangeArrowheads="1"/>
          </p:cNvSpPr>
          <p:nvPr/>
        </p:nvSpPr>
        <p:spPr bwMode="auto">
          <a:xfrm>
            <a:off x="3779838" y="52292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6" name="Rectangle 144"/>
          <p:cNvSpPr>
            <a:spLocks noChangeArrowheads="1"/>
          </p:cNvSpPr>
          <p:nvPr/>
        </p:nvSpPr>
        <p:spPr bwMode="auto">
          <a:xfrm>
            <a:off x="4859338" y="4652963"/>
            <a:ext cx="1296987" cy="792162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7" name="Rectangle 145"/>
          <p:cNvSpPr>
            <a:spLocks noChangeArrowheads="1"/>
          </p:cNvSpPr>
          <p:nvPr/>
        </p:nvSpPr>
        <p:spPr bwMode="auto">
          <a:xfrm>
            <a:off x="5003800" y="479742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8" name="Rectangle 146"/>
          <p:cNvSpPr>
            <a:spLocks noChangeArrowheads="1"/>
          </p:cNvSpPr>
          <p:nvPr/>
        </p:nvSpPr>
        <p:spPr bwMode="auto">
          <a:xfrm>
            <a:off x="5003800" y="4941888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09" name="Rectangle 147"/>
          <p:cNvSpPr>
            <a:spLocks noChangeArrowheads="1"/>
          </p:cNvSpPr>
          <p:nvPr/>
        </p:nvSpPr>
        <p:spPr bwMode="auto">
          <a:xfrm>
            <a:off x="5003800" y="508476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0" name="Rectangle 148"/>
          <p:cNvSpPr>
            <a:spLocks noChangeArrowheads="1"/>
          </p:cNvSpPr>
          <p:nvPr/>
        </p:nvSpPr>
        <p:spPr bwMode="auto">
          <a:xfrm>
            <a:off x="5003800" y="522922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1" name="Rectangle 149"/>
          <p:cNvSpPr>
            <a:spLocks noChangeArrowheads="1"/>
          </p:cNvSpPr>
          <p:nvPr/>
        </p:nvSpPr>
        <p:spPr bwMode="auto">
          <a:xfrm>
            <a:off x="5435600" y="479742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2" name="Rectangle 150"/>
          <p:cNvSpPr>
            <a:spLocks noChangeArrowheads="1"/>
          </p:cNvSpPr>
          <p:nvPr/>
        </p:nvSpPr>
        <p:spPr bwMode="auto">
          <a:xfrm>
            <a:off x="5435600" y="494188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3" name="Rectangle 151"/>
          <p:cNvSpPr>
            <a:spLocks noChangeArrowheads="1"/>
          </p:cNvSpPr>
          <p:nvPr/>
        </p:nvSpPr>
        <p:spPr bwMode="auto">
          <a:xfrm>
            <a:off x="5435600" y="508476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4" name="Rectangle 152"/>
          <p:cNvSpPr>
            <a:spLocks noChangeArrowheads="1"/>
          </p:cNvSpPr>
          <p:nvPr/>
        </p:nvSpPr>
        <p:spPr bwMode="auto">
          <a:xfrm>
            <a:off x="5435600" y="522922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5" name="Rectangle 153"/>
          <p:cNvSpPr>
            <a:spLocks noChangeArrowheads="1"/>
          </p:cNvSpPr>
          <p:nvPr/>
        </p:nvSpPr>
        <p:spPr bwMode="auto">
          <a:xfrm>
            <a:off x="5795963" y="47974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6" name="Rectangle 154"/>
          <p:cNvSpPr>
            <a:spLocks noChangeArrowheads="1"/>
          </p:cNvSpPr>
          <p:nvPr/>
        </p:nvSpPr>
        <p:spPr bwMode="auto">
          <a:xfrm>
            <a:off x="5795963" y="494188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7" name="Rectangle 155"/>
          <p:cNvSpPr>
            <a:spLocks noChangeArrowheads="1"/>
          </p:cNvSpPr>
          <p:nvPr/>
        </p:nvSpPr>
        <p:spPr bwMode="auto">
          <a:xfrm>
            <a:off x="5795963" y="508476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8" name="Rectangle 156"/>
          <p:cNvSpPr>
            <a:spLocks noChangeArrowheads="1"/>
          </p:cNvSpPr>
          <p:nvPr/>
        </p:nvSpPr>
        <p:spPr bwMode="auto">
          <a:xfrm>
            <a:off x="5795963" y="52292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19" name="Text Box 157"/>
          <p:cNvSpPr txBox="1">
            <a:spLocks noChangeArrowheads="1"/>
          </p:cNvSpPr>
          <p:nvPr/>
        </p:nvSpPr>
        <p:spPr bwMode="auto">
          <a:xfrm>
            <a:off x="2287588" y="19351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b="1">
                <a:latin typeface="Arial" pitchFamily="34" charset="0"/>
              </a:rPr>
              <a:t>…</a:t>
            </a:r>
          </a:p>
        </p:txBody>
      </p:sp>
      <p:sp>
        <p:nvSpPr>
          <p:cNvPr id="168020" name="Rectangle 198"/>
          <p:cNvSpPr>
            <a:spLocks noChangeArrowheads="1"/>
          </p:cNvSpPr>
          <p:nvPr/>
        </p:nvSpPr>
        <p:spPr bwMode="auto">
          <a:xfrm>
            <a:off x="4284663" y="20542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…</a:t>
            </a:r>
          </a:p>
        </p:txBody>
      </p:sp>
      <p:sp>
        <p:nvSpPr>
          <p:cNvPr id="168021" name="AutoShape 200"/>
          <p:cNvSpPr>
            <a:spLocks noChangeArrowheads="1"/>
          </p:cNvSpPr>
          <p:nvPr/>
        </p:nvSpPr>
        <p:spPr bwMode="auto">
          <a:xfrm>
            <a:off x="5219700" y="3357563"/>
            <a:ext cx="360363" cy="1008062"/>
          </a:xfrm>
          <a:prstGeom prst="downArrow">
            <a:avLst>
              <a:gd name="adj1" fmla="val 50000"/>
              <a:gd name="adj2" fmla="val 6993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022" name="Line 201"/>
          <p:cNvSpPr>
            <a:spLocks noChangeShapeType="1"/>
          </p:cNvSpPr>
          <p:nvPr/>
        </p:nvSpPr>
        <p:spPr bwMode="auto">
          <a:xfrm>
            <a:off x="3779838" y="2852738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023" name="Line 202"/>
          <p:cNvSpPr>
            <a:spLocks noChangeShapeType="1"/>
          </p:cNvSpPr>
          <p:nvPr/>
        </p:nvSpPr>
        <p:spPr bwMode="auto">
          <a:xfrm>
            <a:off x="3779838" y="4292600"/>
            <a:ext cx="1444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024" name="Line 203"/>
          <p:cNvSpPr>
            <a:spLocks noChangeShapeType="1"/>
          </p:cNvSpPr>
          <p:nvPr/>
        </p:nvSpPr>
        <p:spPr bwMode="auto">
          <a:xfrm flipH="1">
            <a:off x="3563938" y="4292600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025" name="Line 204"/>
          <p:cNvSpPr>
            <a:spLocks noChangeShapeType="1"/>
          </p:cNvSpPr>
          <p:nvPr/>
        </p:nvSpPr>
        <p:spPr bwMode="auto">
          <a:xfrm>
            <a:off x="3779838" y="42926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026" name="Line 205"/>
          <p:cNvSpPr>
            <a:spLocks noChangeShapeType="1"/>
          </p:cNvSpPr>
          <p:nvPr/>
        </p:nvSpPr>
        <p:spPr bwMode="auto">
          <a:xfrm>
            <a:off x="3779838" y="42926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027" name="Rectangle 206"/>
          <p:cNvSpPr>
            <a:spLocks noChangeArrowheads="1"/>
          </p:cNvSpPr>
          <p:nvPr/>
        </p:nvSpPr>
        <p:spPr bwMode="auto">
          <a:xfrm>
            <a:off x="2411413" y="47974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…</a:t>
            </a:r>
          </a:p>
        </p:txBody>
      </p:sp>
      <p:sp>
        <p:nvSpPr>
          <p:cNvPr id="168028" name="Rectangle 207"/>
          <p:cNvSpPr>
            <a:spLocks noChangeArrowheads="1"/>
          </p:cNvSpPr>
          <p:nvPr/>
        </p:nvSpPr>
        <p:spPr bwMode="auto">
          <a:xfrm>
            <a:off x="4365625" y="4791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…</a:t>
            </a:r>
          </a:p>
        </p:txBody>
      </p:sp>
      <p:sp>
        <p:nvSpPr>
          <p:cNvPr id="168029" name="Text Box 208"/>
          <p:cNvSpPr txBox="1">
            <a:spLocks noChangeArrowheads="1"/>
          </p:cNvSpPr>
          <p:nvPr/>
        </p:nvSpPr>
        <p:spPr bwMode="auto">
          <a:xfrm>
            <a:off x="755650" y="1341438"/>
            <a:ext cx="1822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Table ORDERS</a:t>
            </a:r>
          </a:p>
        </p:txBody>
      </p:sp>
      <p:sp>
        <p:nvSpPr>
          <p:cNvPr id="168030" name="Text Box 209"/>
          <p:cNvSpPr txBox="1">
            <a:spLocks noChangeArrowheads="1"/>
          </p:cNvSpPr>
          <p:nvPr/>
        </p:nvSpPr>
        <p:spPr bwMode="auto">
          <a:xfrm>
            <a:off x="879475" y="4024313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Table LINEITEMS</a:t>
            </a:r>
          </a:p>
        </p:txBody>
      </p:sp>
      <p:sp>
        <p:nvSpPr>
          <p:cNvPr id="168031" name="Text Box 210"/>
          <p:cNvSpPr txBox="1">
            <a:spLocks noChangeArrowheads="1"/>
          </p:cNvSpPr>
          <p:nvPr/>
        </p:nvSpPr>
        <p:spPr bwMode="auto">
          <a:xfrm>
            <a:off x="6496050" y="1720850"/>
            <a:ext cx="1517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RANGE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(</a:t>
            </a:r>
            <a:r>
              <a:rPr kumimoji="0" lang="en-AU" altLang="en-US" sz="1800" b="1">
                <a:solidFill>
                  <a:srgbClr val="009900"/>
                </a:solidFill>
                <a:latin typeface="Arial" pitchFamily="34" charset="0"/>
              </a:rPr>
              <a:t>order_date</a:t>
            </a:r>
            <a:r>
              <a:rPr kumimoji="0" lang="en-AU" altLang="en-US" sz="1800">
                <a:latin typeface="Arial" pitchFamily="34" charset="0"/>
              </a:rPr>
              <a:t>)</a:t>
            </a:r>
          </a:p>
        </p:txBody>
      </p:sp>
      <p:sp>
        <p:nvSpPr>
          <p:cNvPr id="168032" name="Text Box 211"/>
          <p:cNvSpPr txBox="1">
            <a:spLocks noChangeArrowheads="1"/>
          </p:cNvSpPr>
          <p:nvPr/>
        </p:nvSpPr>
        <p:spPr bwMode="auto">
          <a:xfrm>
            <a:off x="6567488" y="2439988"/>
            <a:ext cx="1771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PRIMARY KEY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(</a:t>
            </a:r>
            <a:r>
              <a:rPr kumimoji="0" lang="en-AU" altLang="en-US" sz="1800" b="1">
                <a:solidFill>
                  <a:srgbClr val="FF3300"/>
                </a:solidFill>
                <a:latin typeface="Arial" pitchFamily="34" charset="0"/>
              </a:rPr>
              <a:t>order_id</a:t>
            </a:r>
            <a:r>
              <a:rPr kumimoji="0" lang="en-AU" altLang="en-US" sz="1800">
                <a:latin typeface="Arial" pitchFamily="34" charset="0"/>
              </a:rPr>
              <a:t>)</a:t>
            </a:r>
          </a:p>
        </p:txBody>
      </p:sp>
      <p:sp>
        <p:nvSpPr>
          <p:cNvPr id="168033" name="Text Box 212"/>
          <p:cNvSpPr txBox="1">
            <a:spLocks noChangeArrowheads="1"/>
          </p:cNvSpPr>
          <p:nvPr/>
        </p:nvSpPr>
        <p:spPr bwMode="auto">
          <a:xfrm>
            <a:off x="6927850" y="4456113"/>
            <a:ext cx="175895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RANGE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(</a:t>
            </a:r>
            <a:r>
              <a:rPr kumimoji="0" lang="en-AU" altLang="en-US" sz="1800" b="1">
                <a:solidFill>
                  <a:srgbClr val="009900"/>
                </a:solidFill>
                <a:latin typeface="Arial" pitchFamily="34" charset="0"/>
              </a:rPr>
              <a:t>order_date</a:t>
            </a:r>
            <a:r>
              <a:rPr kumimoji="0" lang="en-AU" altLang="en-US" sz="1800">
                <a:latin typeface="Arial" pitchFamily="34" charset="0"/>
              </a:rPr>
              <a:t>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80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FOREIGN KEY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(</a:t>
            </a:r>
            <a:r>
              <a:rPr kumimoji="0" lang="en-AU" altLang="en-US" sz="1800" b="1">
                <a:solidFill>
                  <a:srgbClr val="FF3300"/>
                </a:solidFill>
                <a:latin typeface="Arial" pitchFamily="34" charset="0"/>
              </a:rPr>
              <a:t>order_id</a:t>
            </a:r>
            <a:r>
              <a:rPr kumimoji="0" lang="en-AU" altLang="en-US" sz="1800">
                <a:latin typeface="Arial" pitchFamily="34" charset="0"/>
              </a:rPr>
              <a:t>)</a:t>
            </a:r>
          </a:p>
        </p:txBody>
      </p:sp>
      <p:sp>
        <p:nvSpPr>
          <p:cNvPr id="168034" name="Text Box 213"/>
          <p:cNvSpPr txBox="1">
            <a:spLocks noChangeArrowheads="1"/>
          </p:cNvSpPr>
          <p:nvPr/>
        </p:nvSpPr>
        <p:spPr bwMode="auto">
          <a:xfrm>
            <a:off x="5594350" y="3668713"/>
            <a:ext cx="33893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latin typeface="Arial" pitchFamily="34" charset="0"/>
              </a:rPr>
              <a:t>Redundant storage of order_date</a:t>
            </a:r>
          </a:p>
        </p:txBody>
      </p:sp>
      <p:sp>
        <p:nvSpPr>
          <p:cNvPr id="168035" name="Text Box 214"/>
          <p:cNvSpPr txBox="1">
            <a:spLocks noChangeArrowheads="1"/>
          </p:cNvSpPr>
          <p:nvPr/>
        </p:nvSpPr>
        <p:spPr bwMode="auto">
          <a:xfrm>
            <a:off x="1023938" y="299085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Jan 2009</a:t>
            </a:r>
          </a:p>
        </p:txBody>
      </p:sp>
      <p:sp>
        <p:nvSpPr>
          <p:cNvPr id="168036" name="Text Box 215"/>
          <p:cNvSpPr txBox="1">
            <a:spLocks noChangeArrowheads="1"/>
          </p:cNvSpPr>
          <p:nvPr/>
        </p:nvSpPr>
        <p:spPr bwMode="auto">
          <a:xfrm>
            <a:off x="2555875" y="2990850"/>
            <a:ext cx="1152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Feb 2009</a:t>
            </a:r>
          </a:p>
        </p:txBody>
      </p:sp>
      <p:sp>
        <p:nvSpPr>
          <p:cNvPr id="168037" name="Text Box 216"/>
          <p:cNvSpPr txBox="1">
            <a:spLocks noChangeArrowheads="1"/>
          </p:cNvSpPr>
          <p:nvPr/>
        </p:nvSpPr>
        <p:spPr bwMode="auto">
          <a:xfrm>
            <a:off x="1239838" y="5715484"/>
            <a:ext cx="1123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dirty="0">
                <a:latin typeface="Arial" pitchFamily="34" charset="0"/>
              </a:rPr>
              <a:t>Jan 2009</a:t>
            </a:r>
          </a:p>
        </p:txBody>
      </p:sp>
      <p:sp>
        <p:nvSpPr>
          <p:cNvPr id="168038" name="Text Box 217"/>
          <p:cNvSpPr txBox="1">
            <a:spLocks noChangeArrowheads="1"/>
          </p:cNvSpPr>
          <p:nvPr/>
        </p:nvSpPr>
        <p:spPr bwMode="auto">
          <a:xfrm>
            <a:off x="2895600" y="5715484"/>
            <a:ext cx="1149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dirty="0">
                <a:latin typeface="Arial" pitchFamily="34" charset="0"/>
              </a:rPr>
              <a:t>Feb 2009</a:t>
            </a:r>
          </a:p>
        </p:txBody>
      </p:sp>
      <p:sp>
        <p:nvSpPr>
          <p:cNvPr id="168039" name="Text Box 218"/>
          <p:cNvSpPr txBox="1">
            <a:spLocks noChangeArrowheads="1"/>
          </p:cNvSpPr>
          <p:nvPr/>
        </p:nvSpPr>
        <p:spPr bwMode="auto">
          <a:xfrm>
            <a:off x="4840288" y="2990850"/>
            <a:ext cx="1162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Dec 2009</a:t>
            </a:r>
          </a:p>
        </p:txBody>
      </p:sp>
      <p:sp>
        <p:nvSpPr>
          <p:cNvPr id="168040" name="Text Box 219"/>
          <p:cNvSpPr txBox="1">
            <a:spLocks noChangeArrowheads="1"/>
          </p:cNvSpPr>
          <p:nvPr/>
        </p:nvSpPr>
        <p:spPr bwMode="auto">
          <a:xfrm>
            <a:off x="5003800" y="5721834"/>
            <a:ext cx="1162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dirty="0">
                <a:latin typeface="Arial" pitchFamily="34" charset="0"/>
              </a:rPr>
              <a:t>Dec 2009</a:t>
            </a:r>
          </a:p>
        </p:txBody>
      </p:sp>
    </p:spTree>
    <p:extLst>
      <p:ext uri="{BB962C8B-B14F-4D97-AF65-F5344CB8AC3E}">
        <p14:creationId xmlns:p14="http://schemas.microsoft.com/office/powerpoint/2010/main" val="378328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11g REF Partitioning</a:t>
            </a: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755650" y="1700213"/>
            <a:ext cx="5616575" cy="1152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64" name="Rectangle 4"/>
          <p:cNvSpPr>
            <a:spLocks noChangeArrowheads="1"/>
          </p:cNvSpPr>
          <p:nvPr/>
        </p:nvSpPr>
        <p:spPr bwMode="auto">
          <a:xfrm>
            <a:off x="1042988" y="1844675"/>
            <a:ext cx="1296987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65" name="Rectangle 5"/>
          <p:cNvSpPr>
            <a:spLocks noChangeArrowheads="1"/>
          </p:cNvSpPr>
          <p:nvPr/>
        </p:nvSpPr>
        <p:spPr bwMode="auto">
          <a:xfrm>
            <a:off x="1187450" y="1989138"/>
            <a:ext cx="360363" cy="71437"/>
          </a:xfrm>
          <a:prstGeom prst="rect">
            <a:avLst/>
          </a:prstGeom>
          <a:solidFill>
            <a:srgbClr val="FF33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66" name="Rectangle 6"/>
          <p:cNvSpPr>
            <a:spLocks noChangeArrowheads="1"/>
          </p:cNvSpPr>
          <p:nvPr/>
        </p:nvSpPr>
        <p:spPr bwMode="auto">
          <a:xfrm>
            <a:off x="1187450" y="2133600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67" name="Rectangle 7"/>
          <p:cNvSpPr>
            <a:spLocks noChangeArrowheads="1"/>
          </p:cNvSpPr>
          <p:nvPr/>
        </p:nvSpPr>
        <p:spPr bwMode="auto">
          <a:xfrm>
            <a:off x="1187450" y="227647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68" name="Rectangle 8"/>
          <p:cNvSpPr>
            <a:spLocks noChangeArrowheads="1"/>
          </p:cNvSpPr>
          <p:nvPr/>
        </p:nvSpPr>
        <p:spPr bwMode="auto">
          <a:xfrm>
            <a:off x="1187450" y="2420938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69" name="Rectangle 9"/>
          <p:cNvSpPr>
            <a:spLocks noChangeArrowheads="1"/>
          </p:cNvSpPr>
          <p:nvPr/>
        </p:nvSpPr>
        <p:spPr bwMode="auto">
          <a:xfrm>
            <a:off x="1619250" y="19891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0" name="Rectangle 10"/>
          <p:cNvSpPr>
            <a:spLocks noChangeArrowheads="1"/>
          </p:cNvSpPr>
          <p:nvPr/>
        </p:nvSpPr>
        <p:spPr bwMode="auto">
          <a:xfrm>
            <a:off x="1619250" y="213360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1" name="Rectangle 11"/>
          <p:cNvSpPr>
            <a:spLocks noChangeArrowheads="1"/>
          </p:cNvSpPr>
          <p:nvPr/>
        </p:nvSpPr>
        <p:spPr bwMode="auto">
          <a:xfrm>
            <a:off x="1619250" y="227647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2" name="Rectangle 12"/>
          <p:cNvSpPr>
            <a:spLocks noChangeArrowheads="1"/>
          </p:cNvSpPr>
          <p:nvPr/>
        </p:nvSpPr>
        <p:spPr bwMode="auto">
          <a:xfrm>
            <a:off x="1619250" y="24209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3" name="Rectangle 13"/>
          <p:cNvSpPr>
            <a:spLocks noChangeArrowheads="1"/>
          </p:cNvSpPr>
          <p:nvPr/>
        </p:nvSpPr>
        <p:spPr bwMode="auto">
          <a:xfrm>
            <a:off x="1979613" y="19891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4" name="Rectangle 14"/>
          <p:cNvSpPr>
            <a:spLocks noChangeArrowheads="1"/>
          </p:cNvSpPr>
          <p:nvPr/>
        </p:nvSpPr>
        <p:spPr bwMode="auto">
          <a:xfrm>
            <a:off x="1979613" y="213360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5" name="Rectangle 15"/>
          <p:cNvSpPr>
            <a:spLocks noChangeArrowheads="1"/>
          </p:cNvSpPr>
          <p:nvPr/>
        </p:nvSpPr>
        <p:spPr bwMode="auto">
          <a:xfrm>
            <a:off x="1979613" y="227647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6" name="Rectangle 16"/>
          <p:cNvSpPr>
            <a:spLocks noChangeArrowheads="1"/>
          </p:cNvSpPr>
          <p:nvPr/>
        </p:nvSpPr>
        <p:spPr bwMode="auto">
          <a:xfrm>
            <a:off x="1979613" y="24209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7" name="Rectangle 17"/>
          <p:cNvSpPr>
            <a:spLocks noChangeArrowheads="1"/>
          </p:cNvSpPr>
          <p:nvPr/>
        </p:nvSpPr>
        <p:spPr bwMode="auto">
          <a:xfrm>
            <a:off x="2771775" y="1844675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8" name="Rectangle 18"/>
          <p:cNvSpPr>
            <a:spLocks noChangeArrowheads="1"/>
          </p:cNvSpPr>
          <p:nvPr/>
        </p:nvSpPr>
        <p:spPr bwMode="auto">
          <a:xfrm>
            <a:off x="2916238" y="198913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79" name="Rectangle 19"/>
          <p:cNvSpPr>
            <a:spLocks noChangeArrowheads="1"/>
          </p:cNvSpPr>
          <p:nvPr/>
        </p:nvSpPr>
        <p:spPr bwMode="auto">
          <a:xfrm>
            <a:off x="2916238" y="213360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0" name="Rectangle 20"/>
          <p:cNvSpPr>
            <a:spLocks noChangeArrowheads="1"/>
          </p:cNvSpPr>
          <p:nvPr/>
        </p:nvSpPr>
        <p:spPr bwMode="auto">
          <a:xfrm>
            <a:off x="2916238" y="227647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1" name="Rectangle 21"/>
          <p:cNvSpPr>
            <a:spLocks noChangeArrowheads="1"/>
          </p:cNvSpPr>
          <p:nvPr/>
        </p:nvSpPr>
        <p:spPr bwMode="auto">
          <a:xfrm>
            <a:off x="2916238" y="242093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2" name="Rectangle 22"/>
          <p:cNvSpPr>
            <a:spLocks noChangeArrowheads="1"/>
          </p:cNvSpPr>
          <p:nvPr/>
        </p:nvSpPr>
        <p:spPr bwMode="auto">
          <a:xfrm>
            <a:off x="3348038" y="19891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3" name="Rectangle 23"/>
          <p:cNvSpPr>
            <a:spLocks noChangeArrowheads="1"/>
          </p:cNvSpPr>
          <p:nvPr/>
        </p:nvSpPr>
        <p:spPr bwMode="auto">
          <a:xfrm>
            <a:off x="3348038" y="213360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4" name="Rectangle 24"/>
          <p:cNvSpPr>
            <a:spLocks noChangeArrowheads="1"/>
          </p:cNvSpPr>
          <p:nvPr/>
        </p:nvSpPr>
        <p:spPr bwMode="auto">
          <a:xfrm>
            <a:off x="3348038" y="227647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5" name="Rectangle 25"/>
          <p:cNvSpPr>
            <a:spLocks noChangeArrowheads="1"/>
          </p:cNvSpPr>
          <p:nvPr/>
        </p:nvSpPr>
        <p:spPr bwMode="auto">
          <a:xfrm>
            <a:off x="3348038" y="24209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6" name="Rectangle 26"/>
          <p:cNvSpPr>
            <a:spLocks noChangeArrowheads="1"/>
          </p:cNvSpPr>
          <p:nvPr/>
        </p:nvSpPr>
        <p:spPr bwMode="auto">
          <a:xfrm>
            <a:off x="3708400" y="19891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7" name="Rectangle 27"/>
          <p:cNvSpPr>
            <a:spLocks noChangeArrowheads="1"/>
          </p:cNvSpPr>
          <p:nvPr/>
        </p:nvSpPr>
        <p:spPr bwMode="auto">
          <a:xfrm>
            <a:off x="3708400" y="213360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8" name="Rectangle 28"/>
          <p:cNvSpPr>
            <a:spLocks noChangeArrowheads="1"/>
          </p:cNvSpPr>
          <p:nvPr/>
        </p:nvSpPr>
        <p:spPr bwMode="auto">
          <a:xfrm>
            <a:off x="3708400" y="227647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89" name="Rectangle 29"/>
          <p:cNvSpPr>
            <a:spLocks noChangeArrowheads="1"/>
          </p:cNvSpPr>
          <p:nvPr/>
        </p:nvSpPr>
        <p:spPr bwMode="auto">
          <a:xfrm>
            <a:off x="3708400" y="24209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0" name="Rectangle 30"/>
          <p:cNvSpPr>
            <a:spLocks noChangeArrowheads="1"/>
          </p:cNvSpPr>
          <p:nvPr/>
        </p:nvSpPr>
        <p:spPr bwMode="auto">
          <a:xfrm>
            <a:off x="4787900" y="1844675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1" name="Rectangle 31"/>
          <p:cNvSpPr>
            <a:spLocks noChangeArrowheads="1"/>
          </p:cNvSpPr>
          <p:nvPr/>
        </p:nvSpPr>
        <p:spPr bwMode="auto">
          <a:xfrm>
            <a:off x="4932363" y="198913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2" name="Rectangle 32"/>
          <p:cNvSpPr>
            <a:spLocks noChangeArrowheads="1"/>
          </p:cNvSpPr>
          <p:nvPr/>
        </p:nvSpPr>
        <p:spPr bwMode="auto">
          <a:xfrm>
            <a:off x="4932363" y="213360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3" name="Rectangle 33"/>
          <p:cNvSpPr>
            <a:spLocks noChangeArrowheads="1"/>
          </p:cNvSpPr>
          <p:nvPr/>
        </p:nvSpPr>
        <p:spPr bwMode="auto">
          <a:xfrm>
            <a:off x="4932363" y="227647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4" name="Rectangle 34"/>
          <p:cNvSpPr>
            <a:spLocks noChangeArrowheads="1"/>
          </p:cNvSpPr>
          <p:nvPr/>
        </p:nvSpPr>
        <p:spPr bwMode="auto">
          <a:xfrm>
            <a:off x="4932363" y="242093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5" name="Rectangle 35"/>
          <p:cNvSpPr>
            <a:spLocks noChangeArrowheads="1"/>
          </p:cNvSpPr>
          <p:nvPr/>
        </p:nvSpPr>
        <p:spPr bwMode="auto">
          <a:xfrm>
            <a:off x="5364163" y="19891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6" name="Rectangle 36"/>
          <p:cNvSpPr>
            <a:spLocks noChangeArrowheads="1"/>
          </p:cNvSpPr>
          <p:nvPr/>
        </p:nvSpPr>
        <p:spPr bwMode="auto">
          <a:xfrm>
            <a:off x="5364163" y="213360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7" name="Rectangle 37"/>
          <p:cNvSpPr>
            <a:spLocks noChangeArrowheads="1"/>
          </p:cNvSpPr>
          <p:nvPr/>
        </p:nvSpPr>
        <p:spPr bwMode="auto">
          <a:xfrm>
            <a:off x="5364163" y="227647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8" name="Rectangle 38"/>
          <p:cNvSpPr>
            <a:spLocks noChangeArrowheads="1"/>
          </p:cNvSpPr>
          <p:nvPr/>
        </p:nvSpPr>
        <p:spPr bwMode="auto">
          <a:xfrm>
            <a:off x="5364163" y="242093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8999" name="Rectangle 39"/>
          <p:cNvSpPr>
            <a:spLocks noChangeArrowheads="1"/>
          </p:cNvSpPr>
          <p:nvPr/>
        </p:nvSpPr>
        <p:spPr bwMode="auto">
          <a:xfrm>
            <a:off x="5724525" y="19891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0" name="Rectangle 40"/>
          <p:cNvSpPr>
            <a:spLocks noChangeArrowheads="1"/>
          </p:cNvSpPr>
          <p:nvPr/>
        </p:nvSpPr>
        <p:spPr bwMode="auto">
          <a:xfrm>
            <a:off x="5724525" y="213360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1" name="Rectangle 41"/>
          <p:cNvSpPr>
            <a:spLocks noChangeArrowheads="1"/>
          </p:cNvSpPr>
          <p:nvPr/>
        </p:nvSpPr>
        <p:spPr bwMode="auto">
          <a:xfrm>
            <a:off x="5724525" y="227647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2" name="Rectangle 42"/>
          <p:cNvSpPr>
            <a:spLocks noChangeArrowheads="1"/>
          </p:cNvSpPr>
          <p:nvPr/>
        </p:nvSpPr>
        <p:spPr bwMode="auto">
          <a:xfrm>
            <a:off x="5724525" y="242093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3" name="Rectangle 43"/>
          <p:cNvSpPr>
            <a:spLocks noChangeArrowheads="1"/>
          </p:cNvSpPr>
          <p:nvPr/>
        </p:nvSpPr>
        <p:spPr bwMode="auto">
          <a:xfrm>
            <a:off x="827088" y="4508500"/>
            <a:ext cx="5616575" cy="1152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4" name="Rectangle 44"/>
          <p:cNvSpPr>
            <a:spLocks noChangeArrowheads="1"/>
          </p:cNvSpPr>
          <p:nvPr/>
        </p:nvSpPr>
        <p:spPr bwMode="auto">
          <a:xfrm>
            <a:off x="1547813" y="4652963"/>
            <a:ext cx="863600" cy="792162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5" name="Rectangle 49"/>
          <p:cNvSpPr>
            <a:spLocks noChangeArrowheads="1"/>
          </p:cNvSpPr>
          <p:nvPr/>
        </p:nvSpPr>
        <p:spPr bwMode="auto">
          <a:xfrm>
            <a:off x="1690688" y="4797425"/>
            <a:ext cx="288925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6" name="Rectangle 50"/>
          <p:cNvSpPr>
            <a:spLocks noChangeArrowheads="1"/>
          </p:cNvSpPr>
          <p:nvPr/>
        </p:nvSpPr>
        <p:spPr bwMode="auto">
          <a:xfrm>
            <a:off x="1690688" y="4941888"/>
            <a:ext cx="288925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7" name="Rectangle 51"/>
          <p:cNvSpPr>
            <a:spLocks noChangeArrowheads="1"/>
          </p:cNvSpPr>
          <p:nvPr/>
        </p:nvSpPr>
        <p:spPr bwMode="auto">
          <a:xfrm>
            <a:off x="1690688" y="5084763"/>
            <a:ext cx="288925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8" name="Rectangle 52"/>
          <p:cNvSpPr>
            <a:spLocks noChangeArrowheads="1"/>
          </p:cNvSpPr>
          <p:nvPr/>
        </p:nvSpPr>
        <p:spPr bwMode="auto">
          <a:xfrm>
            <a:off x="1690688" y="5229225"/>
            <a:ext cx="288925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09" name="Rectangle 53"/>
          <p:cNvSpPr>
            <a:spLocks noChangeArrowheads="1"/>
          </p:cNvSpPr>
          <p:nvPr/>
        </p:nvSpPr>
        <p:spPr bwMode="auto">
          <a:xfrm>
            <a:off x="2051050" y="47974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0" name="Rectangle 54"/>
          <p:cNvSpPr>
            <a:spLocks noChangeArrowheads="1"/>
          </p:cNvSpPr>
          <p:nvPr/>
        </p:nvSpPr>
        <p:spPr bwMode="auto">
          <a:xfrm>
            <a:off x="2051050" y="494188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1" name="Rectangle 55"/>
          <p:cNvSpPr>
            <a:spLocks noChangeArrowheads="1"/>
          </p:cNvSpPr>
          <p:nvPr/>
        </p:nvSpPr>
        <p:spPr bwMode="auto">
          <a:xfrm>
            <a:off x="2051050" y="508476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2" name="Rectangle 56"/>
          <p:cNvSpPr>
            <a:spLocks noChangeArrowheads="1"/>
          </p:cNvSpPr>
          <p:nvPr/>
        </p:nvSpPr>
        <p:spPr bwMode="auto">
          <a:xfrm>
            <a:off x="2051050" y="52292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3" name="Rectangle 57"/>
          <p:cNvSpPr>
            <a:spLocks noChangeArrowheads="1"/>
          </p:cNvSpPr>
          <p:nvPr/>
        </p:nvSpPr>
        <p:spPr bwMode="auto">
          <a:xfrm>
            <a:off x="3276600" y="4652963"/>
            <a:ext cx="863600" cy="792162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4" name="Rectangle 62"/>
          <p:cNvSpPr>
            <a:spLocks noChangeArrowheads="1"/>
          </p:cNvSpPr>
          <p:nvPr/>
        </p:nvSpPr>
        <p:spPr bwMode="auto">
          <a:xfrm>
            <a:off x="3419475" y="4797425"/>
            <a:ext cx="288925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5" name="Rectangle 63"/>
          <p:cNvSpPr>
            <a:spLocks noChangeArrowheads="1"/>
          </p:cNvSpPr>
          <p:nvPr/>
        </p:nvSpPr>
        <p:spPr bwMode="auto">
          <a:xfrm>
            <a:off x="3419475" y="4941888"/>
            <a:ext cx="288925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6" name="Rectangle 64"/>
          <p:cNvSpPr>
            <a:spLocks noChangeArrowheads="1"/>
          </p:cNvSpPr>
          <p:nvPr/>
        </p:nvSpPr>
        <p:spPr bwMode="auto">
          <a:xfrm>
            <a:off x="3419475" y="5084763"/>
            <a:ext cx="288925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7" name="Rectangle 65"/>
          <p:cNvSpPr>
            <a:spLocks noChangeArrowheads="1"/>
          </p:cNvSpPr>
          <p:nvPr/>
        </p:nvSpPr>
        <p:spPr bwMode="auto">
          <a:xfrm>
            <a:off x="3419475" y="5229225"/>
            <a:ext cx="288925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8" name="Rectangle 66"/>
          <p:cNvSpPr>
            <a:spLocks noChangeArrowheads="1"/>
          </p:cNvSpPr>
          <p:nvPr/>
        </p:nvSpPr>
        <p:spPr bwMode="auto">
          <a:xfrm>
            <a:off x="3779838" y="47974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19" name="Rectangle 67"/>
          <p:cNvSpPr>
            <a:spLocks noChangeArrowheads="1"/>
          </p:cNvSpPr>
          <p:nvPr/>
        </p:nvSpPr>
        <p:spPr bwMode="auto">
          <a:xfrm>
            <a:off x="3779838" y="494188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20" name="Rectangle 68"/>
          <p:cNvSpPr>
            <a:spLocks noChangeArrowheads="1"/>
          </p:cNvSpPr>
          <p:nvPr/>
        </p:nvSpPr>
        <p:spPr bwMode="auto">
          <a:xfrm>
            <a:off x="3779838" y="508476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21" name="Rectangle 69"/>
          <p:cNvSpPr>
            <a:spLocks noChangeArrowheads="1"/>
          </p:cNvSpPr>
          <p:nvPr/>
        </p:nvSpPr>
        <p:spPr bwMode="auto">
          <a:xfrm>
            <a:off x="3779838" y="52292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22" name="Rectangle 70"/>
          <p:cNvSpPr>
            <a:spLocks noChangeArrowheads="1"/>
          </p:cNvSpPr>
          <p:nvPr/>
        </p:nvSpPr>
        <p:spPr bwMode="auto">
          <a:xfrm>
            <a:off x="5292725" y="4652963"/>
            <a:ext cx="863600" cy="792162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23" name="Rectangle 75"/>
          <p:cNvSpPr>
            <a:spLocks noChangeArrowheads="1"/>
          </p:cNvSpPr>
          <p:nvPr/>
        </p:nvSpPr>
        <p:spPr bwMode="auto">
          <a:xfrm>
            <a:off x="5435600" y="4797425"/>
            <a:ext cx="288925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69024" name="Rectangle 76"/>
          <p:cNvSpPr>
            <a:spLocks noChangeArrowheads="1"/>
          </p:cNvSpPr>
          <p:nvPr/>
        </p:nvSpPr>
        <p:spPr bwMode="auto">
          <a:xfrm>
            <a:off x="5435600" y="4941888"/>
            <a:ext cx="288925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69025" name="Rectangle 77"/>
          <p:cNvSpPr>
            <a:spLocks noChangeArrowheads="1"/>
          </p:cNvSpPr>
          <p:nvPr/>
        </p:nvSpPr>
        <p:spPr bwMode="auto">
          <a:xfrm>
            <a:off x="5435600" y="5084763"/>
            <a:ext cx="288925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69026" name="Rectangle 78"/>
          <p:cNvSpPr>
            <a:spLocks noChangeArrowheads="1"/>
          </p:cNvSpPr>
          <p:nvPr/>
        </p:nvSpPr>
        <p:spPr bwMode="auto">
          <a:xfrm>
            <a:off x="5435600" y="5229225"/>
            <a:ext cx="288925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69027" name="Rectangle 79"/>
          <p:cNvSpPr>
            <a:spLocks noChangeArrowheads="1"/>
          </p:cNvSpPr>
          <p:nvPr/>
        </p:nvSpPr>
        <p:spPr bwMode="auto">
          <a:xfrm>
            <a:off x="5795963" y="47974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28" name="Rectangle 80"/>
          <p:cNvSpPr>
            <a:spLocks noChangeArrowheads="1"/>
          </p:cNvSpPr>
          <p:nvPr/>
        </p:nvSpPr>
        <p:spPr bwMode="auto">
          <a:xfrm>
            <a:off x="5795963" y="494188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29" name="Rectangle 81"/>
          <p:cNvSpPr>
            <a:spLocks noChangeArrowheads="1"/>
          </p:cNvSpPr>
          <p:nvPr/>
        </p:nvSpPr>
        <p:spPr bwMode="auto">
          <a:xfrm>
            <a:off x="5795963" y="508476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30" name="Rectangle 82"/>
          <p:cNvSpPr>
            <a:spLocks noChangeArrowheads="1"/>
          </p:cNvSpPr>
          <p:nvPr/>
        </p:nvSpPr>
        <p:spPr bwMode="auto">
          <a:xfrm>
            <a:off x="5795963" y="522922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31" name="Text Box 83"/>
          <p:cNvSpPr txBox="1">
            <a:spLocks noChangeArrowheads="1"/>
          </p:cNvSpPr>
          <p:nvPr/>
        </p:nvSpPr>
        <p:spPr bwMode="auto">
          <a:xfrm>
            <a:off x="2287588" y="19351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b="1">
                <a:latin typeface="Arial" pitchFamily="34" charset="0"/>
              </a:rPr>
              <a:t>…</a:t>
            </a:r>
          </a:p>
        </p:txBody>
      </p:sp>
      <p:sp>
        <p:nvSpPr>
          <p:cNvPr id="169032" name="Rectangle 84"/>
          <p:cNvSpPr>
            <a:spLocks noChangeArrowheads="1"/>
          </p:cNvSpPr>
          <p:nvPr/>
        </p:nvSpPr>
        <p:spPr bwMode="auto">
          <a:xfrm>
            <a:off x="4284663" y="20542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…</a:t>
            </a:r>
          </a:p>
        </p:txBody>
      </p:sp>
      <p:sp>
        <p:nvSpPr>
          <p:cNvPr id="169033" name="AutoShape 85"/>
          <p:cNvSpPr>
            <a:spLocks noChangeArrowheads="1"/>
          </p:cNvSpPr>
          <p:nvPr/>
        </p:nvSpPr>
        <p:spPr bwMode="auto">
          <a:xfrm>
            <a:off x="5364163" y="2997200"/>
            <a:ext cx="360362" cy="1008063"/>
          </a:xfrm>
          <a:prstGeom prst="downArrow">
            <a:avLst>
              <a:gd name="adj1" fmla="val 50000"/>
              <a:gd name="adj2" fmla="val 6993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69034" name="Line 86"/>
          <p:cNvSpPr>
            <a:spLocks noChangeShapeType="1"/>
          </p:cNvSpPr>
          <p:nvPr/>
        </p:nvSpPr>
        <p:spPr bwMode="auto">
          <a:xfrm>
            <a:off x="3779838" y="2924175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035" name="Line 87"/>
          <p:cNvSpPr>
            <a:spLocks noChangeShapeType="1"/>
          </p:cNvSpPr>
          <p:nvPr/>
        </p:nvSpPr>
        <p:spPr bwMode="auto">
          <a:xfrm>
            <a:off x="3779838" y="4292600"/>
            <a:ext cx="1444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036" name="Line 88"/>
          <p:cNvSpPr>
            <a:spLocks noChangeShapeType="1"/>
          </p:cNvSpPr>
          <p:nvPr/>
        </p:nvSpPr>
        <p:spPr bwMode="auto">
          <a:xfrm flipH="1">
            <a:off x="3563938" y="4292600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037" name="Line 89"/>
          <p:cNvSpPr>
            <a:spLocks noChangeShapeType="1"/>
          </p:cNvSpPr>
          <p:nvPr/>
        </p:nvSpPr>
        <p:spPr bwMode="auto">
          <a:xfrm>
            <a:off x="3779838" y="42926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038" name="Line 90"/>
          <p:cNvSpPr>
            <a:spLocks noChangeShapeType="1"/>
          </p:cNvSpPr>
          <p:nvPr/>
        </p:nvSpPr>
        <p:spPr bwMode="auto">
          <a:xfrm>
            <a:off x="3779838" y="42926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039" name="Rectangle 91"/>
          <p:cNvSpPr>
            <a:spLocks noChangeArrowheads="1"/>
          </p:cNvSpPr>
          <p:nvPr/>
        </p:nvSpPr>
        <p:spPr bwMode="auto">
          <a:xfrm>
            <a:off x="2411413" y="47974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…</a:t>
            </a:r>
          </a:p>
        </p:txBody>
      </p:sp>
      <p:sp>
        <p:nvSpPr>
          <p:cNvPr id="169040" name="Rectangle 92"/>
          <p:cNvSpPr>
            <a:spLocks noChangeArrowheads="1"/>
          </p:cNvSpPr>
          <p:nvPr/>
        </p:nvSpPr>
        <p:spPr bwMode="auto">
          <a:xfrm>
            <a:off x="4365625" y="4791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…</a:t>
            </a:r>
          </a:p>
        </p:txBody>
      </p:sp>
      <p:sp>
        <p:nvSpPr>
          <p:cNvPr id="169041" name="Text Box 93"/>
          <p:cNvSpPr txBox="1">
            <a:spLocks noChangeArrowheads="1"/>
          </p:cNvSpPr>
          <p:nvPr/>
        </p:nvSpPr>
        <p:spPr bwMode="auto">
          <a:xfrm>
            <a:off x="755650" y="1341438"/>
            <a:ext cx="1822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Table ORDERS</a:t>
            </a:r>
          </a:p>
        </p:txBody>
      </p:sp>
      <p:sp>
        <p:nvSpPr>
          <p:cNvPr id="169042" name="Text Box 94"/>
          <p:cNvSpPr txBox="1">
            <a:spLocks noChangeArrowheads="1"/>
          </p:cNvSpPr>
          <p:nvPr/>
        </p:nvSpPr>
        <p:spPr bwMode="auto">
          <a:xfrm>
            <a:off x="879475" y="4024313"/>
            <a:ext cx="20653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Table LINEITEMS</a:t>
            </a:r>
          </a:p>
        </p:txBody>
      </p:sp>
      <p:sp>
        <p:nvSpPr>
          <p:cNvPr id="169043" name="Text Box 95"/>
          <p:cNvSpPr txBox="1">
            <a:spLocks noChangeArrowheads="1"/>
          </p:cNvSpPr>
          <p:nvPr/>
        </p:nvSpPr>
        <p:spPr bwMode="auto">
          <a:xfrm>
            <a:off x="6496050" y="1720850"/>
            <a:ext cx="15319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RANGE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(</a:t>
            </a:r>
            <a:r>
              <a:rPr kumimoji="0" lang="en-AU" altLang="en-US" sz="1800" b="1">
                <a:solidFill>
                  <a:srgbClr val="00B050"/>
                </a:solidFill>
                <a:latin typeface="Arial" pitchFamily="34" charset="0"/>
              </a:rPr>
              <a:t>order_date</a:t>
            </a:r>
            <a:r>
              <a:rPr kumimoji="0" lang="en-AU" altLang="en-US" sz="1800">
                <a:latin typeface="Arial" pitchFamily="34" charset="0"/>
              </a:rPr>
              <a:t>)</a:t>
            </a:r>
          </a:p>
        </p:txBody>
      </p:sp>
      <p:sp>
        <p:nvSpPr>
          <p:cNvPr id="169044" name="Text Box 96"/>
          <p:cNvSpPr txBox="1">
            <a:spLocks noChangeArrowheads="1"/>
          </p:cNvSpPr>
          <p:nvPr/>
        </p:nvSpPr>
        <p:spPr bwMode="auto">
          <a:xfrm>
            <a:off x="6567488" y="2439988"/>
            <a:ext cx="17748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PRIMARY KEY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(</a:t>
            </a:r>
            <a:r>
              <a:rPr kumimoji="0" lang="en-AU" altLang="en-US" sz="1800" b="1">
                <a:solidFill>
                  <a:srgbClr val="FF0000"/>
                </a:solidFill>
                <a:latin typeface="Arial" pitchFamily="34" charset="0"/>
              </a:rPr>
              <a:t>order_id</a:t>
            </a:r>
            <a:r>
              <a:rPr kumimoji="0" lang="en-AU" altLang="en-US" sz="1800">
                <a:latin typeface="Arial" pitchFamily="34" charset="0"/>
              </a:rPr>
              <a:t>)</a:t>
            </a:r>
          </a:p>
        </p:txBody>
      </p:sp>
      <p:sp>
        <p:nvSpPr>
          <p:cNvPr id="169045" name="Text Box 97"/>
          <p:cNvSpPr txBox="1">
            <a:spLocks noChangeArrowheads="1"/>
          </p:cNvSpPr>
          <p:nvPr/>
        </p:nvSpPr>
        <p:spPr bwMode="auto">
          <a:xfrm>
            <a:off x="6927850" y="4456113"/>
            <a:ext cx="17748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RANGE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(</a:t>
            </a:r>
            <a:r>
              <a:rPr kumimoji="0" lang="en-AU" altLang="en-US" sz="1800" b="1">
                <a:solidFill>
                  <a:srgbClr val="00B050"/>
                </a:solidFill>
                <a:latin typeface="Arial" pitchFamily="34" charset="0"/>
              </a:rPr>
              <a:t>order_date</a:t>
            </a:r>
            <a:r>
              <a:rPr kumimoji="0" lang="en-AU" altLang="en-US" sz="1800">
                <a:latin typeface="Arial" pitchFamily="34" charset="0"/>
              </a:rPr>
              <a:t>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80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FOREIGN KEY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(</a:t>
            </a:r>
            <a:r>
              <a:rPr kumimoji="0" lang="en-AU" altLang="en-US" sz="1800" b="1">
                <a:solidFill>
                  <a:srgbClr val="FF0000"/>
                </a:solidFill>
                <a:latin typeface="Arial" pitchFamily="34" charset="0"/>
              </a:rPr>
              <a:t>order_id)</a:t>
            </a:r>
          </a:p>
        </p:txBody>
      </p:sp>
      <p:sp>
        <p:nvSpPr>
          <p:cNvPr id="169046" name="Text Box 98"/>
          <p:cNvSpPr txBox="1">
            <a:spLocks noChangeArrowheads="1"/>
          </p:cNvSpPr>
          <p:nvPr/>
        </p:nvSpPr>
        <p:spPr bwMode="auto">
          <a:xfrm>
            <a:off x="5756275" y="3232150"/>
            <a:ext cx="32448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Partition By Reference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Partitioning Key in Child Table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Inherited through PK-FK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relationship</a:t>
            </a:r>
          </a:p>
        </p:txBody>
      </p:sp>
      <p:sp>
        <p:nvSpPr>
          <p:cNvPr id="169047" name="Text Box 99"/>
          <p:cNvSpPr txBox="1">
            <a:spLocks noChangeArrowheads="1"/>
          </p:cNvSpPr>
          <p:nvPr/>
        </p:nvSpPr>
        <p:spPr bwMode="auto">
          <a:xfrm>
            <a:off x="1023938" y="299085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Jan 2009</a:t>
            </a:r>
          </a:p>
        </p:txBody>
      </p:sp>
      <p:sp>
        <p:nvSpPr>
          <p:cNvPr id="169048" name="Text Box 100"/>
          <p:cNvSpPr txBox="1">
            <a:spLocks noChangeArrowheads="1"/>
          </p:cNvSpPr>
          <p:nvPr/>
        </p:nvSpPr>
        <p:spPr bwMode="auto">
          <a:xfrm>
            <a:off x="2679700" y="2990850"/>
            <a:ext cx="1149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Feb 2009</a:t>
            </a:r>
          </a:p>
        </p:txBody>
      </p:sp>
      <p:sp>
        <p:nvSpPr>
          <p:cNvPr id="169049" name="Text Box 101"/>
          <p:cNvSpPr txBox="1">
            <a:spLocks noChangeArrowheads="1"/>
          </p:cNvSpPr>
          <p:nvPr/>
        </p:nvSpPr>
        <p:spPr bwMode="auto">
          <a:xfrm>
            <a:off x="1239838" y="5762782"/>
            <a:ext cx="1123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Jan 2009</a:t>
            </a:r>
          </a:p>
        </p:txBody>
      </p:sp>
      <p:sp>
        <p:nvSpPr>
          <p:cNvPr id="169050" name="Text Box 102"/>
          <p:cNvSpPr txBox="1">
            <a:spLocks noChangeArrowheads="1"/>
          </p:cNvSpPr>
          <p:nvPr/>
        </p:nvSpPr>
        <p:spPr bwMode="auto">
          <a:xfrm>
            <a:off x="2895600" y="5762782"/>
            <a:ext cx="1149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Feb 2009</a:t>
            </a:r>
          </a:p>
        </p:txBody>
      </p:sp>
      <p:sp>
        <p:nvSpPr>
          <p:cNvPr id="169051" name="AutoShape 104"/>
          <p:cNvSpPr>
            <a:spLocks noChangeArrowheads="1"/>
          </p:cNvSpPr>
          <p:nvPr/>
        </p:nvSpPr>
        <p:spPr bwMode="auto">
          <a:xfrm rot="10800000">
            <a:off x="4932363" y="2420938"/>
            <a:ext cx="649287" cy="1079500"/>
          </a:xfrm>
          <a:custGeom>
            <a:avLst/>
            <a:gdLst>
              <a:gd name="T0" fmla="*/ 293313358 w 21600"/>
              <a:gd name="T1" fmla="*/ 0 h 21600"/>
              <a:gd name="T2" fmla="*/ 73335343 w 21600"/>
              <a:gd name="T3" fmla="*/ 1348125879 h 21600"/>
              <a:gd name="T4" fmla="*/ 293313358 w 21600"/>
              <a:gd name="T5" fmla="*/ 674062939 h 21600"/>
              <a:gd name="T6" fmla="*/ 660017159 w 21600"/>
              <a:gd name="T7" fmla="*/ 1348125879 h 21600"/>
              <a:gd name="T8" fmla="*/ 513346472 w 21600"/>
              <a:gd name="T9" fmla="*/ 2022188818 h 21600"/>
              <a:gd name="T10" fmla="*/ 366675785 w 21600"/>
              <a:gd name="T11" fmla="*/ 1348125879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6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0063" y="1285875"/>
            <a:ext cx="8215312" cy="4214813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99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46385" y="1426779"/>
            <a:ext cx="7551683" cy="3775841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/>
              <a:t>CREATE TABLE </a:t>
            </a:r>
            <a:r>
              <a:rPr lang="en-AU" altLang="en-US" sz="1600" b="1" dirty="0" err="1" smtClean="0"/>
              <a:t>mycustomers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/>
              <a:t> (</a:t>
            </a:r>
            <a:r>
              <a:rPr lang="en-AU" altLang="en-US" sz="1600" b="1" dirty="0" err="1" smtClean="0"/>
              <a:t>cust_id</a:t>
            </a:r>
            <a:r>
              <a:rPr lang="en-AU" altLang="en-US" sz="1600" b="1" dirty="0" smtClean="0"/>
              <a:t> NUMBER,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err="1" smtClean="0"/>
              <a:t>cust_first_name</a:t>
            </a:r>
            <a:r>
              <a:rPr lang="en-AU" altLang="en-US" sz="1600" b="1" dirty="0" smtClean="0"/>
              <a:t> VARCHAR2(20),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err="1" smtClean="0"/>
              <a:t>cust_last_name</a:t>
            </a:r>
            <a:r>
              <a:rPr lang="en-AU" altLang="en-US" sz="1600" b="1" dirty="0" smtClean="0"/>
              <a:t> VARCHAR2(20),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/>
              <a:t> </a:t>
            </a:r>
            <a:r>
              <a:rPr lang="en-AU" altLang="en-US" sz="1600" b="1" dirty="0" err="1" smtClean="0"/>
              <a:t>cust_gender</a:t>
            </a:r>
            <a:r>
              <a:rPr lang="en-AU" altLang="en-US" sz="1600" b="1" dirty="0" smtClean="0"/>
              <a:t> CHAR(1))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rgbClr val="FF3300"/>
                </a:solidFill>
              </a:rPr>
              <a:t>PARTITION BY LIST (</a:t>
            </a:r>
            <a:r>
              <a:rPr lang="en-AU" altLang="en-US" sz="1600" b="1" dirty="0" err="1" smtClean="0">
                <a:solidFill>
                  <a:srgbClr val="FF3300"/>
                </a:solidFill>
              </a:rPr>
              <a:t>cust_gender</a:t>
            </a:r>
            <a:r>
              <a:rPr lang="en-AU" altLang="en-US" sz="1600" b="1" dirty="0" smtClean="0">
                <a:solidFill>
                  <a:srgbClr val="FF3300"/>
                </a:solidFill>
              </a:rPr>
              <a:t>)</a:t>
            </a:r>
            <a:endParaRPr lang="en-US" altLang="en-US" sz="1600" b="1" dirty="0" smtClean="0">
              <a:solidFill>
                <a:srgbClr val="FF3300"/>
              </a:solidFill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/>
              <a:t> (PARTITION </a:t>
            </a:r>
            <a:r>
              <a:rPr lang="en-AU" altLang="en-US" sz="1600" b="1" dirty="0" err="1" smtClean="0"/>
              <a:t>p_male</a:t>
            </a:r>
            <a:r>
              <a:rPr lang="en-AU" altLang="en-US" sz="1600" b="1" dirty="0" smtClean="0"/>
              <a:t> VALUES ('M'),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/>
              <a:t>PARTITION </a:t>
            </a:r>
            <a:r>
              <a:rPr lang="en-AU" altLang="en-US" sz="1600" b="1" dirty="0" err="1" smtClean="0"/>
              <a:t>p_female</a:t>
            </a:r>
            <a:r>
              <a:rPr lang="en-AU" altLang="en-US" sz="1600" b="1" dirty="0" smtClean="0"/>
              <a:t> VALUES ('F')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/>
              <a:t>);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/>
              <a:t>SQL&gt; ALTER TABLE </a:t>
            </a:r>
            <a:r>
              <a:rPr lang="en-AU" altLang="en-US" sz="1600" b="1" dirty="0" err="1" smtClean="0"/>
              <a:t>mycustomers</a:t>
            </a:r>
            <a:r>
              <a:rPr lang="en-AU" altLang="en-US" sz="1600" b="1" dirty="0" smtClean="0"/>
              <a:t> ADD CONSTRAINT </a:t>
            </a:r>
            <a:r>
              <a:rPr lang="en-AU" altLang="en-US" sz="1600" b="1" dirty="0" err="1" smtClean="0"/>
              <a:t>p_cust_id</a:t>
            </a:r>
            <a:r>
              <a:rPr lang="en-AU" altLang="en-US" sz="1600" b="1" dirty="0" smtClean="0"/>
              <a:t> PRIMARY KEY (</a:t>
            </a:r>
            <a:r>
              <a:rPr lang="en-AU" altLang="en-US" sz="1600" b="1" dirty="0" err="1" smtClean="0"/>
              <a:t>cust_id</a:t>
            </a:r>
            <a:r>
              <a:rPr lang="en-AU" altLang="en-US" sz="1600" b="1" dirty="0" smtClean="0"/>
              <a:t>);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/>
              <a:t> 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/>
              <a:t>Table altered.</a:t>
            </a: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/>
              <a:t> 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8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7188" y="3589603"/>
            <a:ext cx="8572500" cy="2571750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586285" y="946416"/>
            <a:ext cx="7715250" cy="242887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101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4860" y="874978"/>
            <a:ext cx="8686800" cy="2404241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AU" altLang="en-US" sz="1600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mysales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cust_id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NUMBER NOT NULL,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quantity_sold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NUMBER(10,2),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amount_sold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 NUMBER(10,2),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CONSTRAINT  fk_sales_01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FOREIGN KEY (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cust_id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REFERENCES </a:t>
            </a:r>
            <a:r>
              <a:rPr lang="en-AU" altLang="en-US" sz="1600" b="1" dirty="0" err="1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mycustomers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AU" altLang="en-US" sz="1600" b="1" dirty="0" err="1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cust_id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))</a:t>
            </a:r>
            <a:endParaRPr lang="en-US" altLang="en-US" sz="1600" b="1" dirty="0" smtClean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PARTITION BY REFERENCE (fk_sales_01);</a:t>
            </a:r>
            <a:endParaRPr lang="en-US" altLang="en-US" sz="1600" b="1" dirty="0" smtClean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	SELECT TABLE_NAME, PARTITIONING_TYPE, 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		REF_PTN_CONSTRAINT_NAME FROM USER_PART_TABLES WHERE 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		TABLE_NAME IN ('MYCUSTOMERS','MYSALES');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TABLE_NAME                     PARTITION REF_PTN_CONSTRAINT_NAME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------------------------------ --------- --------------------------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MYCUSTOMERS                    LIST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MYSALES              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REFERENCE FK_SALES_01</a:t>
            </a:r>
          </a:p>
        </p:txBody>
      </p:sp>
    </p:spTree>
    <p:extLst>
      <p:ext uri="{BB962C8B-B14F-4D97-AF65-F5344CB8AC3E}">
        <p14:creationId xmlns:p14="http://schemas.microsoft.com/office/powerpoint/2010/main" val="192042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7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Extended Composite Partitioning</a:t>
            </a:r>
          </a:p>
        </p:txBody>
      </p:sp>
      <p:graphicFrame>
        <p:nvGraphicFramePr>
          <p:cNvPr id="34856" name="Group 40"/>
          <p:cNvGraphicFramePr>
            <a:graphicFrameLocks noGrp="1"/>
          </p:cNvGraphicFramePr>
          <p:nvPr>
            <p:ph idx="4294967295"/>
          </p:nvPr>
        </p:nvGraphicFramePr>
        <p:xfrm>
          <a:off x="851364" y="3029979"/>
          <a:ext cx="7302500" cy="1857375"/>
        </p:xfrm>
        <a:graphic>
          <a:graphicData uri="http://schemas.openxmlformats.org/drawingml/2006/table">
            <a:tbl>
              <a:tblPr/>
              <a:tblGrid>
                <a:gridCol w="1827213"/>
                <a:gridCol w="1824037"/>
                <a:gridCol w="1825625"/>
                <a:gridCol w="1825625"/>
              </a:tblGrid>
              <a:tr h="619125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1" lang="fr-FR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List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Hash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619125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Range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11g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9i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8i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List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11g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11g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742950" indent="-2857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11g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</a:tr>
            </a:tbl>
          </a:graphicData>
        </a:graphic>
      </p:graphicFrame>
      <p:sp>
        <p:nvSpPr>
          <p:cNvPr id="172057" name="Text Box 41"/>
          <p:cNvSpPr txBox="1">
            <a:spLocks noChangeArrowheads="1"/>
          </p:cNvSpPr>
          <p:nvPr/>
        </p:nvSpPr>
        <p:spPr bwMode="auto">
          <a:xfrm>
            <a:off x="2091202" y="4871479"/>
            <a:ext cx="4775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800" dirty="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Range/Range    	</a:t>
            </a:r>
            <a:r>
              <a:rPr kumimoji="0" lang="en-AU" altLang="en-US" sz="1800" dirty="0">
                <a:latin typeface="Arial" pitchFamily="34" charset="0"/>
              </a:rPr>
              <a:t>Order Date, Shipping Date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List/Range 	</a:t>
            </a:r>
            <a:r>
              <a:rPr kumimoji="0" lang="en-AU" altLang="en-US" sz="1800" dirty="0">
                <a:latin typeface="Arial" pitchFamily="34" charset="0"/>
              </a:rPr>
              <a:t>Salesman, Date of Sale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List/List 	</a:t>
            </a:r>
            <a:r>
              <a:rPr kumimoji="0" lang="en-AU" altLang="en-US" sz="1800" dirty="0">
                <a:latin typeface="Arial" pitchFamily="34" charset="0"/>
              </a:rPr>
              <a:t>State, County</a:t>
            </a:r>
          </a:p>
        </p:txBody>
      </p:sp>
      <p:sp>
        <p:nvSpPr>
          <p:cNvPr id="172058" name="Text Box 42"/>
          <p:cNvSpPr txBox="1">
            <a:spLocks noChangeArrowheads="1"/>
          </p:cNvSpPr>
          <p:nvPr/>
        </p:nvSpPr>
        <p:spPr bwMode="auto">
          <a:xfrm>
            <a:off x="1986948" y="819315"/>
            <a:ext cx="43275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dirty="0">
                <a:latin typeface="Arial" pitchFamily="34" charset="0"/>
              </a:rPr>
              <a:t>Data is partitioned along two </a:t>
            </a:r>
            <a:r>
              <a:rPr kumimoji="0" lang="en-AU" altLang="en-US" sz="1800" dirty="0" err="1">
                <a:latin typeface="Arial" pitchFamily="34" charset="0"/>
              </a:rPr>
              <a:t>dimesions</a:t>
            </a:r>
            <a:endParaRPr kumimoji="0" lang="en-AU" altLang="en-US" sz="1800" dirty="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800" dirty="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dirty="0">
                <a:latin typeface="Arial" pitchFamily="34" charset="0"/>
              </a:rPr>
              <a:t>Introduced in Oracle 8</a:t>
            </a:r>
            <a:r>
              <a:rPr kumimoji="0" lang="en-AU" altLang="en-US" sz="1800" i="1" dirty="0">
                <a:latin typeface="Arial" pitchFamily="34" charset="0"/>
              </a:rPr>
              <a:t>i </a:t>
            </a:r>
            <a:r>
              <a:rPr kumimoji="0" lang="en-AU" altLang="en-US" sz="1800" dirty="0">
                <a:latin typeface="Arial" pitchFamily="34" charset="0"/>
              </a:rPr>
              <a:t>with Range/Hash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800" dirty="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dirty="0">
                <a:latin typeface="Arial" pitchFamily="34" charset="0"/>
              </a:rPr>
              <a:t>9</a:t>
            </a:r>
            <a:r>
              <a:rPr kumimoji="0" lang="en-AU" altLang="en-US" sz="1800" i="1" dirty="0">
                <a:latin typeface="Arial" pitchFamily="34" charset="0"/>
              </a:rPr>
              <a:t>i</a:t>
            </a:r>
            <a:r>
              <a:rPr kumimoji="0" lang="en-AU" altLang="en-US" sz="1800" dirty="0">
                <a:latin typeface="Arial" pitchFamily="34" charset="0"/>
              </a:rPr>
              <a:t> extended to Range/List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800" dirty="0">
              <a:latin typeface="Arial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dirty="0">
                <a:latin typeface="Arial" pitchFamily="34" charset="0"/>
              </a:rPr>
              <a:t>11g extended to all combinations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8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90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81"/>
          <p:cNvSpPr>
            <a:spLocks noChangeArrowheads="1"/>
          </p:cNvSpPr>
          <p:nvPr/>
        </p:nvSpPr>
        <p:spPr bwMode="auto">
          <a:xfrm>
            <a:off x="1331913" y="1155795"/>
            <a:ext cx="7200900" cy="4392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altLang="en-US" smtClean="0"/>
              <a:t>Range-Range Partitioning</a:t>
            </a:r>
          </a:p>
        </p:txBody>
      </p:sp>
      <p:sp>
        <p:nvSpPr>
          <p:cNvPr id="173060" name="Rectangle 5"/>
          <p:cNvSpPr>
            <a:spLocks noChangeArrowheads="1"/>
          </p:cNvSpPr>
          <p:nvPr/>
        </p:nvSpPr>
        <p:spPr bwMode="auto">
          <a:xfrm>
            <a:off x="1474788" y="1371695"/>
            <a:ext cx="1296987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61" name="Rectangle 6"/>
          <p:cNvSpPr>
            <a:spLocks noChangeArrowheads="1"/>
          </p:cNvSpPr>
          <p:nvPr/>
        </p:nvSpPr>
        <p:spPr bwMode="auto">
          <a:xfrm>
            <a:off x="1619250" y="1516158"/>
            <a:ext cx="360363" cy="71437"/>
          </a:xfrm>
          <a:prstGeom prst="rect">
            <a:avLst/>
          </a:prstGeom>
          <a:solidFill>
            <a:srgbClr val="FF33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62" name="Rectangle 7"/>
          <p:cNvSpPr>
            <a:spLocks noChangeArrowheads="1"/>
          </p:cNvSpPr>
          <p:nvPr/>
        </p:nvSpPr>
        <p:spPr bwMode="auto">
          <a:xfrm>
            <a:off x="1619250" y="1660620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63" name="Rectangle 8"/>
          <p:cNvSpPr>
            <a:spLocks noChangeArrowheads="1"/>
          </p:cNvSpPr>
          <p:nvPr/>
        </p:nvSpPr>
        <p:spPr bwMode="auto">
          <a:xfrm>
            <a:off x="1619250" y="180349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64" name="Rectangle 9"/>
          <p:cNvSpPr>
            <a:spLocks noChangeArrowheads="1"/>
          </p:cNvSpPr>
          <p:nvPr/>
        </p:nvSpPr>
        <p:spPr bwMode="auto">
          <a:xfrm>
            <a:off x="1619250" y="1947958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65" name="Rectangle 10"/>
          <p:cNvSpPr>
            <a:spLocks noChangeArrowheads="1"/>
          </p:cNvSpPr>
          <p:nvPr/>
        </p:nvSpPr>
        <p:spPr bwMode="auto">
          <a:xfrm>
            <a:off x="2051050" y="151615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66" name="Rectangle 11"/>
          <p:cNvSpPr>
            <a:spLocks noChangeArrowheads="1"/>
          </p:cNvSpPr>
          <p:nvPr/>
        </p:nvSpPr>
        <p:spPr bwMode="auto">
          <a:xfrm>
            <a:off x="2051050" y="16606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67" name="Rectangle 12"/>
          <p:cNvSpPr>
            <a:spLocks noChangeArrowheads="1"/>
          </p:cNvSpPr>
          <p:nvPr/>
        </p:nvSpPr>
        <p:spPr bwMode="auto">
          <a:xfrm>
            <a:off x="2051050" y="180349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68" name="Rectangle 13"/>
          <p:cNvSpPr>
            <a:spLocks noChangeArrowheads="1"/>
          </p:cNvSpPr>
          <p:nvPr/>
        </p:nvSpPr>
        <p:spPr bwMode="auto">
          <a:xfrm>
            <a:off x="2051050" y="194795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69" name="Rectangle 14"/>
          <p:cNvSpPr>
            <a:spLocks noChangeArrowheads="1"/>
          </p:cNvSpPr>
          <p:nvPr/>
        </p:nvSpPr>
        <p:spPr bwMode="auto">
          <a:xfrm>
            <a:off x="2411413" y="151615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0" name="Rectangle 15"/>
          <p:cNvSpPr>
            <a:spLocks noChangeArrowheads="1"/>
          </p:cNvSpPr>
          <p:nvPr/>
        </p:nvSpPr>
        <p:spPr bwMode="auto">
          <a:xfrm>
            <a:off x="2411413" y="16606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1" name="Rectangle 16"/>
          <p:cNvSpPr>
            <a:spLocks noChangeArrowheads="1"/>
          </p:cNvSpPr>
          <p:nvPr/>
        </p:nvSpPr>
        <p:spPr bwMode="auto">
          <a:xfrm>
            <a:off x="2411413" y="180349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2" name="Rectangle 17"/>
          <p:cNvSpPr>
            <a:spLocks noChangeArrowheads="1"/>
          </p:cNvSpPr>
          <p:nvPr/>
        </p:nvSpPr>
        <p:spPr bwMode="auto">
          <a:xfrm>
            <a:off x="2411413" y="194795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3" name="Rectangle 18"/>
          <p:cNvSpPr>
            <a:spLocks noChangeArrowheads="1"/>
          </p:cNvSpPr>
          <p:nvPr/>
        </p:nvSpPr>
        <p:spPr bwMode="auto">
          <a:xfrm>
            <a:off x="3203575" y="1371695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4" name="Rectangle 19"/>
          <p:cNvSpPr>
            <a:spLocks noChangeArrowheads="1"/>
          </p:cNvSpPr>
          <p:nvPr/>
        </p:nvSpPr>
        <p:spPr bwMode="auto">
          <a:xfrm>
            <a:off x="3348038" y="151615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5" name="Rectangle 20"/>
          <p:cNvSpPr>
            <a:spLocks noChangeArrowheads="1"/>
          </p:cNvSpPr>
          <p:nvPr/>
        </p:nvSpPr>
        <p:spPr bwMode="auto">
          <a:xfrm>
            <a:off x="3348038" y="166062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6" name="Rectangle 21"/>
          <p:cNvSpPr>
            <a:spLocks noChangeArrowheads="1"/>
          </p:cNvSpPr>
          <p:nvPr/>
        </p:nvSpPr>
        <p:spPr bwMode="auto">
          <a:xfrm>
            <a:off x="3348038" y="180349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7" name="Rectangle 22"/>
          <p:cNvSpPr>
            <a:spLocks noChangeArrowheads="1"/>
          </p:cNvSpPr>
          <p:nvPr/>
        </p:nvSpPr>
        <p:spPr bwMode="auto">
          <a:xfrm>
            <a:off x="3348038" y="194795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8" name="Rectangle 23"/>
          <p:cNvSpPr>
            <a:spLocks noChangeArrowheads="1"/>
          </p:cNvSpPr>
          <p:nvPr/>
        </p:nvSpPr>
        <p:spPr bwMode="auto">
          <a:xfrm>
            <a:off x="3779838" y="151615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79" name="Rectangle 24"/>
          <p:cNvSpPr>
            <a:spLocks noChangeArrowheads="1"/>
          </p:cNvSpPr>
          <p:nvPr/>
        </p:nvSpPr>
        <p:spPr bwMode="auto">
          <a:xfrm>
            <a:off x="3779838" y="16606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0" name="Rectangle 25"/>
          <p:cNvSpPr>
            <a:spLocks noChangeArrowheads="1"/>
          </p:cNvSpPr>
          <p:nvPr/>
        </p:nvSpPr>
        <p:spPr bwMode="auto">
          <a:xfrm>
            <a:off x="3779838" y="180349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1" name="Rectangle 26"/>
          <p:cNvSpPr>
            <a:spLocks noChangeArrowheads="1"/>
          </p:cNvSpPr>
          <p:nvPr/>
        </p:nvSpPr>
        <p:spPr bwMode="auto">
          <a:xfrm>
            <a:off x="3779838" y="194795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2" name="Rectangle 27"/>
          <p:cNvSpPr>
            <a:spLocks noChangeArrowheads="1"/>
          </p:cNvSpPr>
          <p:nvPr/>
        </p:nvSpPr>
        <p:spPr bwMode="auto">
          <a:xfrm>
            <a:off x="4140200" y="151615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3" name="Rectangle 28"/>
          <p:cNvSpPr>
            <a:spLocks noChangeArrowheads="1"/>
          </p:cNvSpPr>
          <p:nvPr/>
        </p:nvSpPr>
        <p:spPr bwMode="auto">
          <a:xfrm>
            <a:off x="4140200" y="16606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4" name="Rectangle 29"/>
          <p:cNvSpPr>
            <a:spLocks noChangeArrowheads="1"/>
          </p:cNvSpPr>
          <p:nvPr/>
        </p:nvSpPr>
        <p:spPr bwMode="auto">
          <a:xfrm>
            <a:off x="4140200" y="180349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5" name="Rectangle 30"/>
          <p:cNvSpPr>
            <a:spLocks noChangeArrowheads="1"/>
          </p:cNvSpPr>
          <p:nvPr/>
        </p:nvSpPr>
        <p:spPr bwMode="auto">
          <a:xfrm>
            <a:off x="4140200" y="194795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6" name="Rectangle 31"/>
          <p:cNvSpPr>
            <a:spLocks noChangeArrowheads="1"/>
          </p:cNvSpPr>
          <p:nvPr/>
        </p:nvSpPr>
        <p:spPr bwMode="auto">
          <a:xfrm>
            <a:off x="4930775" y="1371695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7" name="Rectangle 32"/>
          <p:cNvSpPr>
            <a:spLocks noChangeArrowheads="1"/>
          </p:cNvSpPr>
          <p:nvPr/>
        </p:nvSpPr>
        <p:spPr bwMode="auto">
          <a:xfrm>
            <a:off x="5075238" y="151615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8" name="Rectangle 33"/>
          <p:cNvSpPr>
            <a:spLocks noChangeArrowheads="1"/>
          </p:cNvSpPr>
          <p:nvPr/>
        </p:nvSpPr>
        <p:spPr bwMode="auto">
          <a:xfrm>
            <a:off x="5075238" y="166062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89" name="Rectangle 34"/>
          <p:cNvSpPr>
            <a:spLocks noChangeArrowheads="1"/>
          </p:cNvSpPr>
          <p:nvPr/>
        </p:nvSpPr>
        <p:spPr bwMode="auto">
          <a:xfrm>
            <a:off x="5075238" y="180349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0" name="Rectangle 35"/>
          <p:cNvSpPr>
            <a:spLocks noChangeArrowheads="1"/>
          </p:cNvSpPr>
          <p:nvPr/>
        </p:nvSpPr>
        <p:spPr bwMode="auto">
          <a:xfrm>
            <a:off x="5075238" y="194795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1" name="Rectangle 36"/>
          <p:cNvSpPr>
            <a:spLocks noChangeArrowheads="1"/>
          </p:cNvSpPr>
          <p:nvPr/>
        </p:nvSpPr>
        <p:spPr bwMode="auto">
          <a:xfrm>
            <a:off x="5507038" y="151615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2" name="Rectangle 37"/>
          <p:cNvSpPr>
            <a:spLocks noChangeArrowheads="1"/>
          </p:cNvSpPr>
          <p:nvPr/>
        </p:nvSpPr>
        <p:spPr bwMode="auto">
          <a:xfrm>
            <a:off x="5507038" y="16606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3" name="Rectangle 38"/>
          <p:cNvSpPr>
            <a:spLocks noChangeArrowheads="1"/>
          </p:cNvSpPr>
          <p:nvPr/>
        </p:nvSpPr>
        <p:spPr bwMode="auto">
          <a:xfrm>
            <a:off x="5507038" y="180349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4" name="Rectangle 39"/>
          <p:cNvSpPr>
            <a:spLocks noChangeArrowheads="1"/>
          </p:cNvSpPr>
          <p:nvPr/>
        </p:nvSpPr>
        <p:spPr bwMode="auto">
          <a:xfrm>
            <a:off x="5507038" y="194795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5" name="Rectangle 40"/>
          <p:cNvSpPr>
            <a:spLocks noChangeArrowheads="1"/>
          </p:cNvSpPr>
          <p:nvPr/>
        </p:nvSpPr>
        <p:spPr bwMode="auto">
          <a:xfrm>
            <a:off x="5867400" y="151615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6" name="Rectangle 41"/>
          <p:cNvSpPr>
            <a:spLocks noChangeArrowheads="1"/>
          </p:cNvSpPr>
          <p:nvPr/>
        </p:nvSpPr>
        <p:spPr bwMode="auto">
          <a:xfrm>
            <a:off x="5867400" y="16606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7" name="Rectangle 42"/>
          <p:cNvSpPr>
            <a:spLocks noChangeArrowheads="1"/>
          </p:cNvSpPr>
          <p:nvPr/>
        </p:nvSpPr>
        <p:spPr bwMode="auto">
          <a:xfrm>
            <a:off x="5867400" y="180349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8" name="Rectangle 43"/>
          <p:cNvSpPr>
            <a:spLocks noChangeArrowheads="1"/>
          </p:cNvSpPr>
          <p:nvPr/>
        </p:nvSpPr>
        <p:spPr bwMode="auto">
          <a:xfrm>
            <a:off x="5867400" y="194795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099" name="Rectangle 46"/>
          <p:cNvSpPr>
            <a:spLocks noChangeArrowheads="1"/>
          </p:cNvSpPr>
          <p:nvPr/>
        </p:nvSpPr>
        <p:spPr bwMode="auto">
          <a:xfrm>
            <a:off x="7019925" y="1371695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0" name="Rectangle 47"/>
          <p:cNvSpPr>
            <a:spLocks noChangeArrowheads="1"/>
          </p:cNvSpPr>
          <p:nvPr/>
        </p:nvSpPr>
        <p:spPr bwMode="auto">
          <a:xfrm>
            <a:off x="7164388" y="151615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1" name="Rectangle 48"/>
          <p:cNvSpPr>
            <a:spLocks noChangeArrowheads="1"/>
          </p:cNvSpPr>
          <p:nvPr/>
        </p:nvSpPr>
        <p:spPr bwMode="auto">
          <a:xfrm>
            <a:off x="7164388" y="180349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2" name="Rectangle 49"/>
          <p:cNvSpPr>
            <a:spLocks noChangeArrowheads="1"/>
          </p:cNvSpPr>
          <p:nvPr/>
        </p:nvSpPr>
        <p:spPr bwMode="auto">
          <a:xfrm>
            <a:off x="7164388" y="1947958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3" name="Rectangle 50"/>
          <p:cNvSpPr>
            <a:spLocks noChangeArrowheads="1"/>
          </p:cNvSpPr>
          <p:nvPr/>
        </p:nvSpPr>
        <p:spPr bwMode="auto">
          <a:xfrm>
            <a:off x="7596188" y="151615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4" name="Rectangle 51"/>
          <p:cNvSpPr>
            <a:spLocks noChangeArrowheads="1"/>
          </p:cNvSpPr>
          <p:nvPr/>
        </p:nvSpPr>
        <p:spPr bwMode="auto">
          <a:xfrm>
            <a:off x="7596188" y="16606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5" name="Rectangle 52"/>
          <p:cNvSpPr>
            <a:spLocks noChangeArrowheads="1"/>
          </p:cNvSpPr>
          <p:nvPr/>
        </p:nvSpPr>
        <p:spPr bwMode="auto">
          <a:xfrm>
            <a:off x="7596188" y="180349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6" name="Rectangle 53"/>
          <p:cNvSpPr>
            <a:spLocks noChangeArrowheads="1"/>
          </p:cNvSpPr>
          <p:nvPr/>
        </p:nvSpPr>
        <p:spPr bwMode="auto">
          <a:xfrm>
            <a:off x="7596188" y="1947958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7" name="Rectangle 54"/>
          <p:cNvSpPr>
            <a:spLocks noChangeArrowheads="1"/>
          </p:cNvSpPr>
          <p:nvPr/>
        </p:nvSpPr>
        <p:spPr bwMode="auto">
          <a:xfrm>
            <a:off x="7956550" y="151615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8" name="Rectangle 55"/>
          <p:cNvSpPr>
            <a:spLocks noChangeArrowheads="1"/>
          </p:cNvSpPr>
          <p:nvPr/>
        </p:nvSpPr>
        <p:spPr bwMode="auto">
          <a:xfrm>
            <a:off x="7956550" y="16606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09" name="Rectangle 56"/>
          <p:cNvSpPr>
            <a:spLocks noChangeArrowheads="1"/>
          </p:cNvSpPr>
          <p:nvPr/>
        </p:nvSpPr>
        <p:spPr bwMode="auto">
          <a:xfrm>
            <a:off x="7956550" y="180349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0" name="Rectangle 57"/>
          <p:cNvSpPr>
            <a:spLocks noChangeArrowheads="1"/>
          </p:cNvSpPr>
          <p:nvPr/>
        </p:nvSpPr>
        <p:spPr bwMode="auto">
          <a:xfrm>
            <a:off x="7956550" y="1947958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1" name="Rectangle 59"/>
          <p:cNvSpPr>
            <a:spLocks noChangeArrowheads="1"/>
          </p:cNvSpPr>
          <p:nvPr/>
        </p:nvSpPr>
        <p:spPr bwMode="auto">
          <a:xfrm>
            <a:off x="7164388" y="166062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2" name="Rectangle 60"/>
          <p:cNvSpPr>
            <a:spLocks noChangeArrowheads="1"/>
          </p:cNvSpPr>
          <p:nvPr/>
        </p:nvSpPr>
        <p:spPr bwMode="auto">
          <a:xfrm>
            <a:off x="1474788" y="2524220"/>
            <a:ext cx="1296987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3" name="Rectangle 61"/>
          <p:cNvSpPr>
            <a:spLocks noChangeArrowheads="1"/>
          </p:cNvSpPr>
          <p:nvPr/>
        </p:nvSpPr>
        <p:spPr bwMode="auto">
          <a:xfrm>
            <a:off x="1619250" y="2668683"/>
            <a:ext cx="360363" cy="71437"/>
          </a:xfrm>
          <a:prstGeom prst="rect">
            <a:avLst/>
          </a:prstGeom>
          <a:solidFill>
            <a:srgbClr val="FF33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4" name="Rectangle 62"/>
          <p:cNvSpPr>
            <a:spLocks noChangeArrowheads="1"/>
          </p:cNvSpPr>
          <p:nvPr/>
        </p:nvSpPr>
        <p:spPr bwMode="auto">
          <a:xfrm>
            <a:off x="1619250" y="281314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5" name="Rectangle 63"/>
          <p:cNvSpPr>
            <a:spLocks noChangeArrowheads="1"/>
          </p:cNvSpPr>
          <p:nvPr/>
        </p:nvSpPr>
        <p:spPr bwMode="auto">
          <a:xfrm>
            <a:off x="1619250" y="2956020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6" name="Rectangle 64"/>
          <p:cNvSpPr>
            <a:spLocks noChangeArrowheads="1"/>
          </p:cNvSpPr>
          <p:nvPr/>
        </p:nvSpPr>
        <p:spPr bwMode="auto">
          <a:xfrm>
            <a:off x="1619250" y="310048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7" name="Rectangle 65"/>
          <p:cNvSpPr>
            <a:spLocks noChangeArrowheads="1"/>
          </p:cNvSpPr>
          <p:nvPr/>
        </p:nvSpPr>
        <p:spPr bwMode="auto">
          <a:xfrm>
            <a:off x="2051050" y="26686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8" name="Rectangle 66"/>
          <p:cNvSpPr>
            <a:spLocks noChangeArrowheads="1"/>
          </p:cNvSpPr>
          <p:nvPr/>
        </p:nvSpPr>
        <p:spPr bwMode="auto">
          <a:xfrm>
            <a:off x="2051050" y="281314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19" name="Rectangle 67"/>
          <p:cNvSpPr>
            <a:spLocks noChangeArrowheads="1"/>
          </p:cNvSpPr>
          <p:nvPr/>
        </p:nvSpPr>
        <p:spPr bwMode="auto">
          <a:xfrm>
            <a:off x="2051050" y="29560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0" name="Rectangle 68"/>
          <p:cNvSpPr>
            <a:spLocks noChangeArrowheads="1"/>
          </p:cNvSpPr>
          <p:nvPr/>
        </p:nvSpPr>
        <p:spPr bwMode="auto">
          <a:xfrm>
            <a:off x="2051050" y="31004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1" name="Rectangle 69"/>
          <p:cNvSpPr>
            <a:spLocks noChangeArrowheads="1"/>
          </p:cNvSpPr>
          <p:nvPr/>
        </p:nvSpPr>
        <p:spPr bwMode="auto">
          <a:xfrm>
            <a:off x="2411413" y="26686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2" name="Rectangle 70"/>
          <p:cNvSpPr>
            <a:spLocks noChangeArrowheads="1"/>
          </p:cNvSpPr>
          <p:nvPr/>
        </p:nvSpPr>
        <p:spPr bwMode="auto">
          <a:xfrm>
            <a:off x="2411413" y="281314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3" name="Rectangle 71"/>
          <p:cNvSpPr>
            <a:spLocks noChangeArrowheads="1"/>
          </p:cNvSpPr>
          <p:nvPr/>
        </p:nvSpPr>
        <p:spPr bwMode="auto">
          <a:xfrm>
            <a:off x="2411413" y="29560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4" name="Rectangle 72"/>
          <p:cNvSpPr>
            <a:spLocks noChangeArrowheads="1"/>
          </p:cNvSpPr>
          <p:nvPr/>
        </p:nvSpPr>
        <p:spPr bwMode="auto">
          <a:xfrm>
            <a:off x="2411413" y="31004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5" name="Rectangle 73"/>
          <p:cNvSpPr>
            <a:spLocks noChangeArrowheads="1"/>
          </p:cNvSpPr>
          <p:nvPr/>
        </p:nvSpPr>
        <p:spPr bwMode="auto">
          <a:xfrm>
            <a:off x="3132138" y="2524220"/>
            <a:ext cx="1296987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6" name="Rectangle 74"/>
          <p:cNvSpPr>
            <a:spLocks noChangeArrowheads="1"/>
          </p:cNvSpPr>
          <p:nvPr/>
        </p:nvSpPr>
        <p:spPr bwMode="auto">
          <a:xfrm>
            <a:off x="3276600" y="266868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7" name="Rectangle 75"/>
          <p:cNvSpPr>
            <a:spLocks noChangeArrowheads="1"/>
          </p:cNvSpPr>
          <p:nvPr/>
        </p:nvSpPr>
        <p:spPr bwMode="auto">
          <a:xfrm>
            <a:off x="3276600" y="281314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8" name="Rectangle 76"/>
          <p:cNvSpPr>
            <a:spLocks noChangeArrowheads="1"/>
          </p:cNvSpPr>
          <p:nvPr/>
        </p:nvSpPr>
        <p:spPr bwMode="auto">
          <a:xfrm>
            <a:off x="3276600" y="2956020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29" name="Rectangle 77"/>
          <p:cNvSpPr>
            <a:spLocks noChangeArrowheads="1"/>
          </p:cNvSpPr>
          <p:nvPr/>
        </p:nvSpPr>
        <p:spPr bwMode="auto">
          <a:xfrm>
            <a:off x="3276600" y="310048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0" name="Rectangle 78"/>
          <p:cNvSpPr>
            <a:spLocks noChangeArrowheads="1"/>
          </p:cNvSpPr>
          <p:nvPr/>
        </p:nvSpPr>
        <p:spPr bwMode="auto">
          <a:xfrm>
            <a:off x="3708400" y="26686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1" name="Rectangle 79"/>
          <p:cNvSpPr>
            <a:spLocks noChangeArrowheads="1"/>
          </p:cNvSpPr>
          <p:nvPr/>
        </p:nvSpPr>
        <p:spPr bwMode="auto">
          <a:xfrm>
            <a:off x="3708400" y="281314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2" name="Rectangle 80"/>
          <p:cNvSpPr>
            <a:spLocks noChangeArrowheads="1"/>
          </p:cNvSpPr>
          <p:nvPr/>
        </p:nvSpPr>
        <p:spPr bwMode="auto">
          <a:xfrm>
            <a:off x="3708400" y="29560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3" name="Rectangle 81"/>
          <p:cNvSpPr>
            <a:spLocks noChangeArrowheads="1"/>
          </p:cNvSpPr>
          <p:nvPr/>
        </p:nvSpPr>
        <p:spPr bwMode="auto">
          <a:xfrm>
            <a:off x="3708400" y="31004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4" name="Rectangle 82"/>
          <p:cNvSpPr>
            <a:spLocks noChangeArrowheads="1"/>
          </p:cNvSpPr>
          <p:nvPr/>
        </p:nvSpPr>
        <p:spPr bwMode="auto">
          <a:xfrm>
            <a:off x="4068763" y="26686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5" name="Rectangle 83"/>
          <p:cNvSpPr>
            <a:spLocks noChangeArrowheads="1"/>
          </p:cNvSpPr>
          <p:nvPr/>
        </p:nvSpPr>
        <p:spPr bwMode="auto">
          <a:xfrm>
            <a:off x="4068763" y="281314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6" name="Rectangle 84"/>
          <p:cNvSpPr>
            <a:spLocks noChangeArrowheads="1"/>
          </p:cNvSpPr>
          <p:nvPr/>
        </p:nvSpPr>
        <p:spPr bwMode="auto">
          <a:xfrm>
            <a:off x="4068763" y="29560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7" name="Rectangle 85"/>
          <p:cNvSpPr>
            <a:spLocks noChangeArrowheads="1"/>
          </p:cNvSpPr>
          <p:nvPr/>
        </p:nvSpPr>
        <p:spPr bwMode="auto">
          <a:xfrm>
            <a:off x="4068763" y="31004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8" name="Rectangle 86"/>
          <p:cNvSpPr>
            <a:spLocks noChangeArrowheads="1"/>
          </p:cNvSpPr>
          <p:nvPr/>
        </p:nvSpPr>
        <p:spPr bwMode="auto">
          <a:xfrm>
            <a:off x="4930775" y="2524220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39" name="Rectangle 87"/>
          <p:cNvSpPr>
            <a:spLocks noChangeArrowheads="1"/>
          </p:cNvSpPr>
          <p:nvPr/>
        </p:nvSpPr>
        <p:spPr bwMode="auto">
          <a:xfrm>
            <a:off x="5075238" y="2668683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0" name="Rectangle 88"/>
          <p:cNvSpPr>
            <a:spLocks noChangeArrowheads="1"/>
          </p:cNvSpPr>
          <p:nvPr/>
        </p:nvSpPr>
        <p:spPr bwMode="auto">
          <a:xfrm>
            <a:off x="5075238" y="281314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1" name="Rectangle 89"/>
          <p:cNvSpPr>
            <a:spLocks noChangeArrowheads="1"/>
          </p:cNvSpPr>
          <p:nvPr/>
        </p:nvSpPr>
        <p:spPr bwMode="auto">
          <a:xfrm>
            <a:off x="5075238" y="295602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2" name="Rectangle 90"/>
          <p:cNvSpPr>
            <a:spLocks noChangeArrowheads="1"/>
          </p:cNvSpPr>
          <p:nvPr/>
        </p:nvSpPr>
        <p:spPr bwMode="auto">
          <a:xfrm>
            <a:off x="5075238" y="3100483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3" name="Rectangle 91"/>
          <p:cNvSpPr>
            <a:spLocks noChangeArrowheads="1"/>
          </p:cNvSpPr>
          <p:nvPr/>
        </p:nvSpPr>
        <p:spPr bwMode="auto">
          <a:xfrm>
            <a:off x="5507038" y="26686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4" name="Rectangle 92"/>
          <p:cNvSpPr>
            <a:spLocks noChangeArrowheads="1"/>
          </p:cNvSpPr>
          <p:nvPr/>
        </p:nvSpPr>
        <p:spPr bwMode="auto">
          <a:xfrm>
            <a:off x="5507038" y="281314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5" name="Rectangle 93"/>
          <p:cNvSpPr>
            <a:spLocks noChangeArrowheads="1"/>
          </p:cNvSpPr>
          <p:nvPr/>
        </p:nvSpPr>
        <p:spPr bwMode="auto">
          <a:xfrm>
            <a:off x="5507038" y="29560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6" name="Rectangle 94"/>
          <p:cNvSpPr>
            <a:spLocks noChangeArrowheads="1"/>
          </p:cNvSpPr>
          <p:nvPr/>
        </p:nvSpPr>
        <p:spPr bwMode="auto">
          <a:xfrm>
            <a:off x="5507038" y="31004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7" name="Rectangle 95"/>
          <p:cNvSpPr>
            <a:spLocks noChangeArrowheads="1"/>
          </p:cNvSpPr>
          <p:nvPr/>
        </p:nvSpPr>
        <p:spPr bwMode="auto">
          <a:xfrm>
            <a:off x="5867400" y="26686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8" name="Rectangle 96"/>
          <p:cNvSpPr>
            <a:spLocks noChangeArrowheads="1"/>
          </p:cNvSpPr>
          <p:nvPr/>
        </p:nvSpPr>
        <p:spPr bwMode="auto">
          <a:xfrm>
            <a:off x="5867400" y="281314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49" name="Rectangle 97"/>
          <p:cNvSpPr>
            <a:spLocks noChangeArrowheads="1"/>
          </p:cNvSpPr>
          <p:nvPr/>
        </p:nvSpPr>
        <p:spPr bwMode="auto">
          <a:xfrm>
            <a:off x="5867400" y="29560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0" name="Rectangle 98"/>
          <p:cNvSpPr>
            <a:spLocks noChangeArrowheads="1"/>
          </p:cNvSpPr>
          <p:nvPr/>
        </p:nvSpPr>
        <p:spPr bwMode="auto">
          <a:xfrm>
            <a:off x="5867400" y="31004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1" name="Rectangle 99"/>
          <p:cNvSpPr>
            <a:spLocks noChangeArrowheads="1"/>
          </p:cNvSpPr>
          <p:nvPr/>
        </p:nvSpPr>
        <p:spPr bwMode="auto">
          <a:xfrm>
            <a:off x="7019925" y="2524220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2" name="Rectangle 100"/>
          <p:cNvSpPr>
            <a:spLocks noChangeArrowheads="1"/>
          </p:cNvSpPr>
          <p:nvPr/>
        </p:nvSpPr>
        <p:spPr bwMode="auto">
          <a:xfrm>
            <a:off x="7164388" y="2668683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3" name="Rectangle 101"/>
          <p:cNvSpPr>
            <a:spLocks noChangeArrowheads="1"/>
          </p:cNvSpPr>
          <p:nvPr/>
        </p:nvSpPr>
        <p:spPr bwMode="auto">
          <a:xfrm>
            <a:off x="7164388" y="295602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4" name="Rectangle 102"/>
          <p:cNvSpPr>
            <a:spLocks noChangeArrowheads="1"/>
          </p:cNvSpPr>
          <p:nvPr/>
        </p:nvSpPr>
        <p:spPr bwMode="auto">
          <a:xfrm>
            <a:off x="7164388" y="3100483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5" name="Rectangle 103"/>
          <p:cNvSpPr>
            <a:spLocks noChangeArrowheads="1"/>
          </p:cNvSpPr>
          <p:nvPr/>
        </p:nvSpPr>
        <p:spPr bwMode="auto">
          <a:xfrm>
            <a:off x="7596188" y="26686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6" name="Rectangle 104"/>
          <p:cNvSpPr>
            <a:spLocks noChangeArrowheads="1"/>
          </p:cNvSpPr>
          <p:nvPr/>
        </p:nvSpPr>
        <p:spPr bwMode="auto">
          <a:xfrm>
            <a:off x="7596188" y="281314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7" name="Rectangle 105"/>
          <p:cNvSpPr>
            <a:spLocks noChangeArrowheads="1"/>
          </p:cNvSpPr>
          <p:nvPr/>
        </p:nvSpPr>
        <p:spPr bwMode="auto">
          <a:xfrm>
            <a:off x="7596188" y="29560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8" name="Rectangle 106"/>
          <p:cNvSpPr>
            <a:spLocks noChangeArrowheads="1"/>
          </p:cNvSpPr>
          <p:nvPr/>
        </p:nvSpPr>
        <p:spPr bwMode="auto">
          <a:xfrm>
            <a:off x="7596188" y="31004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59" name="Rectangle 107"/>
          <p:cNvSpPr>
            <a:spLocks noChangeArrowheads="1"/>
          </p:cNvSpPr>
          <p:nvPr/>
        </p:nvSpPr>
        <p:spPr bwMode="auto">
          <a:xfrm>
            <a:off x="7956550" y="26686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0" name="Rectangle 108"/>
          <p:cNvSpPr>
            <a:spLocks noChangeArrowheads="1"/>
          </p:cNvSpPr>
          <p:nvPr/>
        </p:nvSpPr>
        <p:spPr bwMode="auto">
          <a:xfrm>
            <a:off x="7956550" y="281314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1" name="Rectangle 109"/>
          <p:cNvSpPr>
            <a:spLocks noChangeArrowheads="1"/>
          </p:cNvSpPr>
          <p:nvPr/>
        </p:nvSpPr>
        <p:spPr bwMode="auto">
          <a:xfrm>
            <a:off x="7956550" y="29560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2" name="Rectangle 110"/>
          <p:cNvSpPr>
            <a:spLocks noChangeArrowheads="1"/>
          </p:cNvSpPr>
          <p:nvPr/>
        </p:nvSpPr>
        <p:spPr bwMode="auto">
          <a:xfrm>
            <a:off x="7956550" y="31004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3" name="Rectangle 111"/>
          <p:cNvSpPr>
            <a:spLocks noChangeArrowheads="1"/>
          </p:cNvSpPr>
          <p:nvPr/>
        </p:nvSpPr>
        <p:spPr bwMode="auto">
          <a:xfrm>
            <a:off x="7164388" y="281314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4" name="Rectangle 112"/>
          <p:cNvSpPr>
            <a:spLocks noChangeArrowheads="1"/>
          </p:cNvSpPr>
          <p:nvPr/>
        </p:nvSpPr>
        <p:spPr bwMode="auto">
          <a:xfrm>
            <a:off x="1546225" y="4251420"/>
            <a:ext cx="1296988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5" name="Rectangle 113"/>
          <p:cNvSpPr>
            <a:spLocks noChangeArrowheads="1"/>
          </p:cNvSpPr>
          <p:nvPr/>
        </p:nvSpPr>
        <p:spPr bwMode="auto">
          <a:xfrm>
            <a:off x="1690688" y="4395883"/>
            <a:ext cx="360362" cy="71437"/>
          </a:xfrm>
          <a:prstGeom prst="rect">
            <a:avLst/>
          </a:prstGeom>
          <a:solidFill>
            <a:srgbClr val="FF33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6" name="Rectangle 114"/>
          <p:cNvSpPr>
            <a:spLocks noChangeArrowheads="1"/>
          </p:cNvSpPr>
          <p:nvPr/>
        </p:nvSpPr>
        <p:spPr bwMode="auto">
          <a:xfrm>
            <a:off x="1690688" y="4540345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7" name="Rectangle 115"/>
          <p:cNvSpPr>
            <a:spLocks noChangeArrowheads="1"/>
          </p:cNvSpPr>
          <p:nvPr/>
        </p:nvSpPr>
        <p:spPr bwMode="auto">
          <a:xfrm>
            <a:off x="1690688" y="4683220"/>
            <a:ext cx="360362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8" name="Rectangle 116"/>
          <p:cNvSpPr>
            <a:spLocks noChangeArrowheads="1"/>
          </p:cNvSpPr>
          <p:nvPr/>
        </p:nvSpPr>
        <p:spPr bwMode="auto">
          <a:xfrm>
            <a:off x="1690688" y="4827683"/>
            <a:ext cx="360362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69" name="Rectangle 117"/>
          <p:cNvSpPr>
            <a:spLocks noChangeArrowheads="1"/>
          </p:cNvSpPr>
          <p:nvPr/>
        </p:nvSpPr>
        <p:spPr bwMode="auto">
          <a:xfrm>
            <a:off x="2122488" y="43958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0" name="Rectangle 118"/>
          <p:cNvSpPr>
            <a:spLocks noChangeArrowheads="1"/>
          </p:cNvSpPr>
          <p:nvPr/>
        </p:nvSpPr>
        <p:spPr bwMode="auto">
          <a:xfrm>
            <a:off x="2122488" y="454034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1" name="Rectangle 119"/>
          <p:cNvSpPr>
            <a:spLocks noChangeArrowheads="1"/>
          </p:cNvSpPr>
          <p:nvPr/>
        </p:nvSpPr>
        <p:spPr bwMode="auto">
          <a:xfrm>
            <a:off x="2122488" y="46832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2" name="Rectangle 120"/>
          <p:cNvSpPr>
            <a:spLocks noChangeArrowheads="1"/>
          </p:cNvSpPr>
          <p:nvPr/>
        </p:nvSpPr>
        <p:spPr bwMode="auto">
          <a:xfrm>
            <a:off x="2122488" y="48276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3" name="Rectangle 121"/>
          <p:cNvSpPr>
            <a:spLocks noChangeArrowheads="1"/>
          </p:cNvSpPr>
          <p:nvPr/>
        </p:nvSpPr>
        <p:spPr bwMode="auto">
          <a:xfrm>
            <a:off x="2482850" y="43958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4" name="Rectangle 122"/>
          <p:cNvSpPr>
            <a:spLocks noChangeArrowheads="1"/>
          </p:cNvSpPr>
          <p:nvPr/>
        </p:nvSpPr>
        <p:spPr bwMode="auto">
          <a:xfrm>
            <a:off x="2482850" y="454034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5" name="Rectangle 123"/>
          <p:cNvSpPr>
            <a:spLocks noChangeArrowheads="1"/>
          </p:cNvSpPr>
          <p:nvPr/>
        </p:nvSpPr>
        <p:spPr bwMode="auto">
          <a:xfrm>
            <a:off x="2482850" y="46832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6" name="Rectangle 124"/>
          <p:cNvSpPr>
            <a:spLocks noChangeArrowheads="1"/>
          </p:cNvSpPr>
          <p:nvPr/>
        </p:nvSpPr>
        <p:spPr bwMode="auto">
          <a:xfrm>
            <a:off x="2482850" y="48276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7" name="Rectangle 125"/>
          <p:cNvSpPr>
            <a:spLocks noChangeArrowheads="1"/>
          </p:cNvSpPr>
          <p:nvPr/>
        </p:nvSpPr>
        <p:spPr bwMode="auto">
          <a:xfrm>
            <a:off x="3201988" y="4251420"/>
            <a:ext cx="1296987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8" name="Rectangle 126"/>
          <p:cNvSpPr>
            <a:spLocks noChangeArrowheads="1"/>
          </p:cNvSpPr>
          <p:nvPr/>
        </p:nvSpPr>
        <p:spPr bwMode="auto">
          <a:xfrm>
            <a:off x="3346450" y="439588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79" name="Rectangle 127"/>
          <p:cNvSpPr>
            <a:spLocks noChangeArrowheads="1"/>
          </p:cNvSpPr>
          <p:nvPr/>
        </p:nvSpPr>
        <p:spPr bwMode="auto">
          <a:xfrm>
            <a:off x="3346450" y="454034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0" name="Rectangle 128"/>
          <p:cNvSpPr>
            <a:spLocks noChangeArrowheads="1"/>
          </p:cNvSpPr>
          <p:nvPr/>
        </p:nvSpPr>
        <p:spPr bwMode="auto">
          <a:xfrm>
            <a:off x="3346450" y="4683220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1" name="Rectangle 129"/>
          <p:cNvSpPr>
            <a:spLocks noChangeArrowheads="1"/>
          </p:cNvSpPr>
          <p:nvPr/>
        </p:nvSpPr>
        <p:spPr bwMode="auto">
          <a:xfrm>
            <a:off x="3346450" y="482768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2" name="Rectangle 130"/>
          <p:cNvSpPr>
            <a:spLocks noChangeArrowheads="1"/>
          </p:cNvSpPr>
          <p:nvPr/>
        </p:nvSpPr>
        <p:spPr bwMode="auto">
          <a:xfrm>
            <a:off x="3778250" y="43958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3" name="Rectangle 131"/>
          <p:cNvSpPr>
            <a:spLocks noChangeArrowheads="1"/>
          </p:cNvSpPr>
          <p:nvPr/>
        </p:nvSpPr>
        <p:spPr bwMode="auto">
          <a:xfrm>
            <a:off x="3778250" y="454034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4" name="Rectangle 132"/>
          <p:cNvSpPr>
            <a:spLocks noChangeArrowheads="1"/>
          </p:cNvSpPr>
          <p:nvPr/>
        </p:nvSpPr>
        <p:spPr bwMode="auto">
          <a:xfrm>
            <a:off x="3778250" y="46832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5" name="Rectangle 133"/>
          <p:cNvSpPr>
            <a:spLocks noChangeArrowheads="1"/>
          </p:cNvSpPr>
          <p:nvPr/>
        </p:nvSpPr>
        <p:spPr bwMode="auto">
          <a:xfrm>
            <a:off x="3778250" y="48276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6" name="Rectangle 134"/>
          <p:cNvSpPr>
            <a:spLocks noChangeArrowheads="1"/>
          </p:cNvSpPr>
          <p:nvPr/>
        </p:nvSpPr>
        <p:spPr bwMode="auto">
          <a:xfrm>
            <a:off x="4138613" y="43958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7" name="Rectangle 135"/>
          <p:cNvSpPr>
            <a:spLocks noChangeArrowheads="1"/>
          </p:cNvSpPr>
          <p:nvPr/>
        </p:nvSpPr>
        <p:spPr bwMode="auto">
          <a:xfrm>
            <a:off x="4138613" y="454034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8" name="Rectangle 136"/>
          <p:cNvSpPr>
            <a:spLocks noChangeArrowheads="1"/>
          </p:cNvSpPr>
          <p:nvPr/>
        </p:nvSpPr>
        <p:spPr bwMode="auto">
          <a:xfrm>
            <a:off x="4138613" y="46832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89" name="Rectangle 137"/>
          <p:cNvSpPr>
            <a:spLocks noChangeArrowheads="1"/>
          </p:cNvSpPr>
          <p:nvPr/>
        </p:nvSpPr>
        <p:spPr bwMode="auto">
          <a:xfrm>
            <a:off x="4138613" y="48276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0" name="Rectangle 138"/>
          <p:cNvSpPr>
            <a:spLocks noChangeArrowheads="1"/>
          </p:cNvSpPr>
          <p:nvPr/>
        </p:nvSpPr>
        <p:spPr bwMode="auto">
          <a:xfrm>
            <a:off x="5002213" y="4251420"/>
            <a:ext cx="1296987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1" name="Rectangle 139"/>
          <p:cNvSpPr>
            <a:spLocks noChangeArrowheads="1"/>
          </p:cNvSpPr>
          <p:nvPr/>
        </p:nvSpPr>
        <p:spPr bwMode="auto">
          <a:xfrm>
            <a:off x="5146675" y="439588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2" name="Rectangle 140"/>
          <p:cNvSpPr>
            <a:spLocks noChangeArrowheads="1"/>
          </p:cNvSpPr>
          <p:nvPr/>
        </p:nvSpPr>
        <p:spPr bwMode="auto">
          <a:xfrm>
            <a:off x="5146675" y="454034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3" name="Rectangle 141"/>
          <p:cNvSpPr>
            <a:spLocks noChangeArrowheads="1"/>
          </p:cNvSpPr>
          <p:nvPr/>
        </p:nvSpPr>
        <p:spPr bwMode="auto">
          <a:xfrm>
            <a:off x="5146675" y="4683220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4" name="Rectangle 142"/>
          <p:cNvSpPr>
            <a:spLocks noChangeArrowheads="1"/>
          </p:cNvSpPr>
          <p:nvPr/>
        </p:nvSpPr>
        <p:spPr bwMode="auto">
          <a:xfrm>
            <a:off x="5146675" y="482768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5" name="Rectangle 143"/>
          <p:cNvSpPr>
            <a:spLocks noChangeArrowheads="1"/>
          </p:cNvSpPr>
          <p:nvPr/>
        </p:nvSpPr>
        <p:spPr bwMode="auto">
          <a:xfrm>
            <a:off x="5578475" y="43958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6" name="Rectangle 144"/>
          <p:cNvSpPr>
            <a:spLocks noChangeArrowheads="1"/>
          </p:cNvSpPr>
          <p:nvPr/>
        </p:nvSpPr>
        <p:spPr bwMode="auto">
          <a:xfrm>
            <a:off x="5578475" y="454034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7" name="Rectangle 145"/>
          <p:cNvSpPr>
            <a:spLocks noChangeArrowheads="1"/>
          </p:cNvSpPr>
          <p:nvPr/>
        </p:nvSpPr>
        <p:spPr bwMode="auto">
          <a:xfrm>
            <a:off x="5578475" y="46832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8" name="Rectangle 146"/>
          <p:cNvSpPr>
            <a:spLocks noChangeArrowheads="1"/>
          </p:cNvSpPr>
          <p:nvPr/>
        </p:nvSpPr>
        <p:spPr bwMode="auto">
          <a:xfrm>
            <a:off x="5578475" y="48276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199" name="Rectangle 147"/>
          <p:cNvSpPr>
            <a:spLocks noChangeArrowheads="1"/>
          </p:cNvSpPr>
          <p:nvPr/>
        </p:nvSpPr>
        <p:spPr bwMode="auto">
          <a:xfrm>
            <a:off x="5938838" y="43958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0" name="Rectangle 148"/>
          <p:cNvSpPr>
            <a:spLocks noChangeArrowheads="1"/>
          </p:cNvSpPr>
          <p:nvPr/>
        </p:nvSpPr>
        <p:spPr bwMode="auto">
          <a:xfrm>
            <a:off x="5938838" y="454034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1" name="Rectangle 149"/>
          <p:cNvSpPr>
            <a:spLocks noChangeArrowheads="1"/>
          </p:cNvSpPr>
          <p:nvPr/>
        </p:nvSpPr>
        <p:spPr bwMode="auto">
          <a:xfrm>
            <a:off x="5938838" y="46832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2" name="Rectangle 150"/>
          <p:cNvSpPr>
            <a:spLocks noChangeArrowheads="1"/>
          </p:cNvSpPr>
          <p:nvPr/>
        </p:nvSpPr>
        <p:spPr bwMode="auto">
          <a:xfrm>
            <a:off x="5938838" y="48276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3" name="Rectangle 151"/>
          <p:cNvSpPr>
            <a:spLocks noChangeArrowheads="1"/>
          </p:cNvSpPr>
          <p:nvPr/>
        </p:nvSpPr>
        <p:spPr bwMode="auto">
          <a:xfrm>
            <a:off x="7091363" y="4251420"/>
            <a:ext cx="1296987" cy="792163"/>
          </a:xfrm>
          <a:prstGeom prst="rect">
            <a:avLst/>
          </a:prstGeom>
          <a:solidFill>
            <a:srgbClr val="C2D4D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4" name="Rectangle 152"/>
          <p:cNvSpPr>
            <a:spLocks noChangeArrowheads="1"/>
          </p:cNvSpPr>
          <p:nvPr/>
        </p:nvSpPr>
        <p:spPr bwMode="auto">
          <a:xfrm>
            <a:off x="7235825" y="439588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5" name="Rectangle 153"/>
          <p:cNvSpPr>
            <a:spLocks noChangeArrowheads="1"/>
          </p:cNvSpPr>
          <p:nvPr/>
        </p:nvSpPr>
        <p:spPr bwMode="auto">
          <a:xfrm>
            <a:off x="7235825" y="4683220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6" name="Rectangle 154"/>
          <p:cNvSpPr>
            <a:spLocks noChangeArrowheads="1"/>
          </p:cNvSpPr>
          <p:nvPr/>
        </p:nvSpPr>
        <p:spPr bwMode="auto">
          <a:xfrm>
            <a:off x="7235825" y="4827683"/>
            <a:ext cx="360363" cy="714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7" name="Rectangle 155"/>
          <p:cNvSpPr>
            <a:spLocks noChangeArrowheads="1"/>
          </p:cNvSpPr>
          <p:nvPr/>
        </p:nvSpPr>
        <p:spPr bwMode="auto">
          <a:xfrm>
            <a:off x="7667625" y="43958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8" name="Rectangle 156"/>
          <p:cNvSpPr>
            <a:spLocks noChangeArrowheads="1"/>
          </p:cNvSpPr>
          <p:nvPr/>
        </p:nvSpPr>
        <p:spPr bwMode="auto">
          <a:xfrm>
            <a:off x="7667625" y="4540345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09" name="Rectangle 157"/>
          <p:cNvSpPr>
            <a:spLocks noChangeArrowheads="1"/>
          </p:cNvSpPr>
          <p:nvPr/>
        </p:nvSpPr>
        <p:spPr bwMode="auto">
          <a:xfrm>
            <a:off x="7667625" y="4683220"/>
            <a:ext cx="288925" cy="714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10" name="Rectangle 158"/>
          <p:cNvSpPr>
            <a:spLocks noChangeArrowheads="1"/>
          </p:cNvSpPr>
          <p:nvPr/>
        </p:nvSpPr>
        <p:spPr bwMode="auto">
          <a:xfrm>
            <a:off x="7667625" y="4827683"/>
            <a:ext cx="288925" cy="714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11" name="Rectangle 159"/>
          <p:cNvSpPr>
            <a:spLocks noChangeArrowheads="1"/>
          </p:cNvSpPr>
          <p:nvPr/>
        </p:nvSpPr>
        <p:spPr bwMode="auto">
          <a:xfrm>
            <a:off x="8027988" y="43958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12" name="Rectangle 160"/>
          <p:cNvSpPr>
            <a:spLocks noChangeArrowheads="1"/>
          </p:cNvSpPr>
          <p:nvPr/>
        </p:nvSpPr>
        <p:spPr bwMode="auto">
          <a:xfrm>
            <a:off x="8027988" y="4540345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13" name="Rectangle 161"/>
          <p:cNvSpPr>
            <a:spLocks noChangeArrowheads="1"/>
          </p:cNvSpPr>
          <p:nvPr/>
        </p:nvSpPr>
        <p:spPr bwMode="auto">
          <a:xfrm>
            <a:off x="8027988" y="4683220"/>
            <a:ext cx="215900" cy="71438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14" name="Rectangle 162"/>
          <p:cNvSpPr>
            <a:spLocks noChangeArrowheads="1"/>
          </p:cNvSpPr>
          <p:nvPr/>
        </p:nvSpPr>
        <p:spPr bwMode="auto">
          <a:xfrm>
            <a:off x="8027988" y="4827683"/>
            <a:ext cx="215900" cy="71437"/>
          </a:xfrm>
          <a:prstGeom prst="rect">
            <a:avLst/>
          </a:prstGeom>
          <a:solidFill>
            <a:srgbClr val="F5FBA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15" name="Rectangle 163"/>
          <p:cNvSpPr>
            <a:spLocks noChangeArrowheads="1"/>
          </p:cNvSpPr>
          <p:nvPr/>
        </p:nvSpPr>
        <p:spPr bwMode="auto">
          <a:xfrm>
            <a:off x="7235825" y="4540345"/>
            <a:ext cx="360363" cy="714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16" name="Text Box 268"/>
          <p:cNvSpPr txBox="1">
            <a:spLocks noChangeArrowheads="1"/>
          </p:cNvSpPr>
          <p:nvPr/>
        </p:nvSpPr>
        <p:spPr bwMode="auto">
          <a:xfrm>
            <a:off x="6280150" y="150980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17" name="Text Box 269"/>
          <p:cNvSpPr txBox="1">
            <a:spLocks noChangeArrowheads="1"/>
          </p:cNvSpPr>
          <p:nvPr/>
        </p:nvSpPr>
        <p:spPr bwMode="auto">
          <a:xfrm>
            <a:off x="6372225" y="270360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18" name="Text Box 270"/>
          <p:cNvSpPr txBox="1">
            <a:spLocks noChangeArrowheads="1"/>
          </p:cNvSpPr>
          <p:nvPr/>
        </p:nvSpPr>
        <p:spPr bwMode="auto">
          <a:xfrm>
            <a:off x="6372225" y="443080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19" name="Text Box 271"/>
          <p:cNvSpPr txBox="1">
            <a:spLocks noChangeArrowheads="1"/>
          </p:cNvSpPr>
          <p:nvPr/>
        </p:nvSpPr>
        <p:spPr bwMode="auto">
          <a:xfrm>
            <a:off x="1763713" y="353228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20" name="Text Box 272"/>
          <p:cNvSpPr txBox="1">
            <a:spLocks noChangeArrowheads="1"/>
          </p:cNvSpPr>
          <p:nvPr/>
        </p:nvSpPr>
        <p:spPr bwMode="auto">
          <a:xfrm>
            <a:off x="3563938" y="360372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21" name="Text Box 273"/>
          <p:cNvSpPr txBox="1">
            <a:spLocks noChangeArrowheads="1"/>
          </p:cNvSpPr>
          <p:nvPr/>
        </p:nvSpPr>
        <p:spPr bwMode="auto">
          <a:xfrm>
            <a:off x="5219700" y="367674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22" name="Text Box 274"/>
          <p:cNvSpPr txBox="1">
            <a:spLocks noChangeArrowheads="1"/>
          </p:cNvSpPr>
          <p:nvPr/>
        </p:nvSpPr>
        <p:spPr bwMode="auto">
          <a:xfrm>
            <a:off x="7380288" y="360372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23" name="Text Box 275"/>
          <p:cNvSpPr txBox="1">
            <a:spLocks noChangeArrowheads="1"/>
          </p:cNvSpPr>
          <p:nvPr/>
        </p:nvSpPr>
        <p:spPr bwMode="auto">
          <a:xfrm>
            <a:off x="1835150" y="497214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24" name="Text Box 276"/>
          <p:cNvSpPr txBox="1">
            <a:spLocks noChangeArrowheads="1"/>
          </p:cNvSpPr>
          <p:nvPr/>
        </p:nvSpPr>
        <p:spPr bwMode="auto">
          <a:xfrm>
            <a:off x="3635375" y="504358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25" name="Text Box 277"/>
          <p:cNvSpPr txBox="1">
            <a:spLocks noChangeArrowheads="1"/>
          </p:cNvSpPr>
          <p:nvPr/>
        </p:nvSpPr>
        <p:spPr bwMode="auto">
          <a:xfrm>
            <a:off x="5291138" y="511660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26" name="Text Box 278"/>
          <p:cNvSpPr txBox="1">
            <a:spLocks noChangeArrowheads="1"/>
          </p:cNvSpPr>
          <p:nvPr/>
        </p:nvSpPr>
        <p:spPr bwMode="auto">
          <a:xfrm>
            <a:off x="7451725" y="504358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>
                <a:latin typeface="Arial" pitchFamily="34" charset="0"/>
              </a:rPr>
              <a:t>…</a:t>
            </a:r>
          </a:p>
        </p:txBody>
      </p:sp>
      <p:sp>
        <p:nvSpPr>
          <p:cNvPr id="173227" name="Text Box 279"/>
          <p:cNvSpPr txBox="1">
            <a:spLocks noChangeArrowheads="1"/>
          </p:cNvSpPr>
          <p:nvPr/>
        </p:nvSpPr>
        <p:spPr bwMode="auto">
          <a:xfrm>
            <a:off x="4008930" y="5923729"/>
            <a:ext cx="1416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 err="1">
                <a:latin typeface="Arial" pitchFamily="34" charset="0"/>
              </a:rPr>
              <a:t>Order_date</a:t>
            </a:r>
            <a:endParaRPr kumimoji="0" lang="en-AU" altLang="en-US" sz="1800" b="1" dirty="0">
              <a:latin typeface="Arial" pitchFamily="34" charset="0"/>
            </a:endParaRPr>
          </a:p>
        </p:txBody>
      </p:sp>
      <p:sp>
        <p:nvSpPr>
          <p:cNvPr id="173228" name="Text Box 280"/>
          <p:cNvSpPr txBox="1">
            <a:spLocks noChangeArrowheads="1"/>
          </p:cNvSpPr>
          <p:nvPr/>
        </p:nvSpPr>
        <p:spPr bwMode="auto">
          <a:xfrm>
            <a:off x="214313" y="812895"/>
            <a:ext cx="12874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Ship_date</a:t>
            </a:r>
          </a:p>
        </p:txBody>
      </p:sp>
      <p:sp>
        <p:nvSpPr>
          <p:cNvPr id="173229" name="Text Box 282"/>
          <p:cNvSpPr txBox="1">
            <a:spLocks noChangeArrowheads="1"/>
          </p:cNvSpPr>
          <p:nvPr/>
        </p:nvSpPr>
        <p:spPr bwMode="auto">
          <a:xfrm>
            <a:off x="1600200" y="5567458"/>
            <a:ext cx="8778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Jan 08</a:t>
            </a:r>
          </a:p>
        </p:txBody>
      </p:sp>
      <p:sp>
        <p:nvSpPr>
          <p:cNvPr id="173230" name="Text Box 283"/>
          <p:cNvSpPr txBox="1">
            <a:spLocks noChangeArrowheads="1"/>
          </p:cNvSpPr>
          <p:nvPr/>
        </p:nvSpPr>
        <p:spPr bwMode="auto">
          <a:xfrm>
            <a:off x="3184525" y="5567458"/>
            <a:ext cx="9032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Feb 08</a:t>
            </a:r>
          </a:p>
        </p:txBody>
      </p:sp>
      <p:sp>
        <p:nvSpPr>
          <p:cNvPr id="173231" name="Text Box 284"/>
          <p:cNvSpPr txBox="1">
            <a:spLocks noChangeArrowheads="1"/>
          </p:cNvSpPr>
          <p:nvPr/>
        </p:nvSpPr>
        <p:spPr bwMode="auto">
          <a:xfrm>
            <a:off x="5148263" y="5613495"/>
            <a:ext cx="903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Mar 08</a:t>
            </a:r>
          </a:p>
        </p:txBody>
      </p:sp>
      <p:sp>
        <p:nvSpPr>
          <p:cNvPr id="173232" name="Text Box 285"/>
          <p:cNvSpPr txBox="1">
            <a:spLocks noChangeArrowheads="1"/>
          </p:cNvSpPr>
          <p:nvPr/>
        </p:nvSpPr>
        <p:spPr bwMode="auto">
          <a:xfrm>
            <a:off x="7154863" y="5619845"/>
            <a:ext cx="915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Dec 08</a:t>
            </a:r>
          </a:p>
        </p:txBody>
      </p:sp>
      <p:sp>
        <p:nvSpPr>
          <p:cNvPr id="173233" name="Text Box 290"/>
          <p:cNvSpPr txBox="1">
            <a:spLocks noChangeArrowheads="1"/>
          </p:cNvSpPr>
          <p:nvPr/>
        </p:nvSpPr>
        <p:spPr bwMode="auto">
          <a:xfrm>
            <a:off x="376238" y="1608233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Jan 08</a:t>
            </a:r>
          </a:p>
        </p:txBody>
      </p:sp>
      <p:sp>
        <p:nvSpPr>
          <p:cNvPr id="173234" name="Text Box 291"/>
          <p:cNvSpPr txBox="1">
            <a:spLocks noChangeArrowheads="1"/>
          </p:cNvSpPr>
          <p:nvPr/>
        </p:nvSpPr>
        <p:spPr bwMode="auto">
          <a:xfrm>
            <a:off x="519113" y="2616295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Feb 08</a:t>
            </a:r>
          </a:p>
        </p:txBody>
      </p:sp>
      <p:sp>
        <p:nvSpPr>
          <p:cNvPr id="173235" name="Text Box 292"/>
          <p:cNvSpPr txBox="1">
            <a:spLocks noChangeArrowheads="1"/>
          </p:cNvSpPr>
          <p:nvPr/>
        </p:nvSpPr>
        <p:spPr bwMode="auto">
          <a:xfrm>
            <a:off x="303213" y="4416520"/>
            <a:ext cx="908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>
                <a:latin typeface="Arial" pitchFamily="34" charset="0"/>
              </a:rPr>
              <a:t>Dec 08</a:t>
            </a:r>
          </a:p>
        </p:txBody>
      </p:sp>
      <p:sp>
        <p:nvSpPr>
          <p:cNvPr id="173236" name="Rectangle 294"/>
          <p:cNvSpPr>
            <a:spLocks noChangeArrowheads="1"/>
          </p:cNvSpPr>
          <p:nvPr/>
        </p:nvSpPr>
        <p:spPr bwMode="auto">
          <a:xfrm>
            <a:off x="3059113" y="1227233"/>
            <a:ext cx="1584325" cy="396240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37" name="Rectangle 295"/>
          <p:cNvSpPr>
            <a:spLocks noChangeArrowheads="1"/>
          </p:cNvSpPr>
          <p:nvPr/>
        </p:nvSpPr>
        <p:spPr bwMode="auto">
          <a:xfrm>
            <a:off x="1403350" y="2379758"/>
            <a:ext cx="7056438" cy="1008062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  <p:sp>
        <p:nvSpPr>
          <p:cNvPr id="173238" name="Oval 296"/>
          <p:cNvSpPr>
            <a:spLocks noChangeArrowheads="1"/>
          </p:cNvSpPr>
          <p:nvPr/>
        </p:nvSpPr>
        <p:spPr bwMode="auto">
          <a:xfrm>
            <a:off x="2916238" y="2235295"/>
            <a:ext cx="1800225" cy="1296988"/>
          </a:xfrm>
          <a:prstGeom prst="ellipse">
            <a:avLst/>
          </a:prstGeom>
          <a:noFill/>
          <a:ln w="57150">
            <a:solidFill>
              <a:srgbClr val="F5FB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fr-FR" altLang="en-US" sz="18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32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r>
              <a:rPr lang="en-US" altLang="en-US" dirty="0" smtClean="0"/>
              <a:t>11g Virtual Column Partitioning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4137" y="1127234"/>
            <a:ext cx="82296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3000" dirty="0" smtClean="0">
                <a:solidFill>
                  <a:schemeClr val="tx1"/>
                </a:solidFill>
              </a:rPr>
              <a:t>Virtual columns introduced in Oracle 11g.</a:t>
            </a:r>
          </a:p>
          <a:p>
            <a:pPr eaLnBrk="1" hangingPunct="1"/>
            <a:r>
              <a:rPr lang="en-AU" altLang="en-US" sz="3000" dirty="0" smtClean="0">
                <a:solidFill>
                  <a:schemeClr val="tx1"/>
                </a:solidFill>
              </a:rPr>
              <a:t>Virtual columns using functions and  expressions.</a:t>
            </a:r>
          </a:p>
          <a:p>
            <a:pPr eaLnBrk="1" hangingPunct="1"/>
            <a:r>
              <a:rPr lang="en-AU" altLang="en-US" sz="3000" dirty="0" smtClean="0">
                <a:solidFill>
                  <a:schemeClr val="tx1"/>
                </a:solidFill>
              </a:rPr>
              <a:t>Virtual column not stored physically.</a:t>
            </a:r>
          </a:p>
          <a:p>
            <a:pPr eaLnBrk="1" hangingPunct="1"/>
            <a:r>
              <a:rPr lang="en-AU" altLang="en-US" sz="3000" dirty="0" smtClean="0">
                <a:solidFill>
                  <a:schemeClr val="tx1"/>
                </a:solidFill>
              </a:rPr>
              <a:t>Partition data as per business rules and requirements – not just based on application requirements.</a:t>
            </a:r>
          </a:p>
          <a:p>
            <a:pPr eaLnBrk="1" hangingPunct="1"/>
            <a:r>
              <a:rPr lang="en-AU" altLang="en-US" sz="3000" dirty="0" smtClean="0">
                <a:solidFill>
                  <a:schemeClr val="tx1"/>
                </a:solidFill>
              </a:rPr>
              <a:t>Treated as real columns – only DML not allowed.</a:t>
            </a:r>
          </a:p>
          <a:p>
            <a:pPr eaLnBrk="1" hangingPunct="1"/>
            <a:r>
              <a:rPr lang="en-AU" altLang="en-US" sz="3000" dirty="0" smtClean="0">
                <a:solidFill>
                  <a:schemeClr val="tx1"/>
                </a:solidFill>
              </a:rPr>
              <a:t>Enhanced performance and manageability</a:t>
            </a:r>
          </a:p>
        </p:txBody>
      </p:sp>
    </p:spTree>
    <p:extLst>
      <p:ext uri="{BB962C8B-B14F-4D97-AF65-F5344CB8AC3E}">
        <p14:creationId xmlns:p14="http://schemas.microsoft.com/office/powerpoint/2010/main" val="225291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77450" y="3849250"/>
            <a:ext cx="7358062" cy="2567315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7" name="Rectangle 6"/>
          <p:cNvSpPr/>
          <p:nvPr/>
        </p:nvSpPr>
        <p:spPr>
          <a:xfrm>
            <a:off x="877450" y="867103"/>
            <a:ext cx="7286625" cy="2767834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510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34662" y="848875"/>
            <a:ext cx="8229600" cy="3000375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emp_year_sal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	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ename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VARCHAR2(20),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	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NUMBER,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	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yearly_sal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AS (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*12) </a:t>
            </a:r>
            <a:r>
              <a:rPr lang="en-AU" altLang="en-US" sz="1600" b="1" dirty="0" smtClean="0">
                <a:solidFill>
                  <a:srgbClr val="CC3300"/>
                </a:solidFill>
                <a:latin typeface="Courier New" pitchFamily="49" charset="0"/>
                <a:cs typeface="Courier New" pitchFamily="49" charset="0"/>
              </a:rPr>
              <a:t>VIRTUAL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	</a:t>
            </a:r>
            <a:r>
              <a:rPr lang="en-AU" altLang="en-US" sz="1600" b="1" dirty="0" smtClean="0">
                <a:solidFill>
                  <a:srgbClr val="CC3300"/>
                </a:solidFill>
                <a:latin typeface="Courier New" pitchFamily="49" charset="0"/>
                <a:cs typeface="Courier New" pitchFamily="49" charset="0"/>
              </a:rPr>
              <a:t>PARTITION BY RANGE (</a:t>
            </a:r>
            <a:r>
              <a:rPr lang="en-AU" altLang="en-US" sz="1600" b="1" dirty="0" err="1" smtClean="0">
                <a:solidFill>
                  <a:srgbClr val="CC3300"/>
                </a:solidFill>
                <a:latin typeface="Courier New" pitchFamily="49" charset="0"/>
                <a:cs typeface="Courier New" pitchFamily="49" charset="0"/>
              </a:rPr>
              <a:t>yearly_sal</a:t>
            </a:r>
            <a:r>
              <a:rPr lang="en-AU" altLang="en-US" sz="1600" b="1" dirty="0" smtClean="0">
                <a:solidFill>
                  <a:srgbClr val="CC330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altLang="en-US" sz="1600" b="1" dirty="0" smtClean="0">
              <a:solidFill>
                <a:srgbClr val="CC33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	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(PARTITION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low_sal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VALUES LESS THAN (20000),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	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PARTITION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mid_sal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VALUES LESS THAN (40000),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	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PARTITION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high_sal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VALUES LESS THAN (60000),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	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PARTITION others VALUES LESS THAN (MAXVALUE));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5110" name="Rectangle 5"/>
          <p:cNvSpPr>
            <a:spLocks noChangeArrowheads="1"/>
          </p:cNvSpPr>
          <p:nvPr/>
        </p:nvSpPr>
        <p:spPr bwMode="auto">
          <a:xfrm>
            <a:off x="1748495" y="3826094"/>
            <a:ext cx="6000750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SQL&gt; SELECT </a:t>
            </a:r>
            <a:r>
              <a:rPr kumimoji="0" lang="en-AU" altLang="en-US" sz="1600" b="1" dirty="0" err="1">
                <a:latin typeface="Courier New" pitchFamily="49" charset="0"/>
                <a:cs typeface="Courier New" pitchFamily="49" charset="0"/>
              </a:rPr>
              <a:t>ename,sal,</a:t>
            </a:r>
            <a:r>
              <a:rPr kumimoji="0" lang="en-AU" altLang="en-US" sz="1600" b="1" dirty="0" err="1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yearly_sal</a:t>
            </a:r>
            <a:r>
              <a:rPr kumimoji="0" lang="en-AU" altLang="en-US" sz="16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kumimoji="0" lang="en-AU" altLang="en-US" sz="1600" b="1" dirty="0" err="1">
                <a:latin typeface="Courier New" pitchFamily="49" charset="0"/>
                <a:cs typeface="Courier New" pitchFamily="49" charset="0"/>
              </a:rPr>
              <a:t>emp_year_sal</a:t>
            </a: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endParaRPr kumimoji="0" lang="en-AU" altLang="en-US" sz="16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ENAME             SAL YEARLY_SAL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---------- ---------- ----------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SMITH             800       </a:t>
            </a:r>
            <a:r>
              <a:rPr kumimoji="0" lang="en-AU" altLang="en-US" sz="16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9600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ALLEN            1600      </a:t>
            </a:r>
            <a:r>
              <a:rPr kumimoji="0" lang="en-AU" altLang="en-US" sz="16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19200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WARD             1250      </a:t>
            </a:r>
            <a:r>
              <a:rPr kumimoji="0" lang="en-AU" altLang="en-US" sz="16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15000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JONES            2975      </a:t>
            </a:r>
            <a:r>
              <a:rPr kumimoji="0" lang="en-AU" altLang="en-US" sz="16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35700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MARTIN           1250      </a:t>
            </a:r>
            <a:r>
              <a:rPr kumimoji="0" lang="en-AU" altLang="en-US" sz="16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15000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BLAKE            2850      </a:t>
            </a:r>
            <a:r>
              <a:rPr kumimoji="0" lang="en-AU" altLang="en-US" sz="16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34200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CLARK            2450      </a:t>
            </a:r>
            <a:r>
              <a:rPr kumimoji="0" lang="en-AU" altLang="en-US" sz="16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29400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 dirty="0">
                <a:latin typeface="Courier New" pitchFamily="49" charset="0"/>
                <a:cs typeface="Courier New" pitchFamily="49" charset="0"/>
              </a:rPr>
              <a:t>SCOTT            3000      </a:t>
            </a:r>
            <a:r>
              <a:rPr kumimoji="0" lang="en-AU" altLang="en-US" sz="1600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36000</a:t>
            </a:r>
          </a:p>
        </p:txBody>
      </p:sp>
    </p:spTree>
    <p:extLst>
      <p:ext uri="{BB962C8B-B14F-4D97-AF65-F5344CB8AC3E}">
        <p14:creationId xmlns:p14="http://schemas.microsoft.com/office/powerpoint/2010/main" val="270730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5750" y="3929063"/>
            <a:ext cx="8215313" cy="2424440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285750" y="819807"/>
            <a:ext cx="8143875" cy="2823506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61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857250"/>
            <a:ext cx="8229600" cy="4525963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SELECT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ename,sal,yearly_sal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FROM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emp_year_sal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PARTITION (</a:t>
            </a:r>
            <a:r>
              <a:rPr lang="en-AU" altLang="en-US" sz="1600" b="1" dirty="0" err="1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low_sal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ENAME                       SAL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YEARLY_SAL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-------------------- ---------- 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SMITH                       800       9600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ALLEN                      1600      19200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WARD                       1250      15000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MARTIN                     1250      15000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TURNER                     1500      18000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ADAMS                      1100      13200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SELECT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ename,sal,yearly_sal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FROM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emp_year_sal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PARTITION(</a:t>
            </a:r>
            <a:r>
              <a:rPr lang="en-AU" altLang="en-US" sz="1600" b="1" dirty="0" err="1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mid_sal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ENAME                       SAL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YEARLY_SAL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-------------------- ---------- 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JONES                      2975      35700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BLAKE                      2850      34200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CLARK                      2450      29400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SCOTT                      3000      36000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FORD                       3000      36000</a:t>
            </a:r>
          </a:p>
        </p:txBody>
      </p:sp>
    </p:spTree>
    <p:extLst>
      <p:ext uri="{BB962C8B-B14F-4D97-AF65-F5344CB8AC3E}">
        <p14:creationId xmlns:p14="http://schemas.microsoft.com/office/powerpoint/2010/main" val="416107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0242" name="Group 2"/>
          <p:cNvGraphicFramePr>
            <a:graphicFrameLocks noGrp="1"/>
          </p:cNvGraphicFramePr>
          <p:nvPr>
            <p:ph idx="4294967295"/>
          </p:nvPr>
        </p:nvGraphicFramePr>
        <p:xfrm>
          <a:off x="504496" y="915441"/>
          <a:ext cx="8229600" cy="5075455"/>
        </p:xfrm>
        <a:graphic>
          <a:graphicData uri="http://schemas.openxmlformats.org/drawingml/2006/table">
            <a:tbl>
              <a:tblPr/>
              <a:tblGrid>
                <a:gridCol w="2443655"/>
                <a:gridCol w="2774731"/>
                <a:gridCol w="3011214"/>
              </a:tblGrid>
              <a:tr h="68527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Partitioning Strategy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Data Distribution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Sample Business Usage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4DC"/>
                    </a:solidFill>
                  </a:tcPr>
                </a:tc>
              </a:tr>
              <a:tr h="529278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Range Partitioning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Based on consecutive ranges of values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Orders table range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partitioned by order_date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984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List Partitioning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Based on unordered lists of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values.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Orders table list partitioned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by country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984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Hash Partitioning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Based on a hash algorithm.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Orders table hash partitioned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by customer_id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01218">
                <a:tc>
                  <a:txBody>
                    <a:bodyPr/>
                    <a:lstStyle>
                      <a:lvl1pPr marL="342900" indent="-3429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marL="6858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marL="11430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marL="16002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marL="2057400" indent="-2286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Composite Partitioning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Range-Range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Range-List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Range-Hash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List-List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List-Range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List-Hash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BA3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Based on a combination of two of the above-mentioned basic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techniques of Range, List,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Hash, and Interval Partitioning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Orders table is range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partitioned by </a:t>
                      </a:r>
                      <a:r>
                        <a:rPr kumimoji="1" lang="en-AU" alt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order_date</a:t>
                      </a:r>
                      <a:endParaRPr kumimoji="1" lang="en-A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and sub-partitioned by hash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on </a:t>
                      </a:r>
                      <a:r>
                        <a:rPr kumimoji="1" lang="en-AU" alt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customer_id</a:t>
                      </a:r>
                      <a:endParaRPr kumimoji="1" lang="en-A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Orders table is range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partitioned by </a:t>
                      </a:r>
                      <a:r>
                        <a:rPr kumimoji="1" lang="en-AU" alt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order_date</a:t>
                      </a:r>
                      <a:endParaRPr kumimoji="1" lang="en-A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and sub-partitioned by range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on </a:t>
                      </a:r>
                      <a:r>
                        <a:rPr kumimoji="1" lang="en-AU" alt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shipment_date</a:t>
                      </a:r>
                      <a:endParaRPr kumimoji="1" lang="en-A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7180" name="Text Box 28"/>
          <p:cNvSpPr txBox="1">
            <a:spLocks noChangeArrowheads="1"/>
          </p:cNvSpPr>
          <p:nvPr/>
        </p:nvSpPr>
        <p:spPr bwMode="auto">
          <a:xfrm>
            <a:off x="2290762" y="0"/>
            <a:ext cx="49055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800" b="1" dirty="0">
                <a:solidFill>
                  <a:srgbClr val="0099FF"/>
                </a:solidFill>
                <a:latin typeface="Arial" pitchFamily="34" charset="0"/>
              </a:rPr>
              <a:t>10g Partitioning - Summary</a:t>
            </a:r>
            <a:r>
              <a:rPr kumimoji="0" lang="en-AU" altLang="en-US" sz="1200" dirty="0">
                <a:solidFill>
                  <a:srgbClr val="0099FF"/>
                </a:solidFill>
                <a:latin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97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r>
              <a:rPr lang="en-AU" altLang="en-US" smtClean="0"/>
              <a:t>11g Partitioning - Summary</a:t>
            </a:r>
          </a:p>
        </p:txBody>
      </p:sp>
      <p:graphicFrame>
        <p:nvGraphicFramePr>
          <p:cNvPr id="651267" name="Group 3"/>
          <p:cNvGraphicFramePr>
            <a:graphicFrameLocks noGrp="1"/>
          </p:cNvGraphicFramePr>
          <p:nvPr>
            <p:ph idx="4294967295"/>
          </p:nvPr>
        </p:nvGraphicFramePr>
        <p:xfrm>
          <a:off x="141887" y="621088"/>
          <a:ext cx="8907517" cy="6031960"/>
        </p:xfrm>
        <a:graphic>
          <a:graphicData uri="http://schemas.openxmlformats.org/drawingml/2006/table">
            <a:tbl>
              <a:tblPr/>
              <a:tblGrid>
                <a:gridCol w="2207244"/>
                <a:gridCol w="3625998"/>
                <a:gridCol w="3074275"/>
              </a:tblGrid>
              <a:tr h="430998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Partitioning Extension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Partitioning Key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Sample Business Usage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565482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Interval Partitioning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Interval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Interval-Range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Interval-List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Char char="="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Interval-Hash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An extension to Range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Partition. Defined by an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interval, providing equi-width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ranges. With the exception of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the first partition all partitions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are automatically created ondemand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when matching data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arrives.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Orders table partitioned by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order_date with a predefined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daily interval, starting with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'01-Jan-2007'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1374750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REF Partitioning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Partitioning for a child table is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inherited from the parent table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through a primary key –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foreign key relationship. The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partitioning keys are not stored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in actual columns in the child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table.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(Parent) Orders table range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partitioned by order_date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and inherits the partitioning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technique to (child) order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lines table. Column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order_date is only present 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the parent orders table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183635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Virtual column based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Partitioning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Defined by one of the abovementioned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partition techniques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and the partitioning key is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based on a virtual column.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Virtual columns are not stored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on disk and only exist as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metadata.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ebdings" pitchFamily="18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Orders table has a virtual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column that derives the sales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region based on the first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three digits of the customer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account number. The orders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table is then list partitioned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1" lang="en-AU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by sales region.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57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altLang="en-US" smtClean="0"/>
              <a:t>Partition Data Dictionary Views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2965" y="1426780"/>
            <a:ext cx="82296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DBA_PART_TABLES</a:t>
            </a:r>
          </a:p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DBA_TAB_PARTITIONS</a:t>
            </a:r>
          </a:p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DBA_TAB_SUBPARTITIONS</a:t>
            </a:r>
          </a:p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DBA_PART_KEY_COLUMNS</a:t>
            </a:r>
          </a:p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DBA_PART_HISTOGRAMS</a:t>
            </a:r>
          </a:p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DBA_PART_INDEXES</a:t>
            </a:r>
          </a:p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DBA_IND_PARTITIONS</a:t>
            </a:r>
            <a:br>
              <a:rPr lang="en-AU" altLang="en-US" dirty="0" smtClean="0">
                <a:solidFill>
                  <a:schemeClr val="tx1"/>
                </a:solidFill>
              </a:rPr>
            </a:br>
            <a:r>
              <a:rPr lang="en-AU" altLang="en-US" dirty="0" smtClean="0">
                <a:solidFill>
                  <a:schemeClr val="tx1"/>
                </a:solidFill>
              </a:rPr>
              <a:t>DBA_IND_SUBPARTITIONS</a:t>
            </a:r>
          </a:p>
          <a:p>
            <a:pPr eaLnBrk="1" hangingPunct="1"/>
            <a:endParaRPr lang="en-AU" alt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28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ChangeArrowheads="1"/>
          </p:cNvSpPr>
          <p:nvPr/>
        </p:nvSpPr>
        <p:spPr bwMode="auto">
          <a:xfrm>
            <a:off x="468313" y="1196975"/>
            <a:ext cx="8207375" cy="446405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18022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altLang="en-US" smtClean="0"/>
              <a:t>Working with Partitions</a:t>
            </a:r>
          </a:p>
        </p:txBody>
      </p:sp>
      <p:sp>
        <p:nvSpPr>
          <p:cNvPr id="1802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0213" y="1484313"/>
            <a:ext cx="8713787" cy="5040312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AU" altLang="en-US" sz="180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SQL&gt; select order_date from order_details </a:t>
            </a:r>
            <a:r>
              <a:rPr lang="en-AU" altLang="en-US" sz="1800" b="1" smtClean="0">
                <a:solidFill>
                  <a:srgbClr val="FF3300"/>
                </a:solidFill>
                <a:latin typeface="Courier New" pitchFamily="49" charset="0"/>
              </a:rPr>
              <a:t>partition(p_jan);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800" b="1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SQL&gt; select count(*) from SALES_DATA_COMP </a:t>
            </a:r>
            <a:r>
              <a:rPr lang="en-AU" altLang="en-US" sz="1800" b="1" smtClean="0">
                <a:solidFill>
                  <a:srgbClr val="FF3300"/>
                </a:solidFill>
                <a:latin typeface="Courier New" pitchFamily="49" charset="0"/>
              </a:rPr>
              <a:t>subpartition(SALES_2000_SP2);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800" b="1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endParaRPr lang="en-AU" altLang="en-US" sz="1800" b="1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$ exp system/manager TABLES=(</a:t>
            </a:r>
            <a:r>
              <a:rPr lang="en-AU" altLang="en-US" sz="1800" b="1" smtClean="0">
                <a:solidFill>
                  <a:srgbClr val="FF3300"/>
                </a:solidFill>
                <a:latin typeface="Courier New" pitchFamily="49" charset="0"/>
              </a:rPr>
              <a:t>order_details:p_jan</a:t>
            </a:r>
            <a:r>
              <a:rPr lang="en-AU" altLang="en-US" sz="1800" b="1" smtClean="0">
                <a:latin typeface="Courier New" pitchFamily="49" charset="0"/>
              </a:rPr>
              <a:t>) 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800" b="1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b="1" smtClean="0">
                <a:latin typeface="Courier New" pitchFamily="49" charset="0"/>
              </a:rPr>
              <a:t>$ exp system/manager TABLES=(order_details:p_jan, </a:t>
            </a:r>
            <a:r>
              <a:rPr lang="en-AU" altLang="en-US" sz="1800" b="1" smtClean="0">
                <a:solidFill>
                  <a:srgbClr val="FF3300"/>
                </a:solidFill>
                <a:latin typeface="Courier New" pitchFamily="49" charset="0"/>
              </a:rPr>
              <a:t>order_details:p_jan_subpart1</a:t>
            </a:r>
            <a:r>
              <a:rPr lang="en-AU" altLang="en-US" sz="1800" b="1" smtClean="0">
                <a:latin typeface="Courier New" pitchFamily="49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98241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altLang="en-US" smtClean="0"/>
              <a:t>Local and Global Indexes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62144" y="884224"/>
            <a:ext cx="8229600" cy="5000625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/>
              <a:t>LOCAL INDEX</a:t>
            </a:r>
          </a:p>
          <a:p>
            <a:pPr eaLnBrk="1" hangingPunct="1">
              <a:buFont typeface="Webdings" pitchFamily="18" charset="2"/>
              <a:buNone/>
            </a:pPr>
            <a:endParaRPr lang="en-US" altLang="en-US" sz="16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smtClean="0">
                <a:solidFill>
                  <a:srgbClr val="7030A0"/>
                </a:solidFill>
              </a:rPr>
              <a:t>Index partition</a:t>
            </a: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err="1" smtClean="0">
                <a:solidFill>
                  <a:srgbClr val="7030A0"/>
                </a:solidFill>
              </a:rPr>
              <a:t>equipartitioned</a:t>
            </a:r>
            <a:endParaRPr lang="en-US" altLang="en-US" sz="1600" dirty="0" smtClean="0">
              <a:solidFill>
                <a:srgbClr val="7030A0"/>
              </a:solidFill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smtClean="0">
                <a:solidFill>
                  <a:srgbClr val="7030A0"/>
                </a:solidFill>
              </a:rPr>
              <a:t>with table</a:t>
            </a:r>
          </a:p>
          <a:p>
            <a:pPr eaLnBrk="1" hangingPunct="1">
              <a:buFont typeface="Webdings" pitchFamily="18" charset="2"/>
              <a:buNone/>
            </a:pPr>
            <a:endParaRPr lang="en-US" altLang="en-US" sz="1600" dirty="0" smtClean="0">
              <a:solidFill>
                <a:srgbClr val="7030A0"/>
              </a:solidFill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smtClean="0">
                <a:solidFill>
                  <a:srgbClr val="7030A0"/>
                </a:solidFill>
              </a:rPr>
              <a:t>Single index partition</a:t>
            </a: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smtClean="0">
                <a:solidFill>
                  <a:srgbClr val="7030A0"/>
                </a:solidFill>
              </a:rPr>
              <a:t>only contains rows from</a:t>
            </a: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smtClean="0">
                <a:solidFill>
                  <a:srgbClr val="7030A0"/>
                </a:solidFill>
              </a:rPr>
              <a:t>corresponding table partition</a:t>
            </a:r>
          </a:p>
          <a:p>
            <a:pPr eaLnBrk="1" hangingPunct="1">
              <a:buFont typeface="Webdings" pitchFamily="18" charset="2"/>
              <a:buNone/>
            </a:pPr>
            <a:endParaRPr lang="en-US" altLang="en-US" sz="2800" dirty="0" smtClean="0"/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/>
              <a:t>GLOBAL INDEX</a:t>
            </a:r>
          </a:p>
          <a:p>
            <a:pPr eaLnBrk="1" hangingPunct="1">
              <a:buFont typeface="Webdings" pitchFamily="18" charset="2"/>
              <a:buNone/>
            </a:pPr>
            <a:endParaRPr lang="en-US" altLang="en-US" sz="1600" dirty="0" smtClean="0"/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smtClean="0">
                <a:solidFill>
                  <a:srgbClr val="7030A0"/>
                </a:solidFill>
              </a:rPr>
              <a:t>Index partition can </a:t>
            </a: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smtClean="0">
                <a:solidFill>
                  <a:srgbClr val="7030A0"/>
                </a:solidFill>
              </a:rPr>
              <a:t>contain rows from </a:t>
            </a: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smtClean="0">
                <a:solidFill>
                  <a:srgbClr val="7030A0"/>
                </a:solidFill>
              </a:rPr>
              <a:t>several table </a:t>
            </a: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dirty="0" smtClean="0">
                <a:solidFill>
                  <a:srgbClr val="7030A0"/>
                </a:solidFill>
              </a:rPr>
              <a:t>partitions</a:t>
            </a:r>
          </a:p>
        </p:txBody>
      </p:sp>
      <p:pic>
        <p:nvPicPr>
          <p:cNvPr id="181252" name="Picture 4" descr="cncpt16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469" y="1009636"/>
            <a:ext cx="6192838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1253" name="Picture 5" descr="cncpt1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469" y="3543286"/>
            <a:ext cx="6121400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83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altLang="en-US" smtClean="0"/>
              <a:t>LOCAL Partitioned Index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2607" y="1143000"/>
            <a:ext cx="8781393" cy="484028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600" dirty="0" err="1" smtClean="0">
                <a:solidFill>
                  <a:schemeClr val="tx1"/>
                </a:solidFill>
              </a:rPr>
              <a:t>Equi</a:t>
            </a:r>
            <a:r>
              <a:rPr lang="en-AU" altLang="en-US" sz="2600" dirty="0" smtClean="0">
                <a:solidFill>
                  <a:schemeClr val="tx1"/>
                </a:solidFill>
              </a:rPr>
              <a:t>-partitioned – each partition of local index exactly associated with corresponding partition of the table.</a:t>
            </a:r>
          </a:p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Cannot explicitly add or drop local index partitions – partitions to the index are added or dropped based on partitions being added or dropped from base table.</a:t>
            </a:r>
          </a:p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Provide higher availability and ease of maintenance.</a:t>
            </a:r>
          </a:p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Partition maintenance operations on base table will only affect corresponding local index partition – other partitions of the index are not affected improving availability.</a:t>
            </a:r>
          </a:p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Most suited for DSS environments - easier to manage during data loads and during partition-maintenance operations </a:t>
            </a:r>
          </a:p>
          <a:p>
            <a:pPr eaLnBrk="1" hangingPunct="1"/>
            <a:endParaRPr lang="en-AU" altLang="en-US" sz="2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12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28625" y="1357313"/>
            <a:ext cx="8429625" cy="5000625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3323" y="1357313"/>
            <a:ext cx="8213835" cy="485775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AU" altLang="en-US" sz="500" dirty="0" smtClean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select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partition_name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from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user_tab_partitions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where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table_name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='ORDER_DETAILS';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PARTITION_NAME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---------------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P_FIRST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SYS_P81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SYS_P82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	create index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order_det_ind_local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on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order_details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	(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order_date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LOCAL       &lt;&lt; NO PARTITIONING KEY DEFINED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		(partition p1_ind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tablespace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users,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		partition p2_ind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tablespace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example);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dirty="0" smtClean="0">
                <a:latin typeface="Courier New" pitchFamily="49" charset="0"/>
                <a:cs typeface="Courier New" pitchFamily="49" charset="0"/>
              </a:rPr>
              <a:t>create index </a:t>
            </a:r>
            <a:r>
              <a:rPr lang="en-AU" altLang="en-US" sz="1600" dirty="0" err="1" smtClean="0">
                <a:latin typeface="Courier New" pitchFamily="49" charset="0"/>
                <a:cs typeface="Courier New" pitchFamily="49" charset="0"/>
              </a:rPr>
              <a:t>order_det_ind_local</a:t>
            </a:r>
            <a:r>
              <a:rPr lang="en-AU" altLang="en-US" sz="1600" dirty="0" smtClean="0">
                <a:latin typeface="Courier New" pitchFamily="49" charset="0"/>
                <a:cs typeface="Courier New" pitchFamily="49" charset="0"/>
              </a:rPr>
              <a:t> on </a:t>
            </a:r>
            <a:r>
              <a:rPr lang="en-AU" altLang="en-US" sz="1600" dirty="0" err="1" smtClean="0">
                <a:latin typeface="Courier New" pitchFamily="49" charset="0"/>
                <a:cs typeface="Courier New" pitchFamily="49" charset="0"/>
              </a:rPr>
              <a:t>order_details</a:t>
            </a:r>
            <a:r>
              <a:rPr lang="en-AU" altLang="en-US" sz="16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AU" altLang="en-US" sz="1600" dirty="0" err="1" smtClean="0">
                <a:latin typeface="Courier New" pitchFamily="49" charset="0"/>
                <a:cs typeface="Courier New" pitchFamily="49" charset="0"/>
              </a:rPr>
              <a:t>order_date</a:t>
            </a:r>
            <a:r>
              <a:rPr lang="en-AU" altLang="en-US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dirty="0" smtClean="0">
                <a:latin typeface="Courier New" pitchFamily="49" charset="0"/>
                <a:cs typeface="Courier New" pitchFamily="49" charset="0"/>
              </a:rPr>
              <a:t>                                    *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dirty="0" smtClean="0">
                <a:latin typeface="Courier New" pitchFamily="49" charset="0"/>
                <a:cs typeface="Courier New" pitchFamily="49" charset="0"/>
              </a:rPr>
              <a:t>ERROR at line 1: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dirty="0" smtClean="0">
                <a:latin typeface="Courier New" pitchFamily="49" charset="0"/>
                <a:cs typeface="Courier New" pitchFamily="49" charset="0"/>
              </a:rPr>
              <a:t>ORA-14024: number of partitions of LOCAL index must equal that of the underlying table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37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1285875"/>
            <a:ext cx="8429625" cy="4857750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84324" name="Content Placeholder 2"/>
          <p:cNvSpPr>
            <a:spLocks noGrp="1"/>
          </p:cNvSpPr>
          <p:nvPr>
            <p:ph idx="4294967295"/>
          </p:nvPr>
        </p:nvSpPr>
        <p:spPr>
          <a:xfrm>
            <a:off x="362606" y="1600200"/>
            <a:ext cx="7866993" cy="4525963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dirty="0" smtClean="0">
                <a:latin typeface="Courier New" pitchFamily="49" charset="0"/>
                <a:cs typeface="Courier New" pitchFamily="49" charset="0"/>
              </a:rPr>
              <a:t>SQL&gt; 	</a:t>
            </a: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create index </a:t>
            </a:r>
            <a:r>
              <a:rPr lang="en-AU" altLang="en-US" sz="1800" b="1" dirty="0" err="1" smtClean="0">
                <a:latin typeface="Courier New" pitchFamily="49" charset="0"/>
                <a:cs typeface="Courier New" pitchFamily="49" charset="0"/>
              </a:rPr>
              <a:t>order_det_ind_local</a:t>
            </a: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 on </a:t>
            </a:r>
            <a:r>
              <a:rPr lang="en-AU" altLang="en-US" sz="1800" b="1" dirty="0" err="1" smtClean="0">
                <a:latin typeface="Courier New" pitchFamily="49" charset="0"/>
                <a:cs typeface="Courier New" pitchFamily="49" charset="0"/>
              </a:rPr>
              <a:t>order_details</a:t>
            </a: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 	(</a:t>
            </a:r>
            <a:r>
              <a:rPr lang="en-AU" altLang="en-US" sz="1800" b="1" dirty="0" err="1" smtClean="0">
                <a:latin typeface="Courier New" pitchFamily="49" charset="0"/>
                <a:cs typeface="Courier New" pitchFamily="49" charset="0"/>
              </a:rPr>
              <a:t>order_date</a:t>
            </a: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AU" altLang="en-US" sz="18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LOCAL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AU" altLang="en-US" sz="1800" b="1" dirty="0" err="1" smtClean="0">
                <a:latin typeface="Courier New" pitchFamily="49" charset="0"/>
                <a:cs typeface="Courier New" pitchFamily="49" charset="0"/>
              </a:rPr>
              <a:t>tablespace</a:t>
            </a: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 example;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		Index created.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SQL&gt; 	select </a:t>
            </a:r>
            <a:r>
              <a:rPr lang="en-AU" altLang="en-US" sz="1800" b="1" dirty="0" err="1" smtClean="0">
                <a:latin typeface="Courier New" pitchFamily="49" charset="0"/>
                <a:cs typeface="Courier New" pitchFamily="49" charset="0"/>
              </a:rPr>
              <a:t>partition_name,tablespace_name</a:t>
            </a: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 from 	</a:t>
            </a:r>
            <a:r>
              <a:rPr lang="en-AU" altLang="en-US" sz="1800" b="1" dirty="0" err="1" smtClean="0">
                <a:latin typeface="Courier New" pitchFamily="49" charset="0"/>
                <a:cs typeface="Courier New" pitchFamily="49" charset="0"/>
              </a:rPr>
              <a:t>user_ind_partitions</a:t>
            </a: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 where 	</a:t>
            </a:r>
            <a:r>
              <a:rPr lang="en-AU" altLang="en-US" sz="1800" b="1" dirty="0" err="1" smtClean="0">
                <a:latin typeface="Courier New" pitchFamily="49" charset="0"/>
                <a:cs typeface="Courier New" pitchFamily="49" charset="0"/>
              </a:rPr>
              <a:t>index_name</a:t>
            </a: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='ORDER_DET_IND_LOCAL';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		PARTITION_NAME  TABLESPACE_NAME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		--------------- ------------------------------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		P_FIRST         EXAMPLE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		SYS_P102        EXAMPLE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  <a:cs typeface="Courier New" pitchFamily="49" charset="0"/>
              </a:rPr>
              <a:t>		SYS_P103        EXAMPLE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7806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AU" altLang="en-US" smtClean="0"/>
              <a:t>Global Partitioned Index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8014" y="1069593"/>
            <a:ext cx="8229600" cy="48577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Index partitioning key is independent of the table partitioning method.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Better suited for OLTP environments than local indexes.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Better performance as they minimise the number of index partition probes.</a:t>
            </a:r>
          </a:p>
          <a:p>
            <a:pPr eaLnBrk="1" hangingPunct="1"/>
            <a:r>
              <a:rPr lang="en-AU" altLang="en-US" sz="2800" dirty="0" smtClean="0">
                <a:solidFill>
                  <a:schemeClr val="tx1"/>
                </a:solidFill>
              </a:rPr>
              <a:t>Lower availability than local indexes as partition maintenance operations can affect all the index partitions.</a:t>
            </a:r>
          </a:p>
        </p:txBody>
      </p:sp>
    </p:spTree>
    <p:extLst>
      <p:ext uri="{BB962C8B-B14F-4D97-AF65-F5344CB8AC3E}">
        <p14:creationId xmlns:p14="http://schemas.microsoft.com/office/powerpoint/2010/main" val="379051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r>
              <a:rPr lang="en-AU" altLang="en-US" dirty="0" smtClean="0"/>
              <a:t>Global Partitioned Indexes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09904" y="1221828"/>
            <a:ext cx="82296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Highest partition of the global index needs to have a MAXVALUE clause to ensure all rows of the underlying table are represented – this partition cannot be dropped.</a:t>
            </a:r>
          </a:p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Can be created as a global hash or global range partitioned index.</a:t>
            </a:r>
          </a:p>
          <a:p>
            <a:pPr eaLnBrk="1" hangingPunct="1"/>
            <a:r>
              <a:rPr lang="en-AU" altLang="en-US" dirty="0" smtClean="0">
                <a:solidFill>
                  <a:schemeClr val="tx1"/>
                </a:solidFill>
              </a:rPr>
              <a:t>Can enable partition pruning to take place at the index level even if not possible on the underlying partitioned table</a:t>
            </a:r>
          </a:p>
        </p:txBody>
      </p:sp>
    </p:spTree>
    <p:extLst>
      <p:ext uri="{BB962C8B-B14F-4D97-AF65-F5344CB8AC3E}">
        <p14:creationId xmlns:p14="http://schemas.microsoft.com/office/powerpoint/2010/main" val="399110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ChangeArrowheads="1"/>
          </p:cNvSpPr>
          <p:nvPr/>
        </p:nvSpPr>
        <p:spPr bwMode="auto">
          <a:xfrm>
            <a:off x="484079" y="4050315"/>
            <a:ext cx="7991475" cy="201612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187395" name="Rectangle 3"/>
          <p:cNvSpPr>
            <a:spLocks noChangeArrowheads="1"/>
          </p:cNvSpPr>
          <p:nvPr/>
        </p:nvSpPr>
        <p:spPr bwMode="auto">
          <a:xfrm>
            <a:off x="468313" y="756745"/>
            <a:ext cx="7991475" cy="310405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873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38275" y="763588"/>
            <a:ext cx="7705725" cy="3097212"/>
          </a:xfrm>
          <a:prstGeom prst="rect">
            <a:avLst/>
          </a:prstGeom>
        </p:spPr>
        <p:txBody>
          <a:bodyPr/>
          <a:lstStyle/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CREATE INDEX </a:t>
            </a:r>
            <a:r>
              <a:rPr lang="en-AU" altLang="en-US" sz="1600" b="1" dirty="0" err="1" smtClean="0">
                <a:latin typeface="Courier New" pitchFamily="49" charset="0"/>
              </a:rPr>
              <a:t>order_id_ind_global</a:t>
            </a:r>
            <a:endParaRPr lang="en-AU" altLang="en-US" sz="16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ON </a:t>
            </a:r>
            <a:r>
              <a:rPr lang="en-AU" altLang="en-US" sz="1600" b="1" dirty="0" err="1" smtClean="0">
                <a:latin typeface="Courier New" pitchFamily="49" charset="0"/>
              </a:rPr>
              <a:t>order_details</a:t>
            </a:r>
            <a:r>
              <a:rPr lang="en-AU" altLang="en-US" sz="1600" b="1" dirty="0" smtClean="0">
                <a:latin typeface="Courier New" pitchFamily="49" charset="0"/>
              </a:rPr>
              <a:t> (</a:t>
            </a:r>
            <a:r>
              <a:rPr lang="en-AU" altLang="en-US" sz="1600" b="1" dirty="0" err="1" smtClean="0">
                <a:latin typeface="Courier New" pitchFamily="49" charset="0"/>
              </a:rPr>
              <a:t>order_id</a:t>
            </a:r>
            <a:r>
              <a:rPr lang="en-AU" altLang="en-US" sz="1600" b="1" dirty="0" smtClean="0">
                <a:latin typeface="Courier New" pitchFamily="49" charset="0"/>
              </a:rPr>
              <a:t>)</a:t>
            </a: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GLOBAL PARTITION BY RANGE (</a:t>
            </a:r>
            <a:r>
              <a:rPr lang="en-AU" altLang="en-US" sz="1600" b="1" dirty="0" err="1" smtClean="0">
                <a:solidFill>
                  <a:srgbClr val="FF3300"/>
                </a:solidFill>
                <a:latin typeface="Courier New" pitchFamily="49" charset="0"/>
              </a:rPr>
              <a:t>order_id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)</a:t>
            </a: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(PARTITION p_ind1 values less than (100001),</a:t>
            </a: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PARTITION p_ind2 values less than (200001),</a:t>
            </a: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PARTITION p_ind3 values less than (300001)); PARTITION p_ind3 values less than (300001))</a:t>
            </a:r>
          </a:p>
          <a:p>
            <a:pPr>
              <a:buFont typeface="Webdings" pitchFamily="18" charset="2"/>
              <a:buNone/>
            </a:pPr>
            <a:r>
              <a:rPr lang="en-AU" altLang="en-US" sz="1600" dirty="0" smtClean="0">
                <a:latin typeface="Courier New" pitchFamily="49" charset="0"/>
              </a:rPr>
              <a:t>                                          *</a:t>
            </a:r>
          </a:p>
          <a:p>
            <a:pPr>
              <a:buFont typeface="Webdings" pitchFamily="18" charset="2"/>
              <a:buNone/>
            </a:pPr>
            <a:r>
              <a:rPr lang="en-AU" altLang="en-US" sz="1600" dirty="0" smtClean="0">
                <a:latin typeface="Courier New" pitchFamily="49" charset="0"/>
              </a:rPr>
              <a:t>ERROR at line 6:</a:t>
            </a:r>
          </a:p>
          <a:p>
            <a:pPr>
              <a:buFont typeface="Webdings" pitchFamily="18" charset="2"/>
              <a:buNone/>
            </a:pPr>
            <a:r>
              <a:rPr lang="en-AU" altLang="en-US" sz="1600" dirty="0" smtClean="0">
                <a:latin typeface="Courier New" pitchFamily="49" charset="0"/>
              </a:rPr>
              <a:t>ORA-14021: MAXVALUE must be specified for all columns</a:t>
            </a:r>
          </a:p>
          <a:p>
            <a:pPr eaLnBrk="1" hangingPunct="1"/>
            <a:endParaRPr lang="en-AU" altLang="en-US" sz="1600" dirty="0" smtClean="0">
              <a:latin typeface="Courier New" pitchFamily="49" charset="0"/>
            </a:endParaRPr>
          </a:p>
        </p:txBody>
      </p:sp>
      <p:sp>
        <p:nvSpPr>
          <p:cNvPr id="187398" name="Text Box 6"/>
          <p:cNvSpPr txBox="1">
            <a:spLocks noChangeArrowheads="1"/>
          </p:cNvSpPr>
          <p:nvPr/>
        </p:nvSpPr>
        <p:spPr bwMode="auto">
          <a:xfrm>
            <a:off x="626954" y="4047140"/>
            <a:ext cx="6662737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latin typeface="Courier New" pitchFamily="49" charset="0"/>
              </a:rPr>
              <a:t>CREATE INDEX order_id_ind_global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latin typeface="Courier New" pitchFamily="49" charset="0"/>
              </a:rPr>
              <a:t> ON order_details (order_id)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solidFill>
                  <a:srgbClr val="FF3300"/>
                </a:solidFill>
                <a:latin typeface="Courier New" pitchFamily="49" charset="0"/>
              </a:rPr>
              <a:t>GLOBAL PARTITION BY RANGE (order_id)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latin typeface="Courier New" pitchFamily="49" charset="0"/>
              </a:rPr>
              <a:t> (PARTITION p_ind1 values less than (100001),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latin typeface="Courier New" pitchFamily="49" charset="0"/>
              </a:rPr>
              <a:t>PARTITION p_ind2 values less than (200001),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latin typeface="Courier New" pitchFamily="49" charset="0"/>
              </a:rPr>
              <a:t> PARTITION p_ind3 values less than (300001),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600" b="1">
                <a:latin typeface="Courier New" pitchFamily="49" charset="0"/>
              </a:rPr>
              <a:t> PARTITION p_ind_others values less than (</a:t>
            </a:r>
            <a:r>
              <a:rPr kumimoji="0" lang="en-AU" altLang="en-US" sz="1600" b="1">
                <a:solidFill>
                  <a:srgbClr val="FF3300"/>
                </a:solidFill>
                <a:latin typeface="Courier New" pitchFamily="49" charset="0"/>
              </a:rPr>
              <a:t>MAXVALUE</a:t>
            </a:r>
            <a:r>
              <a:rPr kumimoji="0" lang="en-AU" altLang="en-US" sz="1600" b="1">
                <a:latin typeface="Courier New" pitchFamily="49" charset="0"/>
              </a:rPr>
              <a:t>));</a:t>
            </a:r>
          </a:p>
        </p:txBody>
      </p:sp>
      <p:sp>
        <p:nvSpPr>
          <p:cNvPr id="187399" name="Text Box 7"/>
          <p:cNvSpPr txBox="1">
            <a:spLocks noChangeArrowheads="1"/>
          </p:cNvSpPr>
          <p:nvPr/>
        </p:nvSpPr>
        <p:spPr bwMode="auto">
          <a:xfrm>
            <a:off x="6732588" y="1125538"/>
            <a:ext cx="2038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Table Partitioned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on order_date</a:t>
            </a:r>
          </a:p>
        </p:txBody>
      </p:sp>
      <p:sp>
        <p:nvSpPr>
          <p:cNvPr id="187400" name="Rectangle 8"/>
          <p:cNvSpPr>
            <a:spLocks noChangeArrowheads="1"/>
          </p:cNvSpPr>
          <p:nvPr/>
        </p:nvSpPr>
        <p:spPr bwMode="auto">
          <a:xfrm>
            <a:off x="6732588" y="1125538"/>
            <a:ext cx="2087562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399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AU" altLang="en-US" smtClean="0"/>
              <a:t>Partition Maintenance Operations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5669" y="1058426"/>
            <a:ext cx="8481849" cy="4459506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Add 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Coalesce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Drop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Truncate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Split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Exchange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Move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Rename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Merge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….	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AU" altLang="en-US" sz="2400" dirty="0" smtClean="0">
                <a:solidFill>
                  <a:schemeClr val="tx1"/>
                </a:solidFill>
              </a:rPr>
              <a:t>Consider the effect of these operations on Index partitions …..</a:t>
            </a:r>
          </a:p>
        </p:txBody>
      </p:sp>
    </p:spTree>
    <p:extLst>
      <p:ext uri="{BB962C8B-B14F-4D97-AF65-F5344CB8AC3E}">
        <p14:creationId xmlns:p14="http://schemas.microsoft.com/office/powerpoint/2010/main" val="328443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ChangeArrowheads="1"/>
          </p:cNvSpPr>
          <p:nvPr/>
        </p:nvSpPr>
        <p:spPr bwMode="auto">
          <a:xfrm>
            <a:off x="250825" y="1412875"/>
            <a:ext cx="8569325" cy="45370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189443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altLang="en-US" smtClean="0"/>
              <a:t>Partition Maintenance</a:t>
            </a:r>
          </a:p>
        </p:txBody>
      </p:sp>
      <p:sp>
        <p:nvSpPr>
          <p:cNvPr id="1894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6840" y="1600200"/>
            <a:ext cx="7882759" cy="4185745"/>
          </a:xfrm>
          <a:prstGeom prst="rect">
            <a:avLst/>
          </a:prstGeom>
        </p:spPr>
        <p:txBody>
          <a:bodyPr/>
          <a:lstStyle/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ALTER TABLE sales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ADD PARTITION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jan96 VALUES LESS THAN ( '01-FEB-1999' ) TABLESPACE </a:t>
            </a:r>
            <a:r>
              <a:rPr lang="en-AU" altLang="en-US" sz="1600" b="1" dirty="0" err="1" smtClean="0">
                <a:solidFill>
                  <a:schemeClr val="accent2"/>
                </a:solidFill>
                <a:latin typeface="Courier New" pitchFamily="49" charset="0"/>
              </a:rPr>
              <a:t>tsx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; </a:t>
            </a:r>
          </a:p>
          <a:p>
            <a:pPr>
              <a:buFont typeface="Webdings" pitchFamily="18" charset="2"/>
              <a:buNone/>
            </a:pPr>
            <a:endParaRPr lang="en-AU" altLang="en-US" sz="16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ALTER TABLE </a:t>
            </a:r>
            <a:r>
              <a:rPr lang="en-AU" altLang="en-US" sz="1600" b="1" dirty="0" err="1" smtClean="0">
                <a:solidFill>
                  <a:schemeClr val="accent2"/>
                </a:solidFill>
                <a:latin typeface="Courier New" pitchFamily="49" charset="0"/>
              </a:rPr>
              <a:t>scubagear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ADD PARTITION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AU" altLang="en-US" sz="1600" b="1" dirty="0" err="1" smtClean="0">
                <a:solidFill>
                  <a:schemeClr val="accent2"/>
                </a:solidFill>
                <a:latin typeface="Courier New" pitchFamily="49" charset="0"/>
              </a:rPr>
              <a:t>p_named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TABLESPACE gear5; </a:t>
            </a:r>
          </a:p>
          <a:p>
            <a:pPr>
              <a:buFont typeface="Webdings" pitchFamily="18" charset="2"/>
              <a:buNone/>
            </a:pPr>
            <a:endParaRPr lang="en-AU" altLang="en-US" sz="16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ALTER TABLE parts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MOVE PARTITION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depot2 TABLESPACE ts094</a:t>
            </a: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NOLOGGING COMPRESS; </a:t>
            </a:r>
          </a:p>
          <a:p>
            <a:pPr>
              <a:buFont typeface="Webdings" pitchFamily="18" charset="2"/>
              <a:buNone/>
            </a:pPr>
            <a:endParaRPr lang="en-AU" altLang="en-US" sz="16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ALTER TABLE </a:t>
            </a:r>
            <a:r>
              <a:rPr lang="en-AU" altLang="en-US" sz="1600" b="1" dirty="0" err="1" smtClean="0">
                <a:solidFill>
                  <a:schemeClr val="accent2"/>
                </a:solidFill>
                <a:latin typeface="Courier New" pitchFamily="49" charset="0"/>
              </a:rPr>
              <a:t>order_details</a:t>
            </a:r>
            <a:endParaRPr lang="en-AU" altLang="en-US" sz="16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SPLIT PARTITION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p_2009 AT (TO_DATE ('01-JUL-2009','DD-MON-YYYY'))</a:t>
            </a: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INTO (PARTITION p_2009h1, PARTITION p_2009h2);</a:t>
            </a:r>
          </a:p>
          <a:p>
            <a:pPr>
              <a:buFont typeface="Webdings" pitchFamily="18" charset="2"/>
              <a:buNone/>
            </a:pPr>
            <a:endParaRPr lang="en-AU" altLang="en-US" sz="1600" b="1" dirty="0" smtClean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ALTER TABLE </a:t>
            </a:r>
            <a:r>
              <a:rPr lang="en-AU" altLang="en-US" sz="1600" b="1" dirty="0" err="1" smtClean="0">
                <a:solidFill>
                  <a:schemeClr val="accent2"/>
                </a:solidFill>
                <a:latin typeface="Courier New" pitchFamily="49" charset="0"/>
              </a:rPr>
              <a:t>four_seasons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MERGE PARTITIONS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AU" altLang="en-US" sz="1600" b="1" dirty="0" err="1" smtClean="0">
                <a:solidFill>
                  <a:schemeClr val="accent2"/>
                </a:solidFill>
                <a:latin typeface="Courier New" pitchFamily="49" charset="0"/>
              </a:rPr>
              <a:t>quarter_one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,</a:t>
            </a:r>
          </a:p>
          <a:p>
            <a:pPr>
              <a:buFont typeface="Webdings" pitchFamily="18" charset="2"/>
              <a:buNone/>
            </a:pPr>
            <a:r>
              <a:rPr lang="en-AU" altLang="en-US" sz="1600" b="1" dirty="0" err="1" smtClean="0">
                <a:solidFill>
                  <a:schemeClr val="accent2"/>
                </a:solidFill>
                <a:latin typeface="Courier New" pitchFamily="49" charset="0"/>
              </a:rPr>
              <a:t>quarter_two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INTO PARTITION </a:t>
            </a:r>
            <a:r>
              <a:rPr lang="en-AU" altLang="en-US" sz="1600" b="1" dirty="0" err="1" smtClean="0">
                <a:solidFill>
                  <a:schemeClr val="accent2"/>
                </a:solidFill>
                <a:latin typeface="Courier New" pitchFamily="49" charset="0"/>
              </a:rPr>
              <a:t>quarter_two</a:t>
            </a:r>
            <a:r>
              <a:rPr lang="en-AU" altLang="en-US" sz="1600" b="1" dirty="0" smtClean="0">
                <a:solidFill>
                  <a:schemeClr val="accent2"/>
                </a:solidFill>
                <a:latin typeface="Courier New" pitchFamily="49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368768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AU" altLang="en-US" smtClean="0"/>
              <a:t>Index Maintenance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1435" y="1015179"/>
            <a:ext cx="8229600" cy="507031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Indexes in UNUSABLE state is one of the major issues in dealing with partitioned tables and indexes.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SELECT or DML statement that accesses index in such state will return an ORA-01502 error.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Partition maintenance operations will mark the affected local index partition and ALL global index partitions as UNUSABLE.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dirty="0" smtClean="0">
                <a:solidFill>
                  <a:schemeClr val="tx1"/>
                </a:solidFill>
              </a:rPr>
              <a:t>	</a:t>
            </a:r>
            <a:r>
              <a:rPr lang="en-AU" altLang="en-US" sz="1800" dirty="0" smtClean="0">
                <a:solidFill>
                  <a:schemeClr val="tx1"/>
                </a:solidFill>
              </a:rPr>
              <a:t>ALTER TABLE MOVE PARTITION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dirty="0" smtClean="0">
                <a:solidFill>
                  <a:schemeClr val="tx1"/>
                </a:solidFill>
              </a:rPr>
              <a:t>	ALTER TABLE SPLIT PARTITION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dirty="0" smtClean="0">
                <a:solidFill>
                  <a:schemeClr val="tx1"/>
                </a:solidFill>
              </a:rPr>
              <a:t>	ALTER TABLE TRUNCATE PARTITION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800" dirty="0" smtClean="0">
                <a:solidFill>
                  <a:schemeClr val="tx1"/>
                </a:solidFill>
              </a:rPr>
              <a:t>	ALTER INDEX SPLIT PARTITION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SQL*Loader operations which bypass index maintenance </a:t>
            </a:r>
          </a:p>
        </p:txBody>
      </p:sp>
    </p:spTree>
    <p:extLst>
      <p:ext uri="{BB962C8B-B14F-4D97-AF65-F5344CB8AC3E}">
        <p14:creationId xmlns:p14="http://schemas.microsoft.com/office/powerpoint/2010/main" val="77252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ChangeArrowheads="1"/>
          </p:cNvSpPr>
          <p:nvPr/>
        </p:nvSpPr>
        <p:spPr bwMode="auto">
          <a:xfrm>
            <a:off x="395288" y="772510"/>
            <a:ext cx="8424862" cy="5391807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14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783186"/>
            <a:ext cx="8229600" cy="45259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SQL&gt; SELECT PARTITION_NAME FROM USER_IND_PARTITIONS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WHERE INDEX_NAME='SALES_DATA_IND'; 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PARTITION_NAME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------------------------------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SALES_1998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SALES_1999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SALES_2000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SALES_2001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P_2009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SQL&gt; ALTER TABLE </a:t>
            </a:r>
            <a:r>
              <a:rPr lang="en-AU" altLang="en-US" sz="1400" b="1" dirty="0" err="1" smtClean="0">
                <a:latin typeface="Courier New" pitchFamily="49" charset="0"/>
              </a:rPr>
              <a:t>sales_data</a:t>
            </a:r>
            <a:r>
              <a:rPr lang="en-AU" altLang="en-US" sz="1400" b="1" dirty="0" smtClean="0">
                <a:latin typeface="Courier New" pitchFamily="49" charset="0"/>
              </a:rPr>
              <a:t> MOVE PARTITION sales_1999 TABLESPACE users;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Table altered.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SQL&gt; SELECT PARTITION_NAME,STATUS FROM USER_IND_PARTITIONS WHERE INDEX_NAME='SALES_DATA_IND';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PARTITION_NAME                 STATUS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------------------------------ --------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SALES_1998                     USABLE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SALES_1999                     </a:t>
            </a:r>
            <a:r>
              <a:rPr lang="en-AU" altLang="en-US" sz="1400" b="1" dirty="0" smtClean="0">
                <a:solidFill>
                  <a:srgbClr val="CC3300"/>
                </a:solidFill>
                <a:latin typeface="Courier New" pitchFamily="49" charset="0"/>
              </a:rPr>
              <a:t>UNUSABLE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SALES_2000                     USABLE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SALES_2001                     USABLE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P_2009                         USABLE</a:t>
            </a:r>
          </a:p>
        </p:txBody>
      </p:sp>
      <p:sp>
        <p:nvSpPr>
          <p:cNvPr id="191493" name="Text Box 5"/>
          <p:cNvSpPr txBox="1">
            <a:spLocks noChangeArrowheads="1"/>
          </p:cNvSpPr>
          <p:nvPr/>
        </p:nvSpPr>
        <p:spPr bwMode="auto">
          <a:xfrm>
            <a:off x="5729342" y="1543817"/>
            <a:ext cx="163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LOCAL Index</a:t>
            </a:r>
          </a:p>
        </p:txBody>
      </p:sp>
      <p:sp>
        <p:nvSpPr>
          <p:cNvPr id="191494" name="Line 6"/>
          <p:cNvSpPr>
            <a:spLocks noChangeShapeType="1"/>
          </p:cNvSpPr>
          <p:nvPr/>
        </p:nvSpPr>
        <p:spPr bwMode="auto">
          <a:xfrm flipH="1" flipV="1">
            <a:off x="4385387" y="1254892"/>
            <a:ext cx="129540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ChangeArrowheads="1"/>
          </p:cNvSpPr>
          <p:nvPr/>
        </p:nvSpPr>
        <p:spPr bwMode="auto">
          <a:xfrm>
            <a:off x="468313" y="1125538"/>
            <a:ext cx="8207375" cy="417512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4497" y="1143001"/>
            <a:ext cx="8229600" cy="401232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SQL&gt; ALTER TABLE </a:t>
            </a:r>
            <a:r>
              <a:rPr lang="en-AU" altLang="en-US" sz="1600" b="1" dirty="0" err="1" smtClean="0">
                <a:latin typeface="Courier New" pitchFamily="49" charset="0"/>
              </a:rPr>
              <a:t>sales_data</a:t>
            </a:r>
            <a:r>
              <a:rPr lang="en-AU" altLang="en-US" sz="1600" b="1" dirty="0" smtClean="0">
                <a:latin typeface="Courier New" pitchFamily="49" charset="0"/>
              </a:rPr>
              <a:t>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</a:rPr>
              <a:t>TRUNCATE PARTITION</a:t>
            </a:r>
            <a:r>
              <a:rPr lang="en-AU" altLang="en-US" sz="1600" b="1" dirty="0" smtClean="0">
                <a:latin typeface="Courier New" pitchFamily="49" charset="0"/>
              </a:rPr>
              <a:t> sales_1999_h2;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Table truncated.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SQL&gt; select </a:t>
            </a:r>
            <a:r>
              <a:rPr lang="en-AU" altLang="en-US" sz="1600" b="1" dirty="0" err="1" smtClean="0">
                <a:latin typeface="Courier New" pitchFamily="49" charset="0"/>
              </a:rPr>
              <a:t>partition_name,status</a:t>
            </a:r>
            <a:r>
              <a:rPr lang="en-AU" altLang="en-US" sz="1600" b="1" dirty="0" smtClean="0">
                <a:latin typeface="Courier New" pitchFamily="49" charset="0"/>
              </a:rPr>
              <a:t> from </a:t>
            </a:r>
            <a:r>
              <a:rPr lang="en-AU" altLang="en-US" sz="1600" b="1" dirty="0" err="1" smtClean="0">
                <a:latin typeface="Courier New" pitchFamily="49" charset="0"/>
              </a:rPr>
              <a:t>user_ind_partitions</a:t>
            </a:r>
            <a:r>
              <a:rPr lang="en-AU" altLang="en-US" sz="1600" b="1" dirty="0" smtClean="0">
                <a:latin typeface="Courier New" pitchFamily="49" charset="0"/>
              </a:rPr>
              <a:t> where </a:t>
            </a:r>
            <a:r>
              <a:rPr lang="en-AU" altLang="en-US" sz="1600" b="1" dirty="0" err="1" smtClean="0">
                <a:latin typeface="Courier New" pitchFamily="49" charset="0"/>
              </a:rPr>
              <a:t>index_name</a:t>
            </a:r>
            <a:r>
              <a:rPr lang="en-AU" altLang="en-US" sz="1600" b="1" dirty="0" smtClean="0">
                <a:latin typeface="Courier New" pitchFamily="49" charset="0"/>
              </a:rPr>
              <a:t>='PROD_ID_IND';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PARTITION_NAME                 STATUS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------------------------------ --------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P1                             </a:t>
            </a:r>
            <a:r>
              <a:rPr lang="en-AU" altLang="en-US" sz="1600" b="1" dirty="0" smtClean="0">
                <a:solidFill>
                  <a:srgbClr val="CC3300"/>
                </a:solidFill>
                <a:latin typeface="Courier New" pitchFamily="49" charset="0"/>
              </a:rPr>
              <a:t>UNUSABLE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P2                             </a:t>
            </a:r>
            <a:r>
              <a:rPr lang="en-AU" altLang="en-US" sz="1600" b="1" dirty="0" smtClean="0">
                <a:solidFill>
                  <a:srgbClr val="CC3300"/>
                </a:solidFill>
                <a:latin typeface="Courier New" pitchFamily="49" charset="0"/>
              </a:rPr>
              <a:t>UNUSABLE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P_OTHERS                       </a:t>
            </a:r>
            <a:r>
              <a:rPr lang="en-AU" altLang="en-US" sz="1600" b="1" dirty="0" smtClean="0">
                <a:solidFill>
                  <a:srgbClr val="CC3300"/>
                </a:solidFill>
                <a:latin typeface="Courier New" pitchFamily="49" charset="0"/>
              </a:rPr>
              <a:t>UNUSABLE</a:t>
            </a:r>
          </a:p>
        </p:txBody>
      </p:sp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900113" y="5424542"/>
            <a:ext cx="71977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b="1" dirty="0">
                <a:latin typeface="Arial" pitchFamily="34" charset="0"/>
              </a:rPr>
              <a:t>ALL </a:t>
            </a:r>
            <a:r>
              <a:rPr kumimoji="0" lang="en-AU" altLang="en-US" sz="2000" dirty="0">
                <a:latin typeface="Arial" pitchFamily="34" charset="0"/>
              </a:rPr>
              <a:t>Global Index Partitions are marked as UNUSABLE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2000" dirty="0">
                <a:latin typeface="Arial" pitchFamily="34" charset="0"/>
              </a:rPr>
              <a:t>even though only one single table partition has been accessed</a:t>
            </a:r>
          </a:p>
        </p:txBody>
      </p:sp>
    </p:spTree>
    <p:extLst>
      <p:ext uri="{BB962C8B-B14F-4D97-AF65-F5344CB8AC3E}">
        <p14:creationId xmlns:p14="http://schemas.microsoft.com/office/powerpoint/2010/main" val="121959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ChangeArrowheads="1"/>
          </p:cNvSpPr>
          <p:nvPr/>
        </p:nvSpPr>
        <p:spPr bwMode="auto">
          <a:xfrm>
            <a:off x="323850" y="1403131"/>
            <a:ext cx="8351838" cy="4762719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35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20262" y="1600200"/>
            <a:ext cx="7709338" cy="45259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SQL&gt; SELECT COUNT (*) FROM </a:t>
            </a:r>
            <a:r>
              <a:rPr lang="en-AU" altLang="en-US" sz="1800" b="1" dirty="0" err="1" smtClean="0">
                <a:latin typeface="Courier New" pitchFamily="49" charset="0"/>
              </a:rPr>
              <a:t>sales_data</a:t>
            </a:r>
            <a:r>
              <a:rPr lang="en-AU" altLang="en-US" sz="1800" b="1" dirty="0" smtClean="0">
                <a:latin typeface="Courier New" pitchFamily="49" charset="0"/>
              </a:rPr>
              <a:t>  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	   WHERE  </a:t>
            </a:r>
            <a:r>
              <a:rPr lang="en-AU" altLang="en-US" sz="1800" b="1" dirty="0" err="1" smtClean="0">
                <a:latin typeface="Courier New" pitchFamily="49" charset="0"/>
              </a:rPr>
              <a:t>time_id</a:t>
            </a:r>
            <a:r>
              <a:rPr lang="en-AU" altLang="en-US" sz="1800" b="1" dirty="0" smtClean="0">
                <a:latin typeface="Courier New" pitchFamily="49" charset="0"/>
              </a:rPr>
              <a:t> ='01-DEC-1999'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*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ERROR at line 1: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ORA-01502: index 'SH.SALES_DATA_IND' or partition of such index is in unusable state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8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SQL&gt; ALTER SESSION  </a:t>
            </a:r>
            <a:r>
              <a:rPr lang="en-AU" altLang="en-US" sz="1800" b="1" dirty="0" smtClean="0">
                <a:solidFill>
                  <a:srgbClr val="FF3300"/>
                </a:solidFill>
                <a:latin typeface="Courier New" pitchFamily="49" charset="0"/>
              </a:rPr>
              <a:t>SET SKIP_UNUSABLE_INDEXES=TRUE</a:t>
            </a:r>
            <a:r>
              <a:rPr lang="en-AU" altLang="en-US" sz="1800" b="1" dirty="0" smtClean="0"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8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System altered.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8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SQL&gt; SELECT COUNT (*) FROM </a:t>
            </a:r>
            <a:r>
              <a:rPr lang="en-AU" altLang="en-US" sz="1800" b="1" dirty="0" err="1" smtClean="0">
                <a:latin typeface="Courier New" pitchFamily="49" charset="0"/>
              </a:rPr>
              <a:t>sales_data</a:t>
            </a:r>
            <a:r>
              <a:rPr lang="en-AU" altLang="en-US" sz="1800" b="1" dirty="0" smtClean="0">
                <a:latin typeface="Courier New" pitchFamily="49" charset="0"/>
              </a:rPr>
              <a:t>  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	   WHERE  </a:t>
            </a:r>
            <a:r>
              <a:rPr lang="en-AU" altLang="en-US" sz="1800" b="1" dirty="0" err="1" smtClean="0">
                <a:latin typeface="Courier New" pitchFamily="49" charset="0"/>
              </a:rPr>
              <a:t>time_id</a:t>
            </a:r>
            <a:r>
              <a:rPr lang="en-AU" altLang="en-US" sz="1800" b="1" dirty="0" smtClean="0">
                <a:latin typeface="Courier New" pitchFamily="49" charset="0"/>
              </a:rPr>
              <a:t> ='01-DEC-1999‘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8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  	COUNT(*)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	----------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       310</a:t>
            </a:r>
          </a:p>
        </p:txBody>
      </p:sp>
    </p:spTree>
    <p:extLst>
      <p:ext uri="{BB962C8B-B14F-4D97-AF65-F5344CB8AC3E}">
        <p14:creationId xmlns:p14="http://schemas.microsoft.com/office/powerpoint/2010/main" val="331002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ChangeArrowheads="1"/>
          </p:cNvSpPr>
          <p:nvPr/>
        </p:nvSpPr>
        <p:spPr bwMode="auto">
          <a:xfrm>
            <a:off x="250825" y="1056289"/>
            <a:ext cx="8569325" cy="4028473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45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125539"/>
            <a:ext cx="8893175" cy="398249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AU" altLang="en-US" sz="800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SQL&gt; EXPLAIN PLAN FOR SELECT COUNT(*) FROM </a:t>
            </a:r>
            <a:r>
              <a:rPr lang="en-AU" altLang="en-US" sz="1600" b="1" dirty="0" err="1" smtClean="0">
                <a:latin typeface="Courier New" pitchFamily="49" charset="0"/>
              </a:rPr>
              <a:t>sales_data</a:t>
            </a:r>
            <a:r>
              <a:rPr lang="en-AU" altLang="en-US" sz="1600" b="1" dirty="0" smtClean="0">
                <a:latin typeface="Courier New" pitchFamily="49" charset="0"/>
              </a:rPr>
              <a:t>  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		WHERE </a:t>
            </a:r>
            <a:r>
              <a:rPr lang="en-AU" altLang="en-US" sz="1600" b="1" dirty="0" err="1" smtClean="0">
                <a:latin typeface="Courier New" pitchFamily="49" charset="0"/>
              </a:rPr>
              <a:t>time_id</a:t>
            </a:r>
            <a:r>
              <a:rPr lang="en-AU" altLang="en-US" sz="1600" b="1" dirty="0" smtClean="0">
                <a:latin typeface="Courier New" pitchFamily="49" charset="0"/>
              </a:rPr>
              <a:t> ='01-DEC-1999';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Explained.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SQL&gt; SELECT * FROM   TABLE(DBMS_XPLAN.DISPLAY);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PLAN_TABLE_OUTPUT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------------------------------------------------------------------------------------------------------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Plan hash value: 1021418022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------------------------------------------------------------------------------------------------------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Id  | Operation               | Name       | Rows  | Bytes | Cost (%CPU)| Time     | </a:t>
            </a:r>
            <a:r>
              <a:rPr lang="en-AU" altLang="en-US" sz="1100" b="1" dirty="0" err="1" smtClean="0">
                <a:latin typeface="Courier New" pitchFamily="49" charset="0"/>
              </a:rPr>
              <a:t>Pstart</a:t>
            </a:r>
            <a:r>
              <a:rPr lang="en-AU" altLang="en-US" sz="1100" b="1" dirty="0" smtClean="0">
                <a:latin typeface="Courier New" pitchFamily="49" charset="0"/>
              </a:rPr>
              <a:t>| </a:t>
            </a:r>
            <a:r>
              <a:rPr lang="en-AU" altLang="en-US" sz="1100" b="1" dirty="0" err="1" smtClean="0">
                <a:latin typeface="Courier New" pitchFamily="49" charset="0"/>
              </a:rPr>
              <a:t>Pstop</a:t>
            </a:r>
            <a:r>
              <a:rPr lang="en-AU" altLang="en-US" sz="1100" b="1" dirty="0" smtClean="0">
                <a:latin typeface="Courier New" pitchFamily="49" charset="0"/>
              </a:rPr>
              <a:t>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------------------------------------------------------------------------------------------------------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  0 | SELECT STATEMENT        |            |     1 |     9 |   342  (26)| 00:00:05 |       |      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  1 |  SORT AGGREGATE         |            |     1 |     9 |            |          |       |      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  2 |   PARTITION RANGE SINGLE|            |   276 |  2484 |   342  (26)| 00:00:05 |     2 |     2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|*  3 |    </a:t>
            </a:r>
            <a:r>
              <a:rPr lang="en-AU" altLang="en-US" sz="1100" b="1" dirty="0" smtClean="0">
                <a:solidFill>
                  <a:srgbClr val="FF3300"/>
                </a:solidFill>
                <a:latin typeface="Courier New" pitchFamily="49" charset="0"/>
              </a:rPr>
              <a:t>TABLE ACCESS FULL</a:t>
            </a:r>
            <a:r>
              <a:rPr lang="en-AU" altLang="en-US" sz="1100" b="1" dirty="0" smtClean="0">
                <a:latin typeface="Courier New" pitchFamily="49" charset="0"/>
              </a:rPr>
              <a:t>    | SALES_DATA |   276 |  2484 |   342  (26)| 00:00:05 |     2 |     2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100" dirty="0" smtClean="0">
                <a:latin typeface="Courier New" pitchFamily="49" charset="0"/>
              </a:rPr>
              <a:t>------------------------------------------------------------------------------------------------------</a:t>
            </a:r>
          </a:p>
        </p:txBody>
      </p:sp>
      <p:sp>
        <p:nvSpPr>
          <p:cNvPr id="194565" name="Text Box 5"/>
          <p:cNvSpPr txBox="1">
            <a:spLocks noChangeArrowheads="1"/>
          </p:cNvSpPr>
          <p:nvPr/>
        </p:nvSpPr>
        <p:spPr bwMode="auto">
          <a:xfrm>
            <a:off x="468313" y="5300663"/>
            <a:ext cx="8312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Because index partition is in an UNUSABLE state, a full table scan is being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performed of the SALES_DATA table </a:t>
            </a:r>
          </a:p>
        </p:txBody>
      </p:sp>
    </p:spTree>
    <p:extLst>
      <p:ext uri="{BB962C8B-B14F-4D97-AF65-F5344CB8AC3E}">
        <p14:creationId xmlns:p14="http://schemas.microsoft.com/office/powerpoint/2010/main" val="260249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ChangeArrowheads="1"/>
          </p:cNvSpPr>
          <p:nvPr/>
        </p:nvSpPr>
        <p:spPr bwMode="auto">
          <a:xfrm>
            <a:off x="179388" y="867103"/>
            <a:ext cx="8785225" cy="544162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0213" y="838200"/>
            <a:ext cx="8713787" cy="5903913"/>
          </a:xfrm>
          <a:prstGeom prst="rect">
            <a:avLst/>
          </a:prstGeom>
        </p:spPr>
        <p:txBody>
          <a:bodyPr/>
          <a:lstStyle/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SQL&gt; ALTER INDEX </a:t>
            </a:r>
            <a:r>
              <a:rPr lang="en-AU" altLang="en-US" sz="1400" b="1" dirty="0" err="1" smtClean="0">
                <a:latin typeface="Courier New" pitchFamily="49" charset="0"/>
              </a:rPr>
              <a:t>sales_data_ind</a:t>
            </a:r>
            <a:r>
              <a:rPr lang="en-AU" altLang="en-US" sz="1400" b="1" dirty="0" smtClean="0">
                <a:latin typeface="Courier New" pitchFamily="49" charset="0"/>
              </a:rPr>
              <a:t> REBUILD PARTITION sales_1999;</a:t>
            </a:r>
          </a:p>
          <a:p>
            <a:pPr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Index altered.</a:t>
            </a:r>
          </a:p>
          <a:p>
            <a:pPr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SQL&gt; EXPLAIN PLAN FOR SELECT COUNT(*) FROM  </a:t>
            </a:r>
            <a:r>
              <a:rPr lang="en-AU" altLang="en-US" sz="1400" b="1" dirty="0" err="1" smtClean="0">
                <a:latin typeface="Courier New" pitchFamily="49" charset="0"/>
              </a:rPr>
              <a:t>sales_data</a:t>
            </a:r>
            <a:r>
              <a:rPr lang="en-AU" altLang="en-US" sz="1400" b="1" dirty="0" smtClean="0">
                <a:latin typeface="Courier New" pitchFamily="49" charset="0"/>
              </a:rPr>
              <a:t>  WHERE </a:t>
            </a:r>
            <a:r>
              <a:rPr lang="en-AU" altLang="en-US" sz="1400" b="1" dirty="0" err="1" smtClean="0">
                <a:latin typeface="Courier New" pitchFamily="49" charset="0"/>
              </a:rPr>
              <a:t>time_id</a:t>
            </a:r>
            <a:r>
              <a:rPr lang="en-AU" altLang="en-US" sz="1400" b="1" dirty="0" smtClean="0">
                <a:latin typeface="Courier New" pitchFamily="49" charset="0"/>
              </a:rPr>
              <a:t> ='01-DEC-1999';</a:t>
            </a:r>
          </a:p>
          <a:p>
            <a:pPr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Explained.</a:t>
            </a:r>
          </a:p>
          <a:p>
            <a:pPr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SQL&gt; SELECT * FROM   TABLE(DBMS_XPLAN.DISPLAY);</a:t>
            </a:r>
          </a:p>
          <a:p>
            <a:pPr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PLAN_TABLE_OUTPUT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------------------------------------------------------------------------------------------------------------------------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Plan hash value: 3608419564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----------------------------------------------------------------------------------------------------------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 Id  | Operation               | Name           | Rows  | Bytes | Cost (%CPU)| Time     | </a:t>
            </a:r>
            <a:r>
              <a:rPr lang="en-AU" altLang="en-US" sz="1050" b="1" dirty="0" err="1" smtClean="0">
                <a:latin typeface="Courier New" pitchFamily="49" charset="0"/>
              </a:rPr>
              <a:t>Pstart</a:t>
            </a:r>
            <a:r>
              <a:rPr lang="en-AU" altLang="en-US" sz="1050" b="1" dirty="0" smtClean="0">
                <a:latin typeface="Courier New" pitchFamily="49" charset="0"/>
              </a:rPr>
              <a:t>| </a:t>
            </a:r>
            <a:r>
              <a:rPr lang="en-AU" altLang="en-US" sz="1050" b="1" dirty="0" err="1" smtClean="0">
                <a:latin typeface="Courier New" pitchFamily="49" charset="0"/>
              </a:rPr>
              <a:t>Pstop</a:t>
            </a:r>
            <a:r>
              <a:rPr lang="en-AU" altLang="en-US" sz="1050" b="1" dirty="0" smtClean="0">
                <a:latin typeface="Courier New" pitchFamily="49" charset="0"/>
              </a:rPr>
              <a:t> |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----------------------------------------------------------------------------------------------------------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   0 | SELECT STATEMENT        |                |     1 |     9 |     5   (0)| 00:00:01 |       |       |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   1 |  SORT AGGREGATE         |                |     1 |     9 |            |          |       |       |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   2 |   PARTITION RANGE SINGLE|                |   310 |  2790 |     5   (0)| 00:00:01 |     2 |     2 |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|*  3 |    </a:t>
            </a:r>
            <a:r>
              <a:rPr lang="en-AU" altLang="en-US" sz="1050" b="1" dirty="0" smtClean="0">
                <a:solidFill>
                  <a:srgbClr val="FF3300"/>
                </a:solidFill>
                <a:latin typeface="Courier New" pitchFamily="49" charset="0"/>
              </a:rPr>
              <a:t>INDEX RANGE SCAN     | SALES_DATA_IND</a:t>
            </a:r>
            <a:r>
              <a:rPr lang="en-AU" altLang="en-US" sz="1050" b="1" dirty="0" smtClean="0">
                <a:latin typeface="Courier New" pitchFamily="49" charset="0"/>
              </a:rPr>
              <a:t> |   310 |  2790 |     5   (0)| 00:00:01 |     2 |     2 |</a:t>
            </a:r>
          </a:p>
          <a:p>
            <a:pPr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----------------------------------------------------------------------------------------------------------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29565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ChangeArrowheads="1"/>
          </p:cNvSpPr>
          <p:nvPr/>
        </p:nvSpPr>
        <p:spPr bwMode="auto">
          <a:xfrm>
            <a:off x="395288" y="3487240"/>
            <a:ext cx="8137525" cy="2550948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196611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AU" altLang="en-US" smtClean="0"/>
              <a:t>Update Global Indexes</a:t>
            </a:r>
          </a:p>
        </p:txBody>
      </p:sp>
      <p:sp>
        <p:nvSpPr>
          <p:cNvPr id="1966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5668" y="836614"/>
            <a:ext cx="7803931" cy="5406532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AU" altLang="en-US" sz="1800" dirty="0" smtClean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AU" altLang="en-US" sz="2000" dirty="0" smtClean="0">
                <a:solidFill>
                  <a:schemeClr val="tx1"/>
                </a:solidFill>
              </a:rPr>
              <a:t>By default, many table maintenance operations on partitioned tables invalidate (mark UNUSABLE) global indexes. </a:t>
            </a:r>
          </a:p>
          <a:p>
            <a:pPr eaLnBrk="1" hangingPunct="1"/>
            <a:r>
              <a:rPr lang="en-AU" altLang="en-US" sz="2000" dirty="0" smtClean="0">
                <a:solidFill>
                  <a:schemeClr val="tx1"/>
                </a:solidFill>
              </a:rPr>
              <a:t>We can override this default behaviour if you specify </a:t>
            </a:r>
            <a:r>
              <a:rPr lang="en-AU" altLang="en-US" sz="2000" b="1" dirty="0" smtClean="0">
                <a:solidFill>
                  <a:schemeClr val="tx1"/>
                </a:solidFill>
              </a:rPr>
              <a:t>UPDATE GLOBAL INDEXES.</a:t>
            </a:r>
          </a:p>
          <a:p>
            <a:pPr eaLnBrk="1" hangingPunct="1"/>
            <a:r>
              <a:rPr lang="en-AU" altLang="en-US" sz="2000" dirty="0" smtClean="0">
                <a:solidFill>
                  <a:schemeClr val="tx1"/>
                </a:solidFill>
              </a:rPr>
              <a:t>Partition DDL statement takes longer to execute since indexes which were previously marked UNUSABLE are updated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2000" dirty="0" smtClean="0">
              <a:solidFill>
                <a:schemeClr val="accent2"/>
              </a:solidFill>
            </a:endParaRPr>
          </a:p>
          <a:p>
            <a:pPr>
              <a:buFont typeface="Webdings" pitchFamily="18" charset="2"/>
              <a:buNone/>
            </a:pPr>
            <a:r>
              <a:rPr lang="en-AU" altLang="en-US" sz="1800" b="1" dirty="0" smtClean="0">
                <a:latin typeface="Courier New" pitchFamily="49" charset="0"/>
              </a:rPr>
              <a:t>SQL&gt; </a:t>
            </a:r>
            <a:r>
              <a:rPr lang="en-AU" altLang="en-US" sz="1400" b="1" dirty="0" smtClean="0">
                <a:latin typeface="Courier New" pitchFamily="49" charset="0"/>
              </a:rPr>
              <a:t>ALTER TABLE </a:t>
            </a:r>
            <a:r>
              <a:rPr lang="en-AU" altLang="en-US" sz="1400" b="1" dirty="0" err="1" smtClean="0">
                <a:latin typeface="Courier New" pitchFamily="49" charset="0"/>
              </a:rPr>
              <a:t>sales_data</a:t>
            </a:r>
            <a:r>
              <a:rPr lang="en-AU" altLang="en-US" sz="1400" b="1" dirty="0" smtClean="0">
                <a:latin typeface="Courier New" pitchFamily="49" charset="0"/>
              </a:rPr>
              <a:t> move partition sales_2000 </a:t>
            </a:r>
            <a:r>
              <a:rPr lang="en-AU" altLang="en-US" sz="1400" b="1" dirty="0" err="1" smtClean="0">
                <a:latin typeface="Courier New" pitchFamily="49" charset="0"/>
              </a:rPr>
              <a:t>tablespace</a:t>
            </a:r>
            <a:r>
              <a:rPr lang="en-AU" altLang="en-US" sz="1400" b="1" dirty="0" smtClean="0">
                <a:latin typeface="Courier New" pitchFamily="49" charset="0"/>
              </a:rPr>
              <a:t>     example </a:t>
            </a:r>
            <a:r>
              <a:rPr lang="en-AU" altLang="en-US" sz="1400" b="1" dirty="0" smtClean="0">
                <a:solidFill>
                  <a:srgbClr val="FF3300"/>
                </a:solidFill>
                <a:latin typeface="Courier New" pitchFamily="49" charset="0"/>
              </a:rPr>
              <a:t>UPDATE GLOBAL INDEXES;</a:t>
            </a:r>
          </a:p>
          <a:p>
            <a:pPr>
              <a:buFont typeface="Webdings" pitchFamily="18" charset="2"/>
              <a:buNone/>
            </a:pPr>
            <a:endParaRPr lang="en-AU" altLang="en-US" sz="1400" b="1" dirty="0" smtClean="0">
              <a:solidFill>
                <a:srgbClr val="FF3300"/>
              </a:solidFill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SQL&gt; SELECT PARTITION_NAME,STATUS FROM USER_IND_PARTITIONS WHERE INDEX_NAME='PROD_ID_IND';</a:t>
            </a: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PARTITION_NAME                 STATUS</a:t>
            </a: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------------------------------ --------</a:t>
            </a: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P1                             </a:t>
            </a:r>
            <a:r>
              <a:rPr lang="en-AU" altLang="en-US" sz="1400" b="1" dirty="0" smtClean="0">
                <a:solidFill>
                  <a:srgbClr val="FF3300"/>
                </a:solidFill>
                <a:latin typeface="Courier New" pitchFamily="49" charset="0"/>
              </a:rPr>
              <a:t>USABLE</a:t>
            </a: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P2                             </a:t>
            </a:r>
            <a:r>
              <a:rPr lang="en-AU" altLang="en-US" sz="1400" b="1" dirty="0" smtClean="0">
                <a:solidFill>
                  <a:srgbClr val="FF3300"/>
                </a:solidFill>
                <a:latin typeface="Courier New" pitchFamily="49" charset="0"/>
              </a:rPr>
              <a:t>USABLE</a:t>
            </a:r>
          </a:p>
          <a:p>
            <a:pPr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P_OTHERS                       </a:t>
            </a:r>
            <a:r>
              <a:rPr lang="en-AU" altLang="en-US" sz="1400" b="1" dirty="0" smtClean="0">
                <a:solidFill>
                  <a:srgbClr val="FF3300"/>
                </a:solidFill>
                <a:latin typeface="Courier New" pitchFamily="49" charset="0"/>
              </a:rPr>
              <a:t>USABLE</a:t>
            </a:r>
          </a:p>
          <a:p>
            <a:pPr eaLnBrk="1" hangingPunct="1">
              <a:buFont typeface="Webdings" pitchFamily="18" charset="2"/>
              <a:buNone/>
            </a:pPr>
            <a:endParaRPr lang="en-AU" altLang="en-US" sz="1400" b="1" dirty="0" smtClean="0">
              <a:solidFill>
                <a:srgbClr val="FF3300"/>
              </a:solidFill>
              <a:latin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endParaRPr lang="en-AU" altLang="en-US" sz="1400" dirty="0" smtClean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7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AU" altLang="en-US" smtClean="0"/>
              <a:t>Partition Pruning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51793" y="860754"/>
            <a:ext cx="8592207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Very important feature for VLDB and Data Warehouses.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CBO eliminates unneeded partitions when building a partition access list.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Operations performed only on partitions relevant to the SQL statement dramatically reduce the amount of disk reads as well as CPU time.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If using global partitioned indexes, can perform partition pruning on the index partitions by eliminating index partitions even if table partitions cannot be eliminated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Range Partitioning</a:t>
            </a:r>
          </a:p>
          <a:p>
            <a:pPr lvl="1"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range, equality and IN-list predicates</a:t>
            </a:r>
          </a:p>
          <a:p>
            <a:pPr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Hash Partitioning </a:t>
            </a:r>
          </a:p>
          <a:p>
            <a:pPr lvl="1" eaLnBrk="1" hangingPunct="1"/>
            <a:r>
              <a:rPr lang="en-AU" altLang="en-US" sz="2400" dirty="0" smtClean="0">
                <a:solidFill>
                  <a:schemeClr val="tx1"/>
                </a:solidFill>
              </a:rPr>
              <a:t>equality and IN-list predicates</a:t>
            </a:r>
          </a:p>
        </p:txBody>
      </p:sp>
    </p:spTree>
    <p:extLst>
      <p:ext uri="{BB962C8B-B14F-4D97-AF65-F5344CB8AC3E}">
        <p14:creationId xmlns:p14="http://schemas.microsoft.com/office/powerpoint/2010/main" val="329131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ChangeArrowheads="1"/>
          </p:cNvSpPr>
          <p:nvPr/>
        </p:nvSpPr>
        <p:spPr bwMode="auto">
          <a:xfrm>
            <a:off x="250825" y="788275"/>
            <a:ext cx="8713788" cy="4225049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 sz="2000">
              <a:latin typeface="Arial" pitchFamily="34" charset="0"/>
            </a:endParaRPr>
          </a:p>
        </p:txBody>
      </p:sp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986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08050"/>
            <a:ext cx="8675687" cy="49291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SQL&gt; EXPLAIN PLAN FOR SELECT COUNT(*) FROM  </a:t>
            </a:r>
            <a:r>
              <a:rPr lang="en-AU" altLang="en-US" sz="1400" b="1" dirty="0" err="1" smtClean="0">
                <a:latin typeface="Courier New" pitchFamily="49" charset="0"/>
              </a:rPr>
              <a:t>sales_data</a:t>
            </a:r>
            <a:r>
              <a:rPr lang="en-AU" altLang="en-US" sz="1400" b="1" dirty="0" smtClean="0">
                <a:latin typeface="Courier New" pitchFamily="49" charset="0"/>
              </a:rPr>
              <a:t> WHERE </a:t>
            </a:r>
            <a:r>
              <a:rPr lang="en-AU" altLang="en-US" sz="1400" b="1" dirty="0" err="1" smtClean="0">
                <a:latin typeface="Courier New" pitchFamily="49" charset="0"/>
              </a:rPr>
              <a:t>time_id</a:t>
            </a:r>
            <a:r>
              <a:rPr lang="en-AU" altLang="en-US" sz="1400" b="1" dirty="0" smtClean="0">
                <a:latin typeface="Courier New" pitchFamily="49" charset="0"/>
              </a:rPr>
              <a:t>='21-JAN-2000';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Explained.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SQL&gt; SELECT * FROM TABLE(DBMS_XPLAN.DISPLAY);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PLAN_TABLE_OUTPUT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------------------------------------------------------------------------------------------------------------------------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Plan hash value: 1021418022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------------------------------------------------------------------------------------------------------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 Id  | Operation               | Name       | Rows  | Bytes | Cost (%CPU)| Time     | </a:t>
            </a:r>
            <a:r>
              <a:rPr lang="en-AU" altLang="en-US" sz="1050" b="1" dirty="0" err="1" smtClean="0">
                <a:latin typeface="Courier New" pitchFamily="49" charset="0"/>
              </a:rPr>
              <a:t>Pstart</a:t>
            </a:r>
            <a:r>
              <a:rPr lang="en-AU" altLang="en-US" sz="1050" b="1" dirty="0" smtClean="0">
                <a:latin typeface="Courier New" pitchFamily="49" charset="0"/>
              </a:rPr>
              <a:t>| </a:t>
            </a:r>
            <a:r>
              <a:rPr lang="en-AU" altLang="en-US" sz="1050" b="1" dirty="0" err="1" smtClean="0">
                <a:latin typeface="Courier New" pitchFamily="49" charset="0"/>
              </a:rPr>
              <a:t>Pstop</a:t>
            </a:r>
            <a:r>
              <a:rPr lang="en-AU" altLang="en-US" sz="1050" b="1" dirty="0" smtClean="0">
                <a:latin typeface="Courier New" pitchFamily="49" charset="0"/>
              </a:rPr>
              <a:t>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------------------------------------------------------------------------------------------------------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   0 | SELECT STATEMENT        |            |     1 |     8 |   246   (3)| 00:00:03 |       |      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   1 |  SORT AGGREGATE         |            |     1 |     8 |            |          |       |      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   2 |   PARTITION RANGE SINGLE|            |   468 |  3744 |   246   (3)| 00:00:03 |     5 |     5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|*  3 |    TABLE ACCESS FULL    | SALES_DATA |   468 |  3744 |   246   (3)| 00:00:03 |     5 |     5 |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050" b="1" dirty="0" smtClean="0">
                <a:latin typeface="Courier New" pitchFamily="49" charset="0"/>
              </a:rPr>
              <a:t>------------------------------------------------------------------------------------------------------</a:t>
            </a:r>
          </a:p>
        </p:txBody>
      </p:sp>
      <p:sp>
        <p:nvSpPr>
          <p:cNvPr id="198661" name="Text Box 5"/>
          <p:cNvSpPr txBox="1">
            <a:spLocks noChangeArrowheads="1"/>
          </p:cNvSpPr>
          <p:nvPr/>
        </p:nvSpPr>
        <p:spPr bwMode="auto">
          <a:xfrm>
            <a:off x="611188" y="5516563"/>
            <a:ext cx="8489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dirty="0">
                <a:latin typeface="Arial" pitchFamily="34" charset="0"/>
              </a:rPr>
              <a:t>The </a:t>
            </a:r>
            <a:r>
              <a:rPr kumimoji="0" lang="en-AU" altLang="en-US" sz="1800" b="1" dirty="0" err="1">
                <a:latin typeface="Arial" pitchFamily="34" charset="0"/>
              </a:rPr>
              <a:t>Pstart</a:t>
            </a:r>
            <a:r>
              <a:rPr kumimoji="0" lang="en-AU" altLang="en-US" sz="1800" b="1" dirty="0">
                <a:latin typeface="Arial" pitchFamily="34" charset="0"/>
              </a:rPr>
              <a:t> and </a:t>
            </a:r>
            <a:r>
              <a:rPr kumimoji="0" lang="en-AU" altLang="en-US" sz="1800" b="1" dirty="0" err="1">
                <a:latin typeface="Arial" pitchFamily="34" charset="0"/>
              </a:rPr>
              <a:t>Pstop</a:t>
            </a:r>
            <a:r>
              <a:rPr kumimoji="0" lang="en-AU" altLang="en-US" sz="1800" dirty="0">
                <a:latin typeface="Arial" pitchFamily="34" charset="0"/>
              </a:rPr>
              <a:t> columns indicate that a single partition has been accessed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dirty="0">
                <a:latin typeface="Arial" pitchFamily="34" charset="0"/>
              </a:rPr>
              <a:t>by the optimizer even though the “TABLE ACCESS FULL” operation is indicated </a:t>
            </a:r>
          </a:p>
        </p:txBody>
      </p:sp>
      <p:sp>
        <p:nvSpPr>
          <p:cNvPr id="198662" name="Line 6"/>
          <p:cNvSpPr>
            <a:spLocks noChangeShapeType="1"/>
          </p:cNvSpPr>
          <p:nvPr/>
        </p:nvSpPr>
        <p:spPr bwMode="auto">
          <a:xfrm flipV="1">
            <a:off x="1403350" y="53006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63" name="Line 7"/>
          <p:cNvSpPr>
            <a:spLocks noChangeShapeType="1"/>
          </p:cNvSpPr>
          <p:nvPr/>
        </p:nvSpPr>
        <p:spPr bwMode="auto">
          <a:xfrm>
            <a:off x="1403350" y="5300663"/>
            <a:ext cx="6481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64" name="Line 8"/>
          <p:cNvSpPr>
            <a:spLocks noChangeShapeType="1"/>
          </p:cNvSpPr>
          <p:nvPr/>
        </p:nvSpPr>
        <p:spPr bwMode="auto">
          <a:xfrm flipV="1">
            <a:off x="7885113" y="4508500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3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AU" altLang="en-US" smtClean="0"/>
              <a:t>Partition-wise Joins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1434" y="1059027"/>
            <a:ext cx="8229600" cy="49974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Significantly improve the performance when joining tables with millions of rows.</a:t>
            </a:r>
          </a:p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Useful in VLDB and DSS environments.</a:t>
            </a:r>
          </a:p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Applies to Merge and Hash joins and not to Nested Loop joins.</a:t>
            </a:r>
          </a:p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Two tables that are </a:t>
            </a:r>
            <a:r>
              <a:rPr lang="en-AU" altLang="en-US" sz="2600" dirty="0" err="1" smtClean="0">
                <a:solidFill>
                  <a:schemeClr val="tx1"/>
                </a:solidFill>
              </a:rPr>
              <a:t>equi</a:t>
            </a:r>
            <a:r>
              <a:rPr lang="en-AU" altLang="en-US" sz="2600" dirty="0" smtClean="0">
                <a:solidFill>
                  <a:schemeClr val="tx1"/>
                </a:solidFill>
              </a:rPr>
              <a:t>-partitioned on the join column.</a:t>
            </a:r>
          </a:p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Optimizer breaks the join operation into a number of smaller joins that can be performed sequentially or in parallel.</a:t>
            </a:r>
          </a:p>
          <a:p>
            <a:pPr eaLnBrk="1" hangingPunct="1"/>
            <a:r>
              <a:rPr lang="en-AU" altLang="en-US" sz="2600" dirty="0" smtClean="0">
                <a:solidFill>
                  <a:schemeClr val="tx1"/>
                </a:solidFill>
              </a:rPr>
              <a:t>If using parallel joins, will minimise the data exchanged by parallel slaves</a:t>
            </a:r>
          </a:p>
        </p:txBody>
      </p:sp>
    </p:spTree>
    <p:extLst>
      <p:ext uri="{BB962C8B-B14F-4D97-AF65-F5344CB8AC3E}">
        <p14:creationId xmlns:p14="http://schemas.microsoft.com/office/powerpoint/2010/main" val="226326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ChangeArrowheads="1"/>
          </p:cNvSpPr>
          <p:nvPr/>
        </p:nvSpPr>
        <p:spPr bwMode="auto">
          <a:xfrm>
            <a:off x="611188" y="772509"/>
            <a:ext cx="7921625" cy="510441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007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740978"/>
            <a:ext cx="8229600" cy="5280409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AU" altLang="en-US" sz="1100" dirty="0" smtClean="0"/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CREATE TABLE "SH"."SALES_DATA_HASH"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(    "PROD_ID" NUMBER NOT NULL ENABLE,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 "CUST_ID" NUMBER NOT NULL ENABLE,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 "TIME_ID" DATE NOT NULL ENABLE,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 "CHANNEL_ID" NUMBER NOT NULL ENABLE,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 "PROMO_ID" NUMBER NOT NULL ENABLE,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 "QUANTITY_SOLD" NUMBER(10,2) NOT NULL ENABLE,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"AMOUNT_SOLD" NUMBER(10,2) NOT NULL ENABLE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      ) 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	PCTFREE 5 PCTUSED 40 INITRANS 1 MAXTRANS 255 NOCOMPRESS  NOLOGGING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 	</a:t>
            </a:r>
            <a:r>
              <a:rPr lang="en-AU" altLang="en-US" sz="1400" b="1" dirty="0" smtClean="0">
                <a:solidFill>
                  <a:srgbClr val="FF3300"/>
                </a:solidFill>
                <a:latin typeface="Courier New" pitchFamily="49" charset="0"/>
              </a:rPr>
              <a:t>PARTITION BY HASH ("CUST_ID")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	PARTITIONS 4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	STORE IN (EXAMPLE, USERS)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	  ;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CREATE TABLE SH.CUSTOMERS_HASH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(CUST_ID NUMBER, 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CUST_FIRST_NAME VARCHAR2(20),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CUST_LAST_NAME VARCHAR2(40),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CUST_CITY VARCHAR2(30))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solidFill>
                  <a:srgbClr val="FF3300"/>
                </a:solidFill>
                <a:latin typeface="Courier New" pitchFamily="49" charset="0"/>
              </a:rPr>
              <a:t>PARTITION BY HASH (CUST_ID)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	PARTITIONS 4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 	STORE IN (EXAMPLE, USERS)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	  ;</a:t>
            </a:r>
          </a:p>
        </p:txBody>
      </p:sp>
      <p:sp>
        <p:nvSpPr>
          <p:cNvPr id="200709" name="Text Box 5"/>
          <p:cNvSpPr txBox="1">
            <a:spLocks noChangeArrowheads="1"/>
          </p:cNvSpPr>
          <p:nvPr/>
        </p:nvSpPr>
        <p:spPr bwMode="auto">
          <a:xfrm>
            <a:off x="1263978" y="5861214"/>
            <a:ext cx="6343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 dirty="0">
                <a:latin typeface="Arial" pitchFamily="34" charset="0"/>
              </a:rPr>
              <a:t>Both tables are hash partitioned on the CUST_ID column</a:t>
            </a:r>
          </a:p>
        </p:txBody>
      </p:sp>
    </p:spTree>
    <p:extLst>
      <p:ext uri="{BB962C8B-B14F-4D97-AF65-F5344CB8AC3E}">
        <p14:creationId xmlns:p14="http://schemas.microsoft.com/office/powerpoint/2010/main" val="63940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ChangeArrowheads="1"/>
          </p:cNvSpPr>
          <p:nvPr/>
        </p:nvSpPr>
        <p:spPr bwMode="auto">
          <a:xfrm>
            <a:off x="0" y="819807"/>
            <a:ext cx="9144000" cy="5417481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17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4953" y="882868"/>
            <a:ext cx="9144000" cy="5259060"/>
          </a:xfrm>
          <a:prstGeom prst="rect">
            <a:avLst/>
          </a:prstGeom>
        </p:spPr>
        <p:txBody>
          <a:bodyPr/>
          <a:lstStyle/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SQL&gt; EXPLAIN PLAN FOR </a:t>
            </a: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SELECT SUM (</a:t>
            </a:r>
            <a:r>
              <a:rPr lang="en-AU" altLang="en-US" sz="1600" b="1" dirty="0" err="1" smtClean="0">
                <a:latin typeface="Courier New" pitchFamily="49" charset="0"/>
              </a:rPr>
              <a:t>a.amount_sold</a:t>
            </a:r>
            <a:r>
              <a:rPr lang="en-AU" altLang="en-US" sz="1600" b="1" dirty="0" smtClean="0">
                <a:latin typeface="Courier New" pitchFamily="49" charset="0"/>
              </a:rPr>
              <a:t>),</a:t>
            </a:r>
            <a:r>
              <a:rPr lang="en-AU" altLang="en-US" sz="1600" b="1" dirty="0" err="1" smtClean="0">
                <a:latin typeface="Courier New" pitchFamily="49" charset="0"/>
              </a:rPr>
              <a:t>b.cust_city</a:t>
            </a:r>
            <a:endParaRPr lang="en-AU" altLang="en-US" sz="16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FROM </a:t>
            </a:r>
            <a:r>
              <a:rPr lang="en-AU" altLang="en-US" sz="1600" b="1" dirty="0" err="1" smtClean="0">
                <a:latin typeface="Courier New" pitchFamily="49" charset="0"/>
              </a:rPr>
              <a:t>sales_data_hash</a:t>
            </a:r>
            <a:r>
              <a:rPr lang="en-AU" altLang="en-US" sz="1600" b="1" dirty="0" smtClean="0">
                <a:latin typeface="Courier New" pitchFamily="49" charset="0"/>
              </a:rPr>
              <a:t> a, </a:t>
            </a:r>
            <a:r>
              <a:rPr lang="en-AU" altLang="en-US" sz="1600" b="1" dirty="0" err="1" smtClean="0">
                <a:latin typeface="Courier New" pitchFamily="49" charset="0"/>
              </a:rPr>
              <a:t>customers_hash</a:t>
            </a:r>
            <a:r>
              <a:rPr lang="en-AU" altLang="en-US" sz="1600" b="1" dirty="0" smtClean="0">
                <a:latin typeface="Courier New" pitchFamily="49" charset="0"/>
              </a:rPr>
              <a:t> b</a:t>
            </a: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WHERE </a:t>
            </a:r>
            <a:r>
              <a:rPr lang="en-AU" altLang="en-US" sz="1600" b="1" dirty="0" err="1" smtClean="0">
                <a:latin typeface="Courier New" pitchFamily="49" charset="0"/>
              </a:rPr>
              <a:t>a.cust_id</a:t>
            </a:r>
            <a:r>
              <a:rPr lang="en-AU" altLang="en-US" sz="1600" b="1" dirty="0" smtClean="0">
                <a:latin typeface="Courier New" pitchFamily="49" charset="0"/>
              </a:rPr>
              <a:t> =</a:t>
            </a:r>
            <a:r>
              <a:rPr lang="en-AU" altLang="en-US" sz="1600" b="1" dirty="0" err="1" smtClean="0">
                <a:latin typeface="Courier New" pitchFamily="49" charset="0"/>
              </a:rPr>
              <a:t>b.cust_id</a:t>
            </a:r>
            <a:endParaRPr lang="en-AU" altLang="en-US" sz="16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 GROUP BY  </a:t>
            </a:r>
            <a:r>
              <a:rPr lang="en-AU" altLang="en-US" sz="1600" b="1" dirty="0" err="1" smtClean="0">
                <a:latin typeface="Courier New" pitchFamily="49" charset="0"/>
              </a:rPr>
              <a:t>b.cust_city</a:t>
            </a:r>
            <a:r>
              <a:rPr lang="en-AU" altLang="en-US" sz="1600" b="1" dirty="0" smtClean="0">
                <a:latin typeface="Courier New" pitchFamily="49" charset="0"/>
              </a:rPr>
              <a:t>;  </a:t>
            </a:r>
          </a:p>
          <a:p>
            <a:pPr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</a:rPr>
              <a:t>Explained.</a:t>
            </a:r>
            <a:endParaRPr lang="en-AU" altLang="en-US" sz="1100" b="1" dirty="0" smtClean="0">
              <a:latin typeface="Courier New" pitchFamily="49" charset="0"/>
            </a:endParaRP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PLAN_TABLE_OUTPUT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------------------------------------------------------------------------------------------------------------------------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Plan hash value: 4232629991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--------------------------------------------------------------------------------------------------------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Id  | Operation            | Name            | Rows  | Bytes | Cost (%CPU)| Time     | </a:t>
            </a:r>
            <a:r>
              <a:rPr lang="en-AU" altLang="en-US" sz="1100" b="1" dirty="0" err="1" smtClean="0">
                <a:latin typeface="Courier New" pitchFamily="49" charset="0"/>
              </a:rPr>
              <a:t>Pstart</a:t>
            </a:r>
            <a:r>
              <a:rPr lang="en-AU" altLang="en-US" sz="1100" b="1" dirty="0" smtClean="0">
                <a:latin typeface="Courier New" pitchFamily="49" charset="0"/>
              </a:rPr>
              <a:t>| </a:t>
            </a:r>
            <a:r>
              <a:rPr lang="en-AU" altLang="en-US" sz="1100" b="1" dirty="0" err="1" smtClean="0">
                <a:latin typeface="Courier New" pitchFamily="49" charset="0"/>
              </a:rPr>
              <a:t>Pstop</a:t>
            </a:r>
            <a:r>
              <a:rPr lang="en-AU" altLang="en-US" sz="1100" b="1" dirty="0" smtClean="0">
                <a:latin typeface="Courier New" pitchFamily="49" charset="0"/>
              </a:rPr>
              <a:t> |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--------------------------------------------------------------------------------------------------------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  0 | SELECT STATEMENT     |                 |   839K|    44M|  1158  (10)| 00:00:14 |       |       |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  1 |  HASH GROUP BY       |                 |   839K|    44M|  1158  (10)| 00:00:14 |       |       |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  2 |   </a:t>
            </a:r>
            <a:r>
              <a:rPr lang="en-AU" altLang="en-US" sz="1100" b="1" u="sng" dirty="0" smtClean="0">
                <a:solidFill>
                  <a:srgbClr val="FF3300"/>
                </a:solidFill>
                <a:latin typeface="Courier New" pitchFamily="49" charset="0"/>
              </a:rPr>
              <a:t>PARTITION HASH ALL</a:t>
            </a:r>
            <a:r>
              <a:rPr lang="en-AU" altLang="en-US" sz="1100" b="1" dirty="0" smtClean="0">
                <a:solidFill>
                  <a:srgbClr val="FF3300"/>
                </a:solidFill>
                <a:latin typeface="Courier New" pitchFamily="49" charset="0"/>
              </a:rPr>
              <a:t> |                 |   839K|    44M|  1085   (4)| 00:00:14 |     1 |     4</a:t>
            </a:r>
            <a:r>
              <a:rPr lang="en-AU" altLang="en-US" sz="1100" b="1" dirty="0" smtClean="0">
                <a:latin typeface="Courier New" pitchFamily="49" charset="0"/>
              </a:rPr>
              <a:t> |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|*  3 |    HASH JOIN         |                 |   839K|    44M|  1085   (4)| 00:00:14 |       |       |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  4 |     TABLE ACCESS FULL| CUSTOMERS_HASH  | 62069 |  1818K|    61   (2)| 00:00:01 |     1 |     4 |</a:t>
            </a:r>
          </a:p>
          <a:p>
            <a:pPr>
              <a:buFont typeface="Webdings" pitchFamily="18" charset="2"/>
              <a:buNone/>
            </a:pPr>
            <a:r>
              <a:rPr lang="en-AU" altLang="en-US" sz="1100" b="1" dirty="0" smtClean="0">
                <a:latin typeface="Courier New" pitchFamily="49" charset="0"/>
              </a:rPr>
              <a:t>|   5 |     TABLE ACCESS FULL| SALES_DATA_HASH |   839K|    20M|  1012   (3)| 00:00:13 |     1 |     4 |</a:t>
            </a:r>
          </a:p>
        </p:txBody>
      </p:sp>
    </p:spTree>
    <p:extLst>
      <p:ext uri="{BB962C8B-B14F-4D97-AF65-F5344CB8AC3E}">
        <p14:creationId xmlns:p14="http://schemas.microsoft.com/office/powerpoint/2010/main" val="210849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250825" y="851338"/>
            <a:ext cx="8569325" cy="54864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3890197" y="3440879"/>
            <a:ext cx="4787900" cy="10795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0" lang="en-US" altLang="en-US">
              <a:latin typeface="Arial" pitchFamily="34" charset="0"/>
            </a:endParaRP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275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8372" y="870388"/>
            <a:ext cx="8229600" cy="6408738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Statistics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----------------------------------------------------------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7  recursive calls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0  db block gets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4794  consistent gets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</a:t>
            </a:r>
            <a:r>
              <a:rPr lang="en-AU" altLang="en-US" sz="1400" b="1" dirty="0" smtClean="0">
                <a:latin typeface="Courier New" pitchFamily="49" charset="0"/>
              </a:rPr>
              <a:t>296  physical reads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0  redo size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18197  bytes sent via SQL*Net to client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932  bytes received via SQL*Net from client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42  SQL*Net roundtrips to/from client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2  sorts (memory)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0  sorts (disk)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Statistics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--------------------------------------------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7  recursive calls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0  db block gets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</a:t>
            </a:r>
            <a:r>
              <a:rPr lang="en-AU" altLang="en-US" sz="1400" b="1" dirty="0" smtClean="0">
                <a:latin typeface="Courier New" pitchFamily="49" charset="0"/>
              </a:rPr>
              <a:t>6039  consistent gets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</a:rPr>
              <a:t>       4100  physical reads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0  redo size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18197  bytes sent via SQL*Net to client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932  bytes received via SQL*Net from client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42  SQL*Net roundtrips to/from client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2  sorts (memory)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  0  sorts (disk)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dirty="0" smtClean="0">
                <a:latin typeface="Courier New" pitchFamily="49" charset="0"/>
              </a:rPr>
              <a:t>        608  rows processed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400" dirty="0" smtClean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400" dirty="0" smtClean="0">
              <a:latin typeface="Courier New" pitchFamily="49" charset="0"/>
            </a:endParaRPr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3858666" y="3465020"/>
            <a:ext cx="47815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Note the physical reads and consistent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gets using the Partition wise join on Hash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AU" altLang="en-US" sz="1800" b="1">
                <a:latin typeface="Arial" pitchFamily="34" charset="0"/>
              </a:rPr>
              <a:t>Partitioned versus Non Partitioned tables</a:t>
            </a:r>
          </a:p>
        </p:txBody>
      </p:sp>
    </p:spTree>
    <p:extLst>
      <p:ext uri="{BB962C8B-B14F-4D97-AF65-F5344CB8AC3E}">
        <p14:creationId xmlns:p14="http://schemas.microsoft.com/office/powerpoint/2010/main" val="18846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5750" y="1214438"/>
            <a:ext cx="8572500" cy="4934114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203779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altLang="en-US" smtClean="0"/>
              <a:t>Using DBMS_REDEFINITION</a:t>
            </a:r>
          </a:p>
        </p:txBody>
      </p:sp>
      <p:sp>
        <p:nvSpPr>
          <p:cNvPr id="2037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2606" y="1331913"/>
            <a:ext cx="7866993" cy="4525962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SQL&gt; EXEC DBMS_REDEFINITION.CAN_REDEF_TABLE('SH','SALES_NO_PART');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400" b="1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PL/SQL PROCEDURE SUCCESSFULLY COMPLETED.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100" b="1" dirty="0" smtClean="0"/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CREATE TABLE "SH"."SALES_INTERIM"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(    "PROD_ID" NUMBER NOT NULL ENABLE,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400" b="1" dirty="0" smtClean="0">
                <a:latin typeface="Courier New" pitchFamily="49" charset="0"/>
                <a:cs typeface="Courier New" pitchFamily="49" charset="0"/>
              </a:rPr>
              <a:t> ...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) PCTFREE 5 PCTUSED 40 INITRANS 1 MAXTRANS 255 NOCOMPRESS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TABLESPACE "EXAMPLE"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PARTITION BY RANGE ("TIME_ID")</a:t>
            </a:r>
            <a:endParaRPr lang="en-US" altLang="en-US" sz="1400" b="1" dirty="0" smtClean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 (PARTITION SALES_1998 VALUES LESS THAN (TO_DATE('01-JAN-1999','DD-MON-YYYY')),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PARTITION SALES_2001 VALUES LESS THAN (TO_DATE('01-JAN-2002','DD-MON-YYYY')),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PARTITION P_2009 VALUES LESS THAN (MAXVALUE)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AU" altLang="en-US" sz="1100" b="1" dirty="0" smtClean="0"/>
          </a:p>
        </p:txBody>
      </p:sp>
    </p:spTree>
    <p:extLst>
      <p:ext uri="{BB962C8B-B14F-4D97-AF65-F5344CB8AC3E}">
        <p14:creationId xmlns:p14="http://schemas.microsoft.com/office/powerpoint/2010/main" val="360308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2938" y="928688"/>
            <a:ext cx="7786687" cy="4572000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48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510" y="1285876"/>
            <a:ext cx="7457090" cy="3979808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DECLARE</a:t>
            </a:r>
            <a:b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ERROR_COUNT PLS_INTEGER := 0;</a:t>
            </a:r>
            <a:b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BEGIN</a:t>
            </a:r>
            <a:b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DBMS_REDEFINITION.COPY_TABLE_DEPENDENTS('SH', 'SALES_NO_PART', 'SALES_INTERIM',1, TRUE, TRUE, TRUE, FALSE,ERROR_COUNT);</a:t>
            </a:r>
            <a:b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DBMS_OUTPUT.PUT_LINE('ERRORS := ' || TO_CHAR(ERROR_COUNT));</a:t>
            </a:r>
            <a:b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END;</a:t>
            </a:r>
            <a:b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/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 EXEC DBMS_REDEFINITION.FINISH_REDEF_TABLE ('SH','SALES_NO_PART','SALES_INTERIM');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	PL/SQL PROCEDURE SUCCESSFULLY COMPLETED.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1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851337"/>
            <a:ext cx="8643938" cy="5649475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5828" name="Content Placeholder 2"/>
          <p:cNvSpPr>
            <a:spLocks noGrp="1"/>
          </p:cNvSpPr>
          <p:nvPr>
            <p:ph idx="4294967295"/>
          </p:nvPr>
        </p:nvSpPr>
        <p:spPr>
          <a:xfrm>
            <a:off x="425668" y="911937"/>
            <a:ext cx="7803931" cy="4525962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SELECT PARTITION_NAME FROM USER_TAB_PARTITIONS WHERE TABLE_NAME='SALES_NO_PART';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PARTITION_NAME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------------------------------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SALES_1998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SALES_1999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SALES_2000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SALES_2001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P_2009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SELECT COUNT(*) FROM SALES_NO_PART PARTITION(SALES_1999);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COUNT(*)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----------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  247945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DROP TABLE SALES_INTERIM;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TABLE DROPPED.</a:t>
            </a:r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altLang="en-US" sz="1600" b="1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72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12859" y="882371"/>
            <a:ext cx="8429625" cy="5286375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206851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AU" altLang="en-US" smtClean="0"/>
              <a:t>Exchange Partition</a:t>
            </a:r>
          </a:p>
        </p:txBody>
      </p:sp>
      <p:sp>
        <p:nvSpPr>
          <p:cNvPr id="2068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51792" y="1096683"/>
            <a:ext cx="7662041" cy="4909973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select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partition_name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from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user_tab_partitions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where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table_name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='SALES_NO_PART';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PARTITION_NAME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------------------------------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SALES_1998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SALES_1999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SALES_2000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select count(*) from sales_2001;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&lt;&lt; NON PARTITIONED TABLE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COUNT(*)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  259418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SQL&gt; alter table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sales_no_part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altLang="en-US" sz="16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add partition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sales_2001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 2  values less than ('01-JAN-2002') </a:t>
            </a:r>
            <a:r>
              <a:rPr lang="en-AU" altLang="en-US" sz="1600" b="1" dirty="0" err="1" smtClean="0">
                <a:latin typeface="Courier New" pitchFamily="49" charset="0"/>
                <a:cs typeface="Courier New" pitchFamily="49" charset="0"/>
              </a:rPr>
              <a:t>tablespace</a:t>
            </a: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 example;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600" b="1" dirty="0" smtClean="0">
                <a:latin typeface="Courier New" pitchFamily="49" charset="0"/>
                <a:cs typeface="Courier New" pitchFamily="49" charset="0"/>
              </a:rPr>
              <a:t>Table altered.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6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61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57188" y="882869"/>
            <a:ext cx="8501062" cy="5265684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sz="180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62152" y="767092"/>
            <a:ext cx="8229600" cy="4525962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SQL&gt; select </a:t>
            </a:r>
            <a:r>
              <a:rPr lang="en-AU" altLang="en-US" sz="1400" b="1" dirty="0" err="1" smtClean="0">
                <a:latin typeface="Courier New" pitchFamily="49" charset="0"/>
                <a:cs typeface="Courier New" pitchFamily="49" charset="0"/>
              </a:rPr>
              <a:t>partition_name</a:t>
            </a: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 from </a:t>
            </a:r>
            <a:r>
              <a:rPr lang="en-AU" altLang="en-US" sz="1400" b="1" dirty="0" err="1" smtClean="0">
                <a:latin typeface="Courier New" pitchFamily="49" charset="0"/>
                <a:cs typeface="Courier New" pitchFamily="49" charset="0"/>
              </a:rPr>
              <a:t>user_tab_partitions</a:t>
            </a: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 where </a:t>
            </a:r>
            <a:r>
              <a:rPr lang="en-AU" altLang="en-US" sz="1400" b="1" dirty="0" err="1" smtClean="0">
                <a:latin typeface="Courier New" pitchFamily="49" charset="0"/>
                <a:cs typeface="Courier New" pitchFamily="49" charset="0"/>
              </a:rPr>
              <a:t>table_name</a:t>
            </a: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='SALES_NO_PART';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PARTITION_NAME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------------------------------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SALES_1998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SALES_1999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SALES_2000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SALES_2001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SQL&gt; 	ALTER TABLE </a:t>
            </a:r>
            <a:r>
              <a:rPr lang="en-AU" altLang="en-US" sz="1400" b="1" dirty="0" err="1" smtClean="0">
                <a:latin typeface="Courier New" pitchFamily="49" charset="0"/>
                <a:cs typeface="Courier New" pitchFamily="49" charset="0"/>
              </a:rPr>
              <a:t>sales_no_part</a:t>
            </a:r>
            <a:endParaRPr lang="en-AU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AU" altLang="en-US" sz="14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EXCHANGE PARTITION sales_2001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		WITH TABLE sales_2001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  		</a:t>
            </a:r>
            <a:r>
              <a:rPr lang="en-AU" altLang="en-US" sz="1400" b="1" dirty="0" smtClean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UPDATE GLOBAL INDEXES;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Table altered.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SQL&gt; select count(*) from </a:t>
            </a:r>
            <a:r>
              <a:rPr lang="en-AU" altLang="en-US" sz="1400" b="1" dirty="0" err="1" smtClean="0">
                <a:latin typeface="Courier New" pitchFamily="49" charset="0"/>
                <a:cs typeface="Courier New" pitchFamily="49" charset="0"/>
              </a:rPr>
              <a:t>sales_no_part</a:t>
            </a: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 partition(sales_2001);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endParaRPr lang="en-AU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  COUNT(*)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----------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AU" altLang="en-US" sz="1400" b="1" dirty="0" smtClean="0">
                <a:latin typeface="Courier New" pitchFamily="49" charset="0"/>
                <a:cs typeface="Courier New" pitchFamily="49" charset="0"/>
              </a:rPr>
              <a:t>    259418</a:t>
            </a:r>
          </a:p>
          <a:p>
            <a:pPr eaLnBrk="1" hangingPunct="1">
              <a:lnSpc>
                <a:spcPct val="80000"/>
              </a:lnSpc>
            </a:pPr>
            <a:endParaRPr lang="en-AU" altLang="en-US" sz="1100" b="1" dirty="0" smtClean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AU" altLang="en-US" sz="1100" dirty="0" smtClean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71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IA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LIAS</Template>
  <TotalTime>3922</TotalTime>
  <Words>3550</Words>
  <Application>Microsoft Office PowerPoint</Application>
  <PresentationFormat>Affichage à l'écran (4:3)</PresentationFormat>
  <Paragraphs>948</Paragraphs>
  <Slides>62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62</vt:i4>
      </vt:variant>
    </vt:vector>
  </HeadingPairs>
  <TitlesOfParts>
    <vt:vector size="63" baseType="lpstr">
      <vt:lpstr>LIAS</vt:lpstr>
      <vt:lpstr>The Laboratory of Computer Science and Automatic</vt:lpstr>
      <vt:lpstr>Agenda</vt:lpstr>
      <vt:lpstr>What is Partitioning?</vt:lpstr>
      <vt:lpstr>What is Partitioning?</vt:lpstr>
      <vt:lpstr>Who Partitions? </vt:lpstr>
      <vt:lpstr>Why Partition?</vt:lpstr>
      <vt:lpstr>Decisions and Challenges</vt:lpstr>
      <vt:lpstr>Oracle Partitioning 10 years of innovation…</vt:lpstr>
      <vt:lpstr>Partitioning Methods </vt:lpstr>
      <vt:lpstr>Composite Partitioning</vt:lpstr>
      <vt:lpstr>RANGE Partitioning</vt:lpstr>
      <vt:lpstr>Range Partitioning</vt:lpstr>
      <vt:lpstr>Hash Partitioning</vt:lpstr>
      <vt:lpstr>Hash Partitioning</vt:lpstr>
      <vt:lpstr>Hash Partitioning</vt:lpstr>
      <vt:lpstr>Présentation PowerPoint</vt:lpstr>
      <vt:lpstr>List Partitioning</vt:lpstr>
      <vt:lpstr>Présentation PowerPoint</vt:lpstr>
      <vt:lpstr>11g Interval partitioning</vt:lpstr>
      <vt:lpstr>Présentation PowerPoint</vt:lpstr>
      <vt:lpstr>Présentation PowerPoint</vt:lpstr>
      <vt:lpstr>REF Partitioning</vt:lpstr>
      <vt:lpstr>Before REF Partitioning</vt:lpstr>
      <vt:lpstr>11g REF Partitioning</vt:lpstr>
      <vt:lpstr>Présentation PowerPoint</vt:lpstr>
      <vt:lpstr>Présentation PowerPoint</vt:lpstr>
      <vt:lpstr>Extended Composite Partitioning</vt:lpstr>
      <vt:lpstr>Range-Range Partitioning</vt:lpstr>
      <vt:lpstr>11g Virtual Column Partitioning</vt:lpstr>
      <vt:lpstr>Présentation PowerPoint</vt:lpstr>
      <vt:lpstr>Présentation PowerPoint</vt:lpstr>
      <vt:lpstr>Présentation PowerPoint</vt:lpstr>
      <vt:lpstr>11g Partitioning - Summary</vt:lpstr>
      <vt:lpstr>Partition Data Dictionary Views</vt:lpstr>
      <vt:lpstr>Working with Partitions</vt:lpstr>
      <vt:lpstr>Local and Global Indexes</vt:lpstr>
      <vt:lpstr>LOCAL Partitioned Index</vt:lpstr>
      <vt:lpstr>Présentation PowerPoint</vt:lpstr>
      <vt:lpstr>Présentation PowerPoint</vt:lpstr>
      <vt:lpstr>Global Partitioned Index</vt:lpstr>
      <vt:lpstr>Global Partitioned Indexes</vt:lpstr>
      <vt:lpstr>Présentation PowerPoint</vt:lpstr>
      <vt:lpstr>Partition Maintenance Operations</vt:lpstr>
      <vt:lpstr>Partition Maintenance</vt:lpstr>
      <vt:lpstr>Index Maintenance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Update Global Indexes</vt:lpstr>
      <vt:lpstr>Partition Pruning</vt:lpstr>
      <vt:lpstr>Présentation PowerPoint</vt:lpstr>
      <vt:lpstr>Partition-wise Joins</vt:lpstr>
      <vt:lpstr>Présentation PowerPoint</vt:lpstr>
      <vt:lpstr>Présentation PowerPoint</vt:lpstr>
      <vt:lpstr>Présentation PowerPoint</vt:lpstr>
      <vt:lpstr>Using DBMS_REDEFINITION</vt:lpstr>
      <vt:lpstr>Présentation PowerPoint</vt:lpstr>
      <vt:lpstr>Présentation PowerPoint</vt:lpstr>
      <vt:lpstr>Exchange Partition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Laboratoire d’Informatique et d’Automatique pour les Systèmes</dc:title>
  <dc:creator>GROLLEAU Emmanuel</dc:creator>
  <cp:lastModifiedBy>Ladjel BELLATRECHE</cp:lastModifiedBy>
  <cp:revision>441</cp:revision>
  <cp:lastPrinted>2014-02-20T09:37:44Z</cp:lastPrinted>
  <dcterms:created xsi:type="dcterms:W3CDTF">2012-03-30T16:23:16Z</dcterms:created>
  <dcterms:modified xsi:type="dcterms:W3CDTF">2014-11-27T17:24:04Z</dcterms:modified>
</cp:coreProperties>
</file>